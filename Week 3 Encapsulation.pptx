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314" r:id="rId3"/>
    <p:sldId id="318" r:id="rId4"/>
    <p:sldId id="319" r:id="rId5"/>
    <p:sldId id="320" r:id="rId6"/>
    <p:sldId id="32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3" autoAdjust="0"/>
    <p:restoredTop sz="94137" autoAdjust="0"/>
  </p:normalViewPr>
  <p:slideViewPr>
    <p:cSldViewPr snapToGrid="0">
      <p:cViewPr varScale="1">
        <p:scale>
          <a:sx n="104" d="100"/>
          <a:sy n="104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5251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3384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2096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9685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0608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15/04/2024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Encapsulation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/>
              <a:t>Cyrus </a:t>
            </a:r>
            <a:r>
              <a:rPr lang="en-PH" sz="2000" dirty="0" err="1"/>
              <a:t>Rj</a:t>
            </a:r>
            <a:r>
              <a:rPr lang="en-PH" sz="2000" dirty="0"/>
              <a:t> W. Robles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What is Encapsulation?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effectLst/>
                <a:latin typeface="Calibri (Body)"/>
              </a:rPr>
              <a:t>Encapsulation is one of the key features of object-oriented programming. The other three are inheritance, </a:t>
            </a:r>
            <a:r>
              <a:rPr lang="en-US" sz="2500" dirty="0">
                <a:latin typeface="Calibri (Body)"/>
              </a:rPr>
              <a:t>polymorphism and abstraction.</a:t>
            </a:r>
            <a:endParaRPr lang="en-US" sz="2500" b="0" i="0" dirty="0"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b="0" i="0" dirty="0"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effectLst/>
                <a:latin typeface="Calibri (Body)"/>
              </a:rPr>
              <a:t>It prevents outer classes from accessing and changing fields and methods of a class. This also helps to achieve </a:t>
            </a:r>
            <a:r>
              <a:rPr lang="en-US" sz="2500" b="1" i="0" dirty="0">
                <a:effectLst/>
                <a:latin typeface="Calibri (Body)"/>
              </a:rPr>
              <a:t>data hiding</a:t>
            </a:r>
            <a:r>
              <a:rPr lang="en-US" sz="2500" b="0" i="0" dirty="0">
                <a:effectLst/>
                <a:latin typeface="Calibri (Body)"/>
              </a:rPr>
              <a:t>.</a:t>
            </a:r>
          </a:p>
          <a:p>
            <a:pPr algn="l"/>
            <a:endParaRPr lang="en-US" sz="25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Encapsulation can be achieved by declaring all the variables in the class as </a:t>
            </a:r>
            <a:r>
              <a:rPr lang="en-US" sz="2500" b="1" i="0" dirty="0">
                <a:solidFill>
                  <a:srgbClr val="273239"/>
                </a:solidFill>
                <a:effectLst/>
                <a:latin typeface="Calibri (Body)"/>
              </a:rPr>
              <a:t>private</a:t>
            </a: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 and writing public methods in the class to</a:t>
            </a:r>
            <a:r>
              <a:rPr lang="en-US" sz="2500" b="1" i="0" dirty="0">
                <a:solidFill>
                  <a:srgbClr val="273239"/>
                </a:solidFill>
                <a:effectLst/>
                <a:latin typeface="Calibri (Body)"/>
              </a:rPr>
              <a:t> set and get the values of variables</a:t>
            </a: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273239"/>
              </a:solidFill>
              <a:effectLst/>
              <a:latin typeface="Calibri (Body)"/>
            </a:endParaRPr>
          </a:p>
          <a:p>
            <a:pPr algn="l"/>
            <a:endParaRPr lang="en-US" sz="2500" b="0" i="0" dirty="0">
              <a:effectLst/>
              <a:latin typeface="Calibri (Body)"/>
            </a:endParaRPr>
          </a:p>
          <a:p>
            <a:br>
              <a:rPr lang="en-US" sz="2500" dirty="0">
                <a:latin typeface="Calibri (Body)"/>
              </a:rPr>
            </a:br>
            <a:endParaRPr lang="en-US" sz="2500" b="0" i="0" dirty="0">
              <a:solidFill>
                <a:srgbClr val="000000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2098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Encapsulation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997B6-88B9-349C-E569-ABEEC3C7C40D}"/>
              </a:ext>
            </a:extLst>
          </p:cNvPr>
          <p:cNvSpPr txBox="1"/>
          <p:nvPr/>
        </p:nvSpPr>
        <p:spPr>
          <a:xfrm>
            <a:off x="1524001" y="1358925"/>
            <a:ext cx="13214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E82C8-A7B9-50F5-E98D-05387CC12707}"/>
              </a:ext>
            </a:extLst>
          </p:cNvPr>
          <p:cNvSpPr txBox="1"/>
          <p:nvPr/>
        </p:nvSpPr>
        <p:spPr>
          <a:xfrm>
            <a:off x="2586763" y="1354011"/>
            <a:ext cx="12524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Person</a:t>
            </a:r>
            <a:endParaRPr lang="en-PH" sz="2500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AFA346-6F6B-455B-2F73-53E216089A2D}"/>
              </a:ext>
            </a:extLst>
          </p:cNvPr>
          <p:cNvSpPr txBox="1"/>
          <p:nvPr/>
        </p:nvSpPr>
        <p:spPr>
          <a:xfrm>
            <a:off x="3839227" y="1325489"/>
            <a:ext cx="3764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723478-D7FD-912A-2441-3181E3A0B246}"/>
              </a:ext>
            </a:extLst>
          </p:cNvPr>
          <p:cNvSpPr txBox="1"/>
          <p:nvPr/>
        </p:nvSpPr>
        <p:spPr>
          <a:xfrm>
            <a:off x="1899781" y="1971904"/>
            <a:ext cx="39686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private</a:t>
            </a:r>
            <a:r>
              <a:rPr lang="en-PH" sz="2500" dirty="0">
                <a:latin typeface="Consolas" panose="020B0609020204030204" pitchFamily="49" charset="0"/>
              </a:rPr>
              <a:t> String name;</a:t>
            </a:r>
          </a:p>
          <a:p>
            <a:endParaRPr lang="en-PH" sz="2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AC5D87-049F-62A3-F9D5-C92277952366}"/>
              </a:ext>
            </a:extLst>
          </p:cNvPr>
          <p:cNvSpPr txBox="1"/>
          <p:nvPr/>
        </p:nvSpPr>
        <p:spPr>
          <a:xfrm>
            <a:off x="1524000" y="5418803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A662F-2675-F064-1F7E-8743A79E1383}"/>
              </a:ext>
            </a:extLst>
          </p:cNvPr>
          <p:cNvSpPr txBox="1"/>
          <p:nvPr/>
        </p:nvSpPr>
        <p:spPr>
          <a:xfrm>
            <a:off x="1899781" y="2576813"/>
            <a:ext cx="50459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 </a:t>
            </a:r>
            <a:r>
              <a:rPr lang="en-PH" sz="2500" dirty="0" err="1">
                <a:solidFill>
                  <a:srgbClr val="0070C0"/>
                </a:solidFill>
                <a:latin typeface="Consolas" panose="020B0609020204030204" pitchFamily="49" charset="0"/>
              </a:rPr>
              <a:t>getName</a:t>
            </a:r>
            <a:r>
              <a:rPr lang="en-PH" sz="2500" dirty="0">
                <a:latin typeface="Consolas" panose="020B0609020204030204" pitchFamily="49" charset="0"/>
              </a:rPr>
              <a:t>(){</a:t>
            </a:r>
          </a:p>
          <a:p>
            <a:r>
              <a:rPr lang="en-PH" sz="2500" dirty="0">
                <a:latin typeface="Consolas" panose="020B0609020204030204" pitchFamily="49" charset="0"/>
              </a:rPr>
              <a:t>	return name;</a:t>
            </a:r>
          </a:p>
          <a:p>
            <a:r>
              <a:rPr lang="en-PH" sz="2500" dirty="0">
                <a:latin typeface="Consolas" panose="020B0609020204030204" pitchFamily="49" charset="0"/>
              </a:rPr>
              <a:t>}</a:t>
            </a:r>
          </a:p>
          <a:p>
            <a:endParaRPr lang="en-PH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D8A09A-E85D-0EAB-1C3C-9C27C1732DBA}"/>
              </a:ext>
            </a:extLst>
          </p:cNvPr>
          <p:cNvSpPr txBox="1"/>
          <p:nvPr/>
        </p:nvSpPr>
        <p:spPr>
          <a:xfrm>
            <a:off x="1899780" y="4044452"/>
            <a:ext cx="68371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 </a:t>
            </a:r>
            <a:r>
              <a:rPr lang="en-PH" sz="2500" dirty="0" err="1">
                <a:solidFill>
                  <a:srgbClr val="0070C0"/>
                </a:solidFill>
                <a:latin typeface="Consolas" panose="020B0609020204030204" pitchFamily="49" charset="0"/>
              </a:rPr>
              <a:t>setName</a:t>
            </a:r>
            <a:r>
              <a:rPr lang="en-PH" sz="2500" dirty="0">
                <a:latin typeface="Consolas" panose="020B0609020204030204" pitchFamily="49" charset="0"/>
              </a:rPr>
              <a:t>(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String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 err="1">
                <a:latin typeface="Consolas" panose="020B0609020204030204" pitchFamily="49" charset="0"/>
              </a:rPr>
              <a:t>newName</a:t>
            </a:r>
            <a:r>
              <a:rPr lang="en-PH" sz="2500" dirty="0">
                <a:latin typeface="Consolas" panose="020B0609020204030204" pitchFamily="49" charset="0"/>
              </a:rPr>
              <a:t>){</a:t>
            </a:r>
          </a:p>
          <a:p>
            <a:r>
              <a:rPr lang="en-PH" sz="2500" dirty="0">
                <a:latin typeface="Consolas" panose="020B0609020204030204" pitchFamily="49" charset="0"/>
              </a:rPr>
              <a:t>	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this</a:t>
            </a:r>
            <a:r>
              <a:rPr lang="en-PH" sz="2500" dirty="0">
                <a:latin typeface="Consolas" panose="020B0609020204030204" pitchFamily="49" charset="0"/>
              </a:rPr>
              <a:t>.name = </a:t>
            </a:r>
            <a:r>
              <a:rPr lang="en-PH" sz="2500" dirty="0" err="1">
                <a:latin typeface="Consolas" panose="020B0609020204030204" pitchFamily="49" charset="0"/>
              </a:rPr>
              <a:t>newName</a:t>
            </a:r>
            <a:r>
              <a:rPr lang="en-PH" sz="2500" dirty="0">
                <a:latin typeface="Consolas" panose="020B0609020204030204" pitchFamily="49" charset="0"/>
              </a:rPr>
              <a:t>;</a:t>
            </a:r>
          </a:p>
          <a:p>
            <a:r>
              <a:rPr lang="en-PH" sz="2500" dirty="0">
                <a:latin typeface="Consolas" panose="020B0609020204030204" pitchFamily="49" charset="0"/>
              </a:rPr>
              <a:t>}</a:t>
            </a:r>
          </a:p>
          <a:p>
            <a:endParaRPr lang="en-PH" sz="2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6CC3F0-3D8D-2346-D504-8AC15F9D866B}"/>
              </a:ext>
            </a:extLst>
          </p:cNvPr>
          <p:cNvSpPr txBox="1"/>
          <p:nvPr/>
        </p:nvSpPr>
        <p:spPr>
          <a:xfrm>
            <a:off x="7359299" y="1974128"/>
            <a:ext cx="28546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00B050"/>
                </a:solidFill>
              </a:rPr>
              <a:t>Private variable</a:t>
            </a: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2DEAE189-B3F4-63ED-23CD-48CE3F9EC2BC}"/>
              </a:ext>
            </a:extLst>
          </p:cNvPr>
          <p:cNvSpPr/>
          <p:nvPr/>
        </p:nvSpPr>
        <p:spPr>
          <a:xfrm>
            <a:off x="6179763" y="196669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6E896-1724-3D05-D276-1BB6CE596EFC}"/>
              </a:ext>
            </a:extLst>
          </p:cNvPr>
          <p:cNvSpPr txBox="1"/>
          <p:nvPr/>
        </p:nvSpPr>
        <p:spPr>
          <a:xfrm>
            <a:off x="7735080" y="2737481"/>
            <a:ext cx="28546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00B050"/>
                </a:solidFill>
              </a:rPr>
              <a:t>get() method</a:t>
            </a:r>
          </a:p>
        </p:txBody>
      </p:sp>
      <p:sp>
        <p:nvSpPr>
          <p:cNvPr id="31" name="Arrow: Left 30">
            <a:extLst>
              <a:ext uri="{FF2B5EF4-FFF2-40B4-BE49-F238E27FC236}">
                <a16:creationId xmlns:a16="http://schemas.microsoft.com/office/drawing/2014/main" id="{E9863833-5E2A-4308-6E8D-4B56354109AC}"/>
              </a:ext>
            </a:extLst>
          </p:cNvPr>
          <p:cNvSpPr/>
          <p:nvPr/>
        </p:nvSpPr>
        <p:spPr>
          <a:xfrm>
            <a:off x="6555544" y="2730051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D34272-98E9-2A70-B975-7086F1D7EE15}"/>
              </a:ext>
            </a:extLst>
          </p:cNvPr>
          <p:cNvSpPr txBox="1"/>
          <p:nvPr/>
        </p:nvSpPr>
        <p:spPr>
          <a:xfrm>
            <a:off x="9897197" y="4046101"/>
            <a:ext cx="285462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00B050"/>
                </a:solidFill>
              </a:rPr>
              <a:t>set() method</a:t>
            </a:r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2DAD2C9A-8D7B-31D4-6940-5008077B9178}"/>
              </a:ext>
            </a:extLst>
          </p:cNvPr>
          <p:cNvSpPr/>
          <p:nvPr/>
        </p:nvSpPr>
        <p:spPr>
          <a:xfrm>
            <a:off x="8717661" y="4038671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6913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23" grpId="0"/>
      <p:bldP spid="24" grpId="0"/>
      <p:bldP spid="26" grpId="0"/>
      <p:bldP spid="27" grpId="0"/>
      <p:bldP spid="28" grpId="0"/>
      <p:bldP spid="29" grpId="0" animBg="1"/>
      <p:bldP spid="30" grpId="0"/>
      <p:bldP spid="31" grpId="0" animBg="1"/>
      <p:bldP spid="32" grpId="0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Private variables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1" dirty="0">
                <a:latin typeface="Calibri (Body)"/>
              </a:rPr>
              <a:t>P</a:t>
            </a:r>
            <a:r>
              <a:rPr lang="en-US" sz="2500" b="1" dirty="0">
                <a:effectLst/>
                <a:latin typeface="Calibri (Body)"/>
              </a:rPr>
              <a:t>rivate variables can only be accessed within the same class </a:t>
            </a:r>
            <a:r>
              <a:rPr lang="en-US" sz="2500" dirty="0">
                <a:effectLst/>
                <a:latin typeface="Calibri (Body)"/>
              </a:rPr>
              <a:t>where it is declared. Other classes cannot access private variables.</a:t>
            </a:r>
          </a:p>
          <a:p>
            <a:pPr algn="l"/>
            <a:endParaRPr lang="en-US" sz="2500" dirty="0"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1" i="0" dirty="0">
                <a:solidFill>
                  <a:srgbClr val="000000"/>
                </a:solidFill>
                <a:latin typeface="Calibri (Body)"/>
              </a:rPr>
              <a:t>You will no</a:t>
            </a:r>
            <a:r>
              <a:rPr lang="en-US" sz="2500" b="1" dirty="0">
                <a:solidFill>
                  <a:srgbClr val="000000"/>
                </a:solidFill>
                <a:latin typeface="Calibri (Body)"/>
              </a:rPr>
              <a:t>t be able to print the value of private variables </a:t>
            </a:r>
            <a:r>
              <a:rPr lang="en-US" sz="2500" dirty="0">
                <a:solidFill>
                  <a:srgbClr val="000000"/>
                </a:solidFill>
                <a:latin typeface="Calibri (Body)"/>
              </a:rPr>
              <a:t>if you are trying to print it in another class.</a:t>
            </a:r>
            <a:endParaRPr lang="en-US" sz="2500" b="0" i="0" dirty="0">
              <a:solidFill>
                <a:srgbClr val="000000"/>
              </a:solidFill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1" i="0" dirty="0">
                <a:solidFill>
                  <a:srgbClr val="000000"/>
                </a:solidFill>
                <a:latin typeface="Calibri (Body)"/>
              </a:rPr>
              <a:t>You will no</a:t>
            </a:r>
            <a:r>
              <a:rPr lang="en-US" sz="2500" b="1" dirty="0">
                <a:solidFill>
                  <a:srgbClr val="000000"/>
                </a:solidFill>
                <a:latin typeface="Calibri (Body)"/>
              </a:rPr>
              <a:t>t be able to change the value of private variables </a:t>
            </a:r>
            <a:r>
              <a:rPr lang="en-US" sz="2500" dirty="0">
                <a:solidFill>
                  <a:srgbClr val="000000"/>
                </a:solidFill>
                <a:latin typeface="Calibri (Body)"/>
              </a:rPr>
              <a:t>if you are in another class.</a:t>
            </a:r>
            <a:endParaRPr lang="en-US" sz="2500" b="0" i="0" dirty="0">
              <a:solidFill>
                <a:srgbClr val="000000"/>
              </a:solidFill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u="sng" dirty="0">
              <a:solidFill>
                <a:srgbClr val="000000"/>
              </a:solidFill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000000"/>
                </a:solidFill>
                <a:latin typeface="Calibri (Body)"/>
              </a:rPr>
              <a:t>You will get an error “</a:t>
            </a:r>
            <a:r>
              <a:rPr lang="en-US" sz="2500" b="1" i="0" dirty="0">
                <a:solidFill>
                  <a:srgbClr val="000000"/>
                </a:solidFill>
                <a:latin typeface="Calibri (Body)"/>
              </a:rPr>
              <a:t>The field name is not visible</a:t>
            </a:r>
            <a:r>
              <a:rPr lang="en-US" sz="2500" b="0" i="0" dirty="0">
                <a:solidFill>
                  <a:srgbClr val="000000"/>
                </a:solidFill>
                <a:latin typeface="Calibri (Body)"/>
              </a:rPr>
              <a:t>” if you try to access private variables outside another class.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000000"/>
              </a:solidFill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b="0" i="0" dirty="0">
              <a:solidFill>
                <a:srgbClr val="000000"/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5278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set() and get()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 dirty="0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dirty="0">
                <a:latin typeface="Calibri (Body)"/>
              </a:rPr>
              <a:t>These methods are used to provide access to private variables to other classes.</a:t>
            </a:r>
          </a:p>
          <a:p>
            <a:pPr algn="l"/>
            <a:endParaRPr lang="en-US" sz="25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dirty="0">
                <a:latin typeface="Calibri (Body)"/>
              </a:rPr>
              <a:t>The get method returns the variable value, and the set method sets the value.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algn="l"/>
            <a:br>
              <a:rPr lang="en-US" sz="2500" dirty="0">
                <a:latin typeface="Calibri (Body)"/>
              </a:rPr>
            </a:br>
            <a:endParaRPr lang="en-US" sz="25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231676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Why use Encapsulation?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pPr algn="r"/>
            <a:r>
              <a:rPr lang="en-PH" b="1">
                <a:solidFill>
                  <a:schemeClr val="tx1"/>
                </a:solidFill>
              </a:rPr>
              <a:t>CCPRGG2L</a:t>
            </a:r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500" b="1" i="0" dirty="0">
                <a:solidFill>
                  <a:srgbClr val="273239"/>
                </a:solidFill>
                <a:effectLst/>
                <a:latin typeface="Calibri (Body)"/>
              </a:rPr>
              <a:t>Control of Data. </a:t>
            </a: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We can make the variables of the class </a:t>
            </a:r>
            <a:r>
              <a:rPr lang="en-US" sz="2500" i="0" dirty="0">
                <a:solidFill>
                  <a:srgbClr val="273239"/>
                </a:solidFill>
                <a:effectLst/>
                <a:latin typeface="Calibri (Body)"/>
              </a:rPr>
              <a:t>read-only or write-only </a:t>
            </a:r>
            <a:r>
              <a:rPr lang="en-US" sz="2500" dirty="0">
                <a:solidFill>
                  <a:srgbClr val="273239"/>
                </a:solidFill>
                <a:latin typeface="Calibri (Body)"/>
              </a:rPr>
              <a:t>depending on </a:t>
            </a: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our requirement.</a:t>
            </a:r>
          </a:p>
          <a:p>
            <a:pPr marL="342900" indent="-342900" algn="l"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73239"/>
              </a:solidFill>
              <a:latin typeface="Calibri (Body)"/>
            </a:endParaRPr>
          </a:p>
          <a:p>
            <a:pPr marL="342900" indent="-342900" algn="l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2500" b="1" i="0" dirty="0">
                <a:solidFill>
                  <a:srgbClr val="273239"/>
                </a:solidFill>
                <a:effectLst/>
                <a:latin typeface="Calibri (Body)"/>
              </a:rPr>
              <a:t>Hide and Protect Data. </a:t>
            </a:r>
            <a:r>
              <a:rPr lang="en-US" sz="2500" i="0" dirty="0">
                <a:solidFill>
                  <a:srgbClr val="273239"/>
                </a:solidFill>
                <a:effectLst/>
                <a:latin typeface="Calibri (Body)"/>
              </a:rPr>
              <a:t>You do not need to show to everyone especially to other users the implementation and the structure of a class. Ther</a:t>
            </a:r>
            <a:r>
              <a:rPr lang="en-US" sz="2500" dirty="0">
                <a:solidFill>
                  <a:srgbClr val="273239"/>
                </a:solidFill>
                <a:latin typeface="Calibri (Body)"/>
              </a:rPr>
              <a:t>e are confidential</a:t>
            </a:r>
            <a:r>
              <a:rPr lang="en-US" sz="2500" i="0" dirty="0">
                <a:solidFill>
                  <a:srgbClr val="273239"/>
                </a:solidFill>
                <a:effectLst/>
                <a:latin typeface="Calibri (Body)"/>
              </a:rPr>
              <a:t> data that should be hidden (e.g. </a:t>
            </a:r>
            <a:r>
              <a:rPr lang="en-US" sz="2500" dirty="0">
                <a:solidFill>
                  <a:srgbClr val="273239"/>
                </a:solidFill>
                <a:latin typeface="Calibri (Body)"/>
              </a:rPr>
              <a:t>credit card numbers</a:t>
            </a:r>
            <a:r>
              <a:rPr lang="en-US" sz="2500" i="0" dirty="0">
                <a:solidFill>
                  <a:srgbClr val="273239"/>
                </a:solidFill>
                <a:effectLst/>
                <a:latin typeface="Calibri (Body)"/>
              </a:rPr>
              <a:t>) and data that can be visible to others (e.g. username).</a:t>
            </a:r>
          </a:p>
          <a:p>
            <a:pPr marL="342900" indent="-342900" algn="l"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US" sz="2500" b="1" dirty="0">
              <a:solidFill>
                <a:srgbClr val="273239"/>
              </a:solidFill>
              <a:latin typeface="Calibri (Body)"/>
            </a:endParaRPr>
          </a:p>
          <a:p>
            <a:pPr marL="342900" indent="-342900" algn="l"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US" sz="2500" b="1" i="0" dirty="0">
              <a:solidFill>
                <a:srgbClr val="273239"/>
              </a:solidFill>
              <a:effectLst/>
              <a:latin typeface="Calibri (Body)"/>
            </a:endParaRPr>
          </a:p>
          <a:p>
            <a:pPr marL="342900" indent="-342900" algn="l"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73239"/>
              </a:solidFill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688833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2DE11DE-A924-4F4B-81C2-53ECABF75A2A}"/>
</file>

<file path=customXml/itemProps2.xml><?xml version="1.0" encoding="utf-8"?>
<ds:datastoreItem xmlns:ds="http://schemas.openxmlformats.org/officeDocument/2006/customXml" ds:itemID="{8EA3AFEA-CECC-4B99-98E0-BE832109C2EF}"/>
</file>

<file path=customXml/itemProps3.xml><?xml version="1.0" encoding="utf-8"?>
<ds:datastoreItem xmlns:ds="http://schemas.openxmlformats.org/officeDocument/2006/customXml" ds:itemID="{C9EB0B02-C400-486D-8854-9AFC00E045C1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1069</TotalTime>
  <Words>349</Words>
  <Application>Microsoft Office PowerPoint</Application>
  <PresentationFormat>Widescreen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(Body)</vt:lpstr>
      <vt:lpstr>Calibri Light</vt:lpstr>
      <vt:lpstr>Consolas</vt:lpstr>
      <vt:lpstr>Wingdings</vt:lpstr>
      <vt:lpstr>Office Theme</vt:lpstr>
      <vt:lpstr>Encapsulation</vt:lpstr>
      <vt:lpstr>What is Encapsulation?</vt:lpstr>
      <vt:lpstr>Encapsulation</vt:lpstr>
      <vt:lpstr>Private variables</vt:lpstr>
      <vt:lpstr>set() and get() methods</vt:lpstr>
      <vt:lpstr>Why use Encapsulation?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Cyrus RJ W. Robles</cp:lastModifiedBy>
  <cp:revision>165</cp:revision>
  <dcterms:created xsi:type="dcterms:W3CDTF">2022-05-11T03:47:05Z</dcterms:created>
  <dcterms:modified xsi:type="dcterms:W3CDTF">2024-04-14T22:17:23Z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