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15" r:id="rId3"/>
    <p:sldId id="321" r:id="rId4"/>
    <p:sldId id="318" r:id="rId5"/>
    <p:sldId id="322" r:id="rId6"/>
    <p:sldId id="323" r:id="rId7"/>
    <p:sldId id="324" r:id="rId8"/>
    <p:sldId id="325" r:id="rId9"/>
    <p:sldId id="32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3" autoAdjust="0"/>
    <p:restoredTop sz="94137" autoAdjust="0"/>
  </p:normalViewPr>
  <p:slideViewPr>
    <p:cSldViewPr snapToGrid="0">
      <p:cViewPr varScale="1">
        <p:scale>
          <a:sx n="77" d="100"/>
          <a:sy n="77" d="100"/>
        </p:scale>
        <p:origin x="8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884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4452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63143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3384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1269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7755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C4074-569E-1D8B-233E-DFB535C5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5C6DB-771A-AFD4-B365-84F3D228B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EC5D4-18E4-436A-D0CF-F14844B46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6A4AB-7279-3594-F562-E0D4D74BE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14980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CEF44-FA99-2F0A-2CB2-6C2DCA1E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F1FBA-719A-C094-C89E-483D6C538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E2C58-C623-A76F-2509-FC5621682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A161B-B046-1E71-F1F5-0838C55E8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91391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C081-9F4A-EB1D-25F7-726367B6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9B5C4-8A28-2AE2-8437-B2329E053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EF506-6AB2-15B7-C366-FD052FAA1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90D2F-6D14-A6DD-37B0-B0158C69B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0826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Classes and Objects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/>
              <a:t>Cyrus </a:t>
            </a:r>
            <a:r>
              <a:rPr lang="en-PH" sz="2000" dirty="0" err="1"/>
              <a:t>Rj</a:t>
            </a:r>
            <a:r>
              <a:rPr lang="en-PH" sz="2000" dirty="0"/>
              <a:t> Robles</a:t>
            </a:r>
            <a:endParaRPr lang="en-P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5000" b="1" dirty="0"/>
              <a:t>What are Classes and Objects?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0" i="0" dirty="0">
                <a:effectLst/>
                <a:latin typeface="Calibri (Body)"/>
              </a:rPr>
              <a:t>A class is a template used to create objects.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0" i="0" dirty="0">
                <a:effectLst/>
                <a:latin typeface="Calibri (Body)"/>
              </a:rPr>
              <a:t>An object is any entity that has a </a:t>
            </a:r>
            <a:r>
              <a:rPr lang="en-US" sz="2500" b="1" i="0" dirty="0">
                <a:effectLst/>
                <a:latin typeface="Calibri (Body)"/>
              </a:rPr>
              <a:t>state (properties)</a:t>
            </a:r>
            <a:r>
              <a:rPr lang="en-US" sz="2500" b="0" i="0" dirty="0">
                <a:effectLst/>
                <a:latin typeface="Calibri (Body)"/>
              </a:rPr>
              <a:t> and </a:t>
            </a:r>
            <a:r>
              <a:rPr lang="en-US" sz="2500" b="1" i="0" dirty="0">
                <a:effectLst/>
                <a:latin typeface="Calibri (Body)"/>
              </a:rPr>
              <a:t>behavior (methods).</a:t>
            </a:r>
            <a:endParaRPr lang="en-US" sz="2500" b="0" i="0" dirty="0">
              <a:effectLst/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1" i="0" dirty="0">
                <a:effectLst/>
                <a:latin typeface="Calibri (Body)"/>
              </a:rPr>
              <a:t>Classes are categories</a:t>
            </a:r>
            <a:r>
              <a:rPr lang="en-US" sz="2500" b="0" i="0" dirty="0">
                <a:effectLst/>
                <a:latin typeface="Calibri (Body)"/>
              </a:rPr>
              <a:t>, and </a:t>
            </a:r>
            <a:r>
              <a:rPr lang="en-US" sz="2500" b="1" i="0" dirty="0">
                <a:effectLst/>
                <a:latin typeface="Calibri (Body)"/>
              </a:rPr>
              <a:t>objects are items within each category</a:t>
            </a:r>
            <a:r>
              <a:rPr lang="en-US" sz="2500" b="0" i="0" dirty="0">
                <a:effectLst/>
                <a:latin typeface="Calibri (Body)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b="0" i="0" dirty="0">
              <a:effectLst/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Classes and Objects are basic concepts of Object Oriented Programming that revolve around real life entities.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73239"/>
              </a:solidFill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algn="l"/>
            <a:endParaRPr lang="en-US" sz="2500" b="0" i="0" dirty="0"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6275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5000" b="1" dirty="0"/>
              <a:t>What are Classes and Objects?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484AC-F801-EAAA-27E1-CABB42EDC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38" y="3355769"/>
            <a:ext cx="2143125" cy="2143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4F721D-F29A-9DD3-454C-F2399F09A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440" y="1285875"/>
            <a:ext cx="2143125" cy="2143125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0C91D75B-2779-EADB-0267-B52AC1D5D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565" y="3028794"/>
            <a:ext cx="2143125" cy="2143125"/>
          </a:xfrm>
          <a:prstGeom prst="rect">
            <a:avLst/>
          </a:prstGeom>
        </p:spPr>
      </p:pic>
      <p:pic>
        <p:nvPicPr>
          <p:cNvPr id="14" name="Picture 13" descr="Bubble chart&#10;&#10;Description automatically generated with low confidence">
            <a:extLst>
              <a:ext uri="{FF2B5EF4-FFF2-40B4-BE49-F238E27FC236}">
                <a16:creationId xmlns:a16="http://schemas.microsoft.com/office/drawing/2014/main" id="{4A98B501-1209-CF15-A4E8-F96DF93EDB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572" y="1029579"/>
            <a:ext cx="2647995" cy="2647995"/>
          </a:xfrm>
          <a:prstGeom prst="rect">
            <a:avLst/>
          </a:prstGeom>
        </p:spPr>
      </p:pic>
      <p:pic>
        <p:nvPicPr>
          <p:cNvPr id="1026" name="Picture 2" descr="Car - Free travel icons">
            <a:extLst>
              <a:ext uri="{FF2B5EF4-FFF2-40B4-BE49-F238E27FC236}">
                <a16:creationId xmlns:a16="http://schemas.microsoft.com/office/drawing/2014/main" id="{FA5F31D3-4E7E-0265-69E6-AABB90BE8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301" y="3355769"/>
            <a:ext cx="2054865" cy="205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89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Syntax to create a Class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PH" sz="2600" dirty="0">
              <a:latin typeface="Consolas" panose="020B0609020204030204" pitchFamily="49" charset="0"/>
            </a:endParaRPr>
          </a:p>
          <a:p>
            <a:pPr algn="l"/>
            <a:r>
              <a:rPr lang="en-PH" sz="2600" b="0" dirty="0">
                <a:effectLst/>
                <a:latin typeface="Consolas" panose="020B0609020204030204" pitchFamily="49" charset="0"/>
              </a:rPr>
              <a:t>                         </a:t>
            </a:r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097DE-2E41-E649-960B-1A1DAE1754D6}"/>
              </a:ext>
            </a:extLst>
          </p:cNvPr>
          <p:cNvSpPr txBox="1"/>
          <p:nvPr/>
        </p:nvSpPr>
        <p:spPr>
          <a:xfrm>
            <a:off x="2285325" y="1747232"/>
            <a:ext cx="13214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endParaRPr lang="en-PH" sz="30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A035E-A5EC-0B05-5CC3-FD23097C82D9}"/>
              </a:ext>
            </a:extLst>
          </p:cNvPr>
          <p:cNvSpPr txBox="1"/>
          <p:nvPr/>
        </p:nvSpPr>
        <p:spPr>
          <a:xfrm>
            <a:off x="3481436" y="1742692"/>
            <a:ext cx="21583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ClassName</a:t>
            </a:r>
            <a:endParaRPr lang="en-PH" sz="3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58D8B-8E8E-0BAB-E6B4-E5A558D655B4}"/>
              </a:ext>
            </a:extLst>
          </p:cNvPr>
          <p:cNvSpPr txBox="1"/>
          <p:nvPr/>
        </p:nvSpPr>
        <p:spPr>
          <a:xfrm>
            <a:off x="5564203" y="1711565"/>
            <a:ext cx="3764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latin typeface="Consolas" panose="020B0609020204030204" pitchFamily="49" charset="0"/>
              </a:rPr>
              <a:t>{</a:t>
            </a:r>
            <a:endParaRPr lang="en-PH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D5DE3-3F38-42DC-CA05-47344D299D72}"/>
              </a:ext>
            </a:extLst>
          </p:cNvPr>
          <p:cNvSpPr txBox="1"/>
          <p:nvPr/>
        </p:nvSpPr>
        <p:spPr>
          <a:xfrm>
            <a:off x="2473215" y="2460679"/>
            <a:ext cx="61508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rgbClr val="00B050"/>
                </a:solidFill>
                <a:latin typeface="Consolas" panose="020B0609020204030204" pitchFamily="49" charset="0"/>
              </a:rPr>
              <a:t>// properties</a:t>
            </a:r>
          </a:p>
          <a:p>
            <a:r>
              <a:rPr lang="en-PH" sz="3000" dirty="0">
                <a:solidFill>
                  <a:srgbClr val="00B050"/>
                </a:solidFill>
                <a:latin typeface="Consolas" panose="020B0609020204030204" pitchFamily="49" charset="0"/>
              </a:rPr>
              <a:t>// methods</a:t>
            </a:r>
            <a:endParaRPr lang="en-PH" sz="30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B4130-ABA0-6D8A-19A3-94142673BCEB}"/>
              </a:ext>
            </a:extLst>
          </p:cNvPr>
          <p:cNvSpPr txBox="1"/>
          <p:nvPr/>
        </p:nvSpPr>
        <p:spPr>
          <a:xfrm>
            <a:off x="2285324" y="3635791"/>
            <a:ext cx="3757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latin typeface="Consolas" panose="020B0609020204030204" pitchFamily="49" charset="0"/>
              </a:rPr>
              <a:t>}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86913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Syntax to create a Class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PH" sz="2600" dirty="0">
              <a:latin typeface="Consolas" panose="020B0609020204030204" pitchFamily="49" charset="0"/>
            </a:endParaRPr>
          </a:p>
          <a:p>
            <a:pPr algn="l"/>
            <a:r>
              <a:rPr lang="en-PH" sz="2600" b="0" dirty="0">
                <a:effectLst/>
                <a:latin typeface="Consolas" panose="020B0609020204030204" pitchFamily="49" charset="0"/>
              </a:rPr>
              <a:t>                         </a:t>
            </a:r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097DE-2E41-E649-960B-1A1DAE1754D6}"/>
              </a:ext>
            </a:extLst>
          </p:cNvPr>
          <p:cNvSpPr txBox="1"/>
          <p:nvPr/>
        </p:nvSpPr>
        <p:spPr>
          <a:xfrm>
            <a:off x="2285325" y="1747232"/>
            <a:ext cx="13214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endParaRPr lang="en-PH" sz="25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A035E-A5EC-0B05-5CC3-FD23097C82D9}"/>
              </a:ext>
            </a:extLst>
          </p:cNvPr>
          <p:cNvSpPr txBox="1"/>
          <p:nvPr/>
        </p:nvSpPr>
        <p:spPr>
          <a:xfrm>
            <a:off x="3348087" y="1742318"/>
            <a:ext cx="11032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chemeClr val="accent1"/>
                </a:solidFill>
                <a:latin typeface="Consolas" panose="020B0609020204030204" pitchFamily="49" charset="0"/>
              </a:rPr>
              <a:t>Fruit</a:t>
            </a:r>
            <a:endParaRPr lang="en-PH" sz="25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58D8B-8E8E-0BAB-E6B4-E5A558D655B4}"/>
              </a:ext>
            </a:extLst>
          </p:cNvPr>
          <p:cNvSpPr txBox="1"/>
          <p:nvPr/>
        </p:nvSpPr>
        <p:spPr>
          <a:xfrm>
            <a:off x="4451351" y="1747232"/>
            <a:ext cx="3764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D5DE3-3F38-42DC-CA05-47344D299D72}"/>
              </a:ext>
            </a:extLst>
          </p:cNvPr>
          <p:cNvSpPr txBox="1"/>
          <p:nvPr/>
        </p:nvSpPr>
        <p:spPr>
          <a:xfrm>
            <a:off x="2661105" y="2499151"/>
            <a:ext cx="24950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String color;</a:t>
            </a:r>
          </a:p>
          <a:p>
            <a:endParaRPr lang="en-PH" sz="2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B4130-ABA0-6D8A-19A3-94142673BCEB}"/>
              </a:ext>
            </a:extLst>
          </p:cNvPr>
          <p:cNvSpPr txBox="1"/>
          <p:nvPr/>
        </p:nvSpPr>
        <p:spPr>
          <a:xfrm>
            <a:off x="2285324" y="362758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04937-FEEB-07FD-539F-B1466DEF6BF1}"/>
              </a:ext>
            </a:extLst>
          </p:cNvPr>
          <p:cNvSpPr txBox="1"/>
          <p:nvPr/>
        </p:nvSpPr>
        <p:spPr>
          <a:xfrm>
            <a:off x="2661105" y="2980786"/>
            <a:ext cx="24950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String taste;</a:t>
            </a:r>
          </a:p>
          <a:p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40644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0" grpId="0"/>
      <p:bldP spid="11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Syntax to create an Object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PH" sz="2600" dirty="0">
              <a:latin typeface="Consolas" panose="020B0609020204030204" pitchFamily="49" charset="0"/>
            </a:endParaRPr>
          </a:p>
          <a:p>
            <a:pPr algn="l"/>
            <a:r>
              <a:rPr lang="en-PH" sz="2600" b="0" dirty="0">
                <a:effectLst/>
                <a:latin typeface="Consolas" panose="020B0609020204030204" pitchFamily="49" charset="0"/>
              </a:rPr>
              <a:t>                         </a:t>
            </a:r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44E33-0790-A4ED-3637-CB08B00AE129}"/>
              </a:ext>
            </a:extLst>
          </p:cNvPr>
          <p:cNvSpPr txBox="1"/>
          <p:nvPr/>
        </p:nvSpPr>
        <p:spPr>
          <a:xfrm>
            <a:off x="2112981" y="2019137"/>
            <a:ext cx="35991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public static void </a:t>
            </a:r>
            <a:endParaRPr lang="en-PH" sz="2500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B44F0F-757D-030E-2584-3FE3C7085380}"/>
              </a:ext>
            </a:extLst>
          </p:cNvPr>
          <p:cNvSpPr txBox="1"/>
          <p:nvPr/>
        </p:nvSpPr>
        <p:spPr>
          <a:xfrm>
            <a:off x="5396887" y="2019137"/>
            <a:ext cx="9039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chemeClr val="accent1"/>
                </a:solidFill>
                <a:latin typeface="Consolas" panose="020B0609020204030204" pitchFamily="49" charset="0"/>
              </a:rPr>
              <a:t>main</a:t>
            </a:r>
            <a:endParaRPr lang="en-PH" sz="2500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70E510-AB7A-C497-7A77-76C3B225A3FA}"/>
              </a:ext>
            </a:extLst>
          </p:cNvPr>
          <p:cNvSpPr txBox="1"/>
          <p:nvPr/>
        </p:nvSpPr>
        <p:spPr>
          <a:xfrm>
            <a:off x="6249443" y="2020493"/>
            <a:ext cx="28695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(String[] </a:t>
            </a:r>
            <a:r>
              <a:rPr lang="en-PH" sz="2500" dirty="0" err="1">
                <a:latin typeface="Consolas" panose="020B0609020204030204" pitchFamily="49" charset="0"/>
              </a:rPr>
              <a:t>args</a:t>
            </a:r>
            <a:r>
              <a:rPr lang="en-PH" sz="2500" dirty="0">
                <a:latin typeface="Consolas" panose="020B0609020204030204" pitchFamily="49" charset="0"/>
              </a:rPr>
              <a:t>)</a:t>
            </a:r>
            <a:endParaRPr lang="en-PH" sz="2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1B0EFF-FC51-0F26-49A0-2D9069C78E37}"/>
              </a:ext>
            </a:extLst>
          </p:cNvPr>
          <p:cNvSpPr txBox="1"/>
          <p:nvPr/>
        </p:nvSpPr>
        <p:spPr>
          <a:xfrm>
            <a:off x="8977241" y="2016363"/>
            <a:ext cx="4749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C154C8-9B95-9D69-8AAC-C31574BB679A}"/>
              </a:ext>
            </a:extLst>
          </p:cNvPr>
          <p:cNvSpPr txBox="1"/>
          <p:nvPr/>
        </p:nvSpPr>
        <p:spPr>
          <a:xfrm>
            <a:off x="2112981" y="4378651"/>
            <a:ext cx="5469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F858C0-8960-A58A-41A0-94D29E7C7B91}"/>
              </a:ext>
            </a:extLst>
          </p:cNvPr>
          <p:cNvSpPr txBox="1"/>
          <p:nvPr/>
        </p:nvSpPr>
        <p:spPr>
          <a:xfrm>
            <a:off x="1638038" y="1421344"/>
            <a:ext cx="35991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App</a:t>
            </a:r>
            <a:endParaRPr lang="en-PH" sz="2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D0268C-EAE4-8984-169D-469B1F4A1ADC}"/>
              </a:ext>
            </a:extLst>
          </p:cNvPr>
          <p:cNvSpPr txBox="1"/>
          <p:nvPr/>
        </p:nvSpPr>
        <p:spPr>
          <a:xfrm>
            <a:off x="3354976" y="1388938"/>
            <a:ext cx="4749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D291D2-F916-B3B1-02C2-E93FA4A7BD52}"/>
              </a:ext>
            </a:extLst>
          </p:cNvPr>
          <p:cNvSpPr txBox="1"/>
          <p:nvPr/>
        </p:nvSpPr>
        <p:spPr>
          <a:xfrm>
            <a:off x="1638038" y="4952219"/>
            <a:ext cx="4749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551F81-3E0C-F1EF-A8DD-15AB8D579127}"/>
              </a:ext>
            </a:extLst>
          </p:cNvPr>
          <p:cNvSpPr txBox="1"/>
          <p:nvPr/>
        </p:nvSpPr>
        <p:spPr>
          <a:xfrm>
            <a:off x="2570280" y="2780122"/>
            <a:ext cx="52656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Fruit</a:t>
            </a:r>
            <a:r>
              <a:rPr lang="en-PH" sz="2500" dirty="0">
                <a:latin typeface="Consolas" panose="020B0609020204030204" pitchFamily="49" charset="0"/>
              </a:rPr>
              <a:t> Mango = </a:t>
            </a:r>
            <a:r>
              <a:rPr lang="en-PH" sz="2500" b="1" dirty="0">
                <a:solidFill>
                  <a:srgbClr val="7030A0"/>
                </a:solidFill>
                <a:latin typeface="Consolas" panose="020B0609020204030204" pitchFamily="49" charset="0"/>
              </a:rPr>
              <a:t>new</a:t>
            </a:r>
            <a:r>
              <a:rPr lang="en-PH" sz="2500" dirty="0">
                <a:latin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Fruit</a:t>
            </a:r>
            <a:r>
              <a:rPr lang="en-PH" sz="2500" dirty="0">
                <a:latin typeface="Consolas" panose="020B0609020204030204" pitchFamily="49" charset="0"/>
              </a:rPr>
              <a:t>();</a:t>
            </a:r>
            <a:endParaRPr lang="en-PH" sz="25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62461-C91B-A5A1-14FA-9E21B168EC3F}"/>
              </a:ext>
            </a:extLst>
          </p:cNvPr>
          <p:cNvSpPr txBox="1"/>
          <p:nvPr/>
        </p:nvSpPr>
        <p:spPr>
          <a:xfrm>
            <a:off x="2570279" y="3359731"/>
            <a:ext cx="52656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 err="1">
                <a:latin typeface="Consolas" panose="020B0609020204030204" pitchFamily="49" charset="0"/>
              </a:rPr>
              <a:t>Mango.color</a:t>
            </a:r>
            <a:r>
              <a:rPr lang="en-PH" sz="2500" dirty="0">
                <a:latin typeface="Consolas" panose="020B0609020204030204" pitchFamily="49" charset="0"/>
              </a:rPr>
              <a:t> = “Yellow”;</a:t>
            </a:r>
            <a:endParaRPr lang="en-PH" sz="25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3E5B98-8456-081B-13EC-66EC3537AE77}"/>
              </a:ext>
            </a:extLst>
          </p:cNvPr>
          <p:cNvSpPr txBox="1"/>
          <p:nvPr/>
        </p:nvSpPr>
        <p:spPr>
          <a:xfrm>
            <a:off x="2570278" y="3869191"/>
            <a:ext cx="52656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 err="1">
                <a:latin typeface="Consolas" panose="020B0609020204030204" pitchFamily="49" charset="0"/>
              </a:rPr>
              <a:t>Mango.taste</a:t>
            </a:r>
            <a:r>
              <a:rPr lang="en-PH" sz="2500" dirty="0">
                <a:latin typeface="Consolas" panose="020B0609020204030204" pitchFamily="49" charset="0"/>
              </a:rPr>
              <a:t> = “Sweet”;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43815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ADF12-450D-9612-40B6-ADC8BAF1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6CF7-9E02-76F0-788E-0661207AF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E83F5-E4D3-CE69-B0A5-8E0B88EC0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/>
              <a:t>Cyrus </a:t>
            </a:r>
            <a:r>
              <a:rPr lang="en-PH" sz="2000" dirty="0" err="1"/>
              <a:t>Rj</a:t>
            </a:r>
            <a:r>
              <a:rPr lang="en-PH" sz="2000" dirty="0"/>
              <a:t> Robles</a:t>
            </a:r>
            <a:endParaRPr lang="en-P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42151-4769-B70A-5753-A0F99324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08133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93AEA-7CCC-BA1E-7534-8F4699AA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C970-9DD8-F95E-9F15-463BA1AE1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5000" b="1" dirty="0"/>
              <a:t>What is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4774A-B438-919F-5DFC-B6337FD2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20D89D-0FEF-0EE5-3CAF-BE1474E7C16F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dirty="0">
                <a:latin typeface="Calibri (Body)"/>
              </a:rPr>
              <a:t>A method is a state of behavior.</a:t>
            </a:r>
            <a:endParaRPr lang="en-US" sz="2500" i="0" dirty="0">
              <a:effectLst/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i="0" dirty="0">
                <a:effectLst/>
                <a:latin typeface="Calibri (Body)"/>
              </a:rPr>
              <a:t>A program module </a:t>
            </a:r>
          </a:p>
          <a:p>
            <a:pPr algn="l"/>
            <a:endParaRPr lang="en-US" sz="2500" i="0" dirty="0">
              <a:effectLst/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i="0" dirty="0">
                <a:effectLst/>
                <a:latin typeface="Calibri (Body)"/>
              </a:rPr>
              <a:t>Contains a series of statements</a:t>
            </a:r>
          </a:p>
          <a:p>
            <a:pPr algn="l"/>
            <a:r>
              <a:rPr lang="en-US" sz="2500" i="0" dirty="0">
                <a:effectLst/>
                <a:latin typeface="Calibri (Body)"/>
              </a:rPr>
              <a:t>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i="0" dirty="0">
                <a:effectLst/>
                <a:latin typeface="Calibri (Body)"/>
              </a:rPr>
              <a:t>Carries out a task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73239"/>
              </a:solidFill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algn="l"/>
            <a:endParaRPr lang="en-US" sz="2500" b="0" i="0" dirty="0"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555981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6D09A-6B8D-F21F-F2CE-944AEBEC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AA5BA-AAE2-0624-9C4A-820E81ACA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Syntax to create a Method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8AC16-C3C6-5F14-A552-B15C3406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977F71-8848-F819-1FA9-7A061D4D605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PH" sz="2600" dirty="0">
              <a:latin typeface="Consolas" panose="020B0609020204030204" pitchFamily="49" charset="0"/>
            </a:endParaRPr>
          </a:p>
          <a:p>
            <a:pPr algn="l"/>
            <a:r>
              <a:rPr lang="en-PH" sz="2600" b="0" dirty="0">
                <a:effectLst/>
                <a:latin typeface="Consolas" panose="020B0609020204030204" pitchFamily="49" charset="0"/>
              </a:rPr>
              <a:t>                         </a:t>
            </a:r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EE316-1314-D090-01E8-7D5CD38DBD91}"/>
              </a:ext>
            </a:extLst>
          </p:cNvPr>
          <p:cNvSpPr txBox="1"/>
          <p:nvPr/>
        </p:nvSpPr>
        <p:spPr>
          <a:xfrm>
            <a:off x="2285325" y="1170762"/>
            <a:ext cx="13214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endParaRPr lang="en-PH" sz="30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88C2A-EA35-62B0-DF62-A3551330DE53}"/>
              </a:ext>
            </a:extLst>
          </p:cNvPr>
          <p:cNvSpPr txBox="1"/>
          <p:nvPr/>
        </p:nvSpPr>
        <p:spPr>
          <a:xfrm>
            <a:off x="3481436" y="1166222"/>
            <a:ext cx="27699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chemeClr val="accent1"/>
                </a:solidFill>
                <a:latin typeface="Consolas" panose="020B0609020204030204" pitchFamily="49" charset="0"/>
              </a:rPr>
              <a:t>Sample Class</a:t>
            </a:r>
            <a:endParaRPr lang="en-PH" sz="3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05E52-88A9-F66F-441B-F18DDE6AFA34}"/>
              </a:ext>
            </a:extLst>
          </p:cNvPr>
          <p:cNvSpPr txBox="1"/>
          <p:nvPr/>
        </p:nvSpPr>
        <p:spPr>
          <a:xfrm>
            <a:off x="6096000" y="1161682"/>
            <a:ext cx="3764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latin typeface="Consolas" panose="020B0609020204030204" pitchFamily="49" charset="0"/>
              </a:rPr>
              <a:t>{</a:t>
            </a:r>
            <a:endParaRPr lang="en-PH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114BE-808F-B1E4-5567-2A086B437AD1}"/>
              </a:ext>
            </a:extLst>
          </p:cNvPr>
          <p:cNvSpPr txBox="1"/>
          <p:nvPr/>
        </p:nvSpPr>
        <p:spPr>
          <a:xfrm>
            <a:off x="2473215" y="1630235"/>
            <a:ext cx="71876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0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000" dirty="0">
                <a:solidFill>
                  <a:srgbClr val="FFC000"/>
                </a:solidFill>
                <a:latin typeface="Consolas" panose="020B0609020204030204" pitchFamily="49" charset="0"/>
              </a:rPr>
              <a:t>add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(int a, int b) {</a:t>
            </a:r>
          </a:p>
          <a:p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   return a + b;</a:t>
            </a:r>
          </a:p>
          <a:p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 }</a:t>
            </a:r>
            <a:endParaRPr lang="en-PH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FE5EE-EFE4-A43C-A64F-8EE514209387}"/>
              </a:ext>
            </a:extLst>
          </p:cNvPr>
          <p:cNvSpPr txBox="1"/>
          <p:nvPr/>
        </p:nvSpPr>
        <p:spPr>
          <a:xfrm>
            <a:off x="2285325" y="5438828"/>
            <a:ext cx="3757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latin typeface="Consolas" panose="020B0609020204030204" pitchFamily="49" charset="0"/>
              </a:rPr>
              <a:t>}</a:t>
            </a:r>
            <a:endParaRPr lang="en-PH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CF3FE-6DB4-8B85-A37E-D026A01845F4}"/>
              </a:ext>
            </a:extLst>
          </p:cNvPr>
          <p:cNvSpPr txBox="1"/>
          <p:nvPr/>
        </p:nvSpPr>
        <p:spPr>
          <a:xfrm>
            <a:off x="2473214" y="2979970"/>
            <a:ext cx="925495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Consolas" panose="020B0609020204030204" pitchFamily="49" charset="0"/>
              </a:rPr>
              <a:t>public static void</a:t>
            </a:r>
            <a:r>
              <a:rPr lang="en-US" sz="3000" dirty="0">
                <a:latin typeface="Consolas" panose="020B0609020204030204" pitchFamily="49" charset="0"/>
              </a:rPr>
              <a:t> </a:t>
            </a:r>
            <a:r>
              <a:rPr lang="en-US" sz="3000" dirty="0">
                <a:solidFill>
                  <a:srgbClr val="FFC000"/>
                </a:solidFill>
                <a:latin typeface="Consolas" panose="020B0609020204030204" pitchFamily="49" charset="0"/>
              </a:rPr>
              <a:t>main</a:t>
            </a:r>
            <a:r>
              <a:rPr lang="en-US" sz="3000" dirty="0">
                <a:latin typeface="Consolas" panose="020B0609020204030204" pitchFamily="49" charset="0"/>
              </a:rPr>
              <a:t>(String[] </a:t>
            </a:r>
            <a:r>
              <a:rPr lang="en-US" sz="3000" dirty="0" err="1">
                <a:latin typeface="Consolas" panose="020B0609020204030204" pitchFamily="49" charset="0"/>
              </a:rPr>
              <a:t>args</a:t>
            </a:r>
            <a:r>
              <a:rPr lang="en-US" sz="30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3000" dirty="0">
                <a:latin typeface="Consolas" panose="020B0609020204030204" pitchFamily="49" charset="0"/>
              </a:rPr>
              <a:t>    </a:t>
            </a:r>
            <a:r>
              <a:rPr lang="en-US" sz="3000" dirty="0" err="1">
                <a:latin typeface="Consolas" panose="020B0609020204030204" pitchFamily="49" charset="0"/>
              </a:rPr>
              <a:t>MathUtils</a:t>
            </a:r>
            <a:r>
              <a:rPr lang="en-US" sz="3000" dirty="0">
                <a:latin typeface="Consolas" panose="020B0609020204030204" pitchFamily="49" charset="0"/>
              </a:rPr>
              <a:t> util = </a:t>
            </a:r>
            <a:r>
              <a:rPr lang="en-US" sz="3000" dirty="0">
                <a:solidFill>
                  <a:srgbClr val="7030A0"/>
                </a:solidFill>
                <a:latin typeface="Consolas" panose="020B0609020204030204" pitchFamily="49" charset="0"/>
              </a:rPr>
              <a:t>new</a:t>
            </a:r>
            <a:r>
              <a:rPr lang="en-US" sz="3000" dirty="0">
                <a:latin typeface="Consolas" panose="020B0609020204030204" pitchFamily="49" charset="0"/>
              </a:rPr>
              <a:t> </a:t>
            </a:r>
            <a:r>
              <a:rPr lang="en-US" sz="3000" dirty="0" err="1">
                <a:latin typeface="Consolas" panose="020B0609020204030204" pitchFamily="49" charset="0"/>
              </a:rPr>
              <a:t>MathUtils</a:t>
            </a:r>
            <a:r>
              <a:rPr lang="en-US" sz="30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3000" dirty="0">
                <a:latin typeface="Consolas" panose="020B0609020204030204" pitchFamily="49" charset="0"/>
              </a:rPr>
              <a:t>    </a:t>
            </a:r>
            <a:r>
              <a:rPr lang="en-US" sz="30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3000" dirty="0">
                <a:latin typeface="Consolas" panose="020B0609020204030204" pitchFamily="49" charset="0"/>
              </a:rPr>
              <a:t> result = </a:t>
            </a:r>
            <a:r>
              <a:rPr lang="en-US" sz="3000" dirty="0" err="1">
                <a:latin typeface="Consolas" panose="020B0609020204030204" pitchFamily="49" charset="0"/>
              </a:rPr>
              <a:t>util.add</a:t>
            </a:r>
            <a:r>
              <a:rPr lang="en-US" sz="3000" dirty="0">
                <a:latin typeface="Consolas" panose="020B0609020204030204" pitchFamily="49" charset="0"/>
              </a:rPr>
              <a:t>(5, 3);</a:t>
            </a:r>
          </a:p>
          <a:p>
            <a:r>
              <a:rPr lang="en-US" sz="3000" dirty="0">
                <a:latin typeface="Consolas" panose="020B0609020204030204" pitchFamily="49" charset="0"/>
              </a:rPr>
              <a:t>    </a:t>
            </a:r>
            <a:r>
              <a:rPr lang="en-US" sz="3000" dirty="0" err="1">
                <a:latin typeface="Consolas" panose="020B0609020204030204" pitchFamily="49" charset="0"/>
              </a:rPr>
              <a:t>System.</a:t>
            </a:r>
            <a:r>
              <a:rPr lang="en-US" sz="3000" i="1" dirty="0" err="1">
                <a:latin typeface="Consolas" panose="020B0609020204030204" pitchFamily="49" charset="0"/>
              </a:rPr>
              <a:t>out</a:t>
            </a:r>
            <a:r>
              <a:rPr lang="en-US" sz="3000" dirty="0" err="1">
                <a:latin typeface="Consolas" panose="020B0609020204030204" pitchFamily="49" charset="0"/>
              </a:rPr>
              <a:t>.println</a:t>
            </a:r>
            <a:r>
              <a:rPr lang="en-US" sz="3000" dirty="0">
                <a:latin typeface="Consolas" panose="020B0609020204030204" pitchFamily="49" charset="0"/>
              </a:rPr>
              <a:t>(</a:t>
            </a:r>
            <a:r>
              <a:rPr lang="en-US" sz="3000" dirty="0">
                <a:solidFill>
                  <a:srgbClr val="00B050"/>
                </a:solidFill>
                <a:latin typeface="Consolas" panose="020B0609020204030204" pitchFamily="49" charset="0"/>
              </a:rPr>
              <a:t>"Sum: " </a:t>
            </a:r>
            <a:r>
              <a:rPr lang="en-US" sz="3000" dirty="0">
                <a:latin typeface="Consolas" panose="020B0609020204030204" pitchFamily="49" charset="0"/>
              </a:rPr>
              <a:t>+ result);</a:t>
            </a:r>
          </a:p>
          <a:p>
            <a:r>
              <a:rPr lang="en-US" sz="3000" dirty="0">
                <a:latin typeface="Consolas" panose="020B0609020204030204" pitchFamily="49" charset="0"/>
              </a:rPr>
              <a:t>  }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40666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0" grpId="0"/>
      <p:bldP spid="11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FFBBD6A-3760-4BE1-BE17-44012D9AB203}"/>
</file>

<file path=customXml/itemProps2.xml><?xml version="1.0" encoding="utf-8"?>
<ds:datastoreItem xmlns:ds="http://schemas.openxmlformats.org/officeDocument/2006/customXml" ds:itemID="{E17AEF4C-2AF7-451D-A752-202DF44E36F9}"/>
</file>

<file path=customXml/itemProps3.xml><?xml version="1.0" encoding="utf-8"?>
<ds:datastoreItem xmlns:ds="http://schemas.openxmlformats.org/officeDocument/2006/customXml" ds:itemID="{03C99545-C46A-4312-BCB0-DB079582F03C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1081</TotalTime>
  <Words>262</Words>
  <Application>Microsoft Office PowerPoint</Application>
  <PresentationFormat>Widescreen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Calibri Light</vt:lpstr>
      <vt:lpstr>Consolas</vt:lpstr>
      <vt:lpstr>Wingdings</vt:lpstr>
      <vt:lpstr>Office Theme</vt:lpstr>
      <vt:lpstr>Classes and Objects</vt:lpstr>
      <vt:lpstr>What are Classes and Objects?</vt:lpstr>
      <vt:lpstr>What are Classes and Objects?</vt:lpstr>
      <vt:lpstr>Syntax to create a Class</vt:lpstr>
      <vt:lpstr>Syntax to create a Class</vt:lpstr>
      <vt:lpstr>Syntax to create an Object</vt:lpstr>
      <vt:lpstr>Methods</vt:lpstr>
      <vt:lpstr>What is Methods</vt:lpstr>
      <vt:lpstr>Syntax to create a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Cyrus RJ W. Robles</cp:lastModifiedBy>
  <cp:revision>133</cp:revision>
  <dcterms:created xsi:type="dcterms:W3CDTF">2022-05-11T03:47:05Z</dcterms:created>
  <dcterms:modified xsi:type="dcterms:W3CDTF">2024-04-01T15:41:34Z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