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314" r:id="rId3"/>
    <p:sldId id="316" r:id="rId4"/>
    <p:sldId id="317" r:id="rId5"/>
    <p:sldId id="320" r:id="rId6"/>
    <p:sldId id="322" r:id="rId7"/>
    <p:sldId id="318" r:id="rId8"/>
    <p:sldId id="323" r:id="rId9"/>
    <p:sldId id="324" r:id="rId10"/>
    <p:sldId id="325" r:id="rId11"/>
    <p:sldId id="326" r:id="rId12"/>
    <p:sldId id="327" r:id="rId13"/>
    <p:sldId id="32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3" autoAdjust="0"/>
    <p:restoredTop sz="79085" autoAdjust="0"/>
  </p:normalViewPr>
  <p:slideViewPr>
    <p:cSldViewPr snapToGrid="0">
      <p:cViewPr varScale="1">
        <p:scale>
          <a:sx n="65" d="100"/>
          <a:sy n="65" d="100"/>
        </p:scale>
        <p:origin x="134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6E1FD-E7A0-497B-BBC0-740BAAC97C64}" type="datetimeFigureOut">
              <a:rPr lang="en-PH" smtClean="0"/>
              <a:t>05/04/2024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90CCE9-4AAE-4E1F-85AD-521A406D6524}" type="slidenum">
              <a:rPr lang="en-PH" smtClean="0"/>
              <a:t>‹#›</a:t>
            </a:fld>
            <a:endParaRPr lang="en-PH"/>
          </a:p>
        </p:txBody>
      </p:sp>
    </p:spTree>
    <p:extLst>
      <p:ext uri="{BB962C8B-B14F-4D97-AF65-F5344CB8AC3E}">
        <p14:creationId xmlns:p14="http://schemas.microsoft.com/office/powerpoint/2010/main" val="155985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a:t>
            </a:fld>
            <a:endParaRPr lang="en-PH"/>
          </a:p>
        </p:txBody>
      </p:sp>
    </p:spTree>
    <p:extLst>
      <p:ext uri="{BB962C8B-B14F-4D97-AF65-F5344CB8AC3E}">
        <p14:creationId xmlns:p14="http://schemas.microsoft.com/office/powerpoint/2010/main" val="1338840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E3E3E3"/>
                </a:solidFill>
                <a:effectLst/>
                <a:latin typeface="Google Sans"/>
              </a:rPr>
              <a:t>Why is it extensively used?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1. </a:t>
            </a:r>
            <a:r>
              <a:rPr lang="en-US" b="1" i="0" dirty="0">
                <a:solidFill>
                  <a:srgbClr val="E3E3E3"/>
                </a:solidFill>
                <a:effectLst/>
                <a:latin typeface="Google Sans"/>
              </a:rPr>
              <a:t>Think of a workshop:</a:t>
            </a:r>
            <a:r>
              <a:rPr lang="en-US" b="0" i="0" dirty="0">
                <a:solidFill>
                  <a:srgbClr val="E3E3E3"/>
                </a:solidFill>
                <a:effectLst/>
                <a:latin typeface="Google Sans"/>
              </a:rPr>
              <a:t> OOP keeps things organized. Tools (methods) are stored with the things they work on (objects) in toolboxes (classes). This makes it easier to find what you need and keeps things from getting messy (reducing errors).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2. </a:t>
            </a:r>
            <a:r>
              <a:rPr lang="en-US" b="1" i="0" dirty="0">
                <a:solidFill>
                  <a:srgbClr val="E3E3E3"/>
                </a:solidFill>
                <a:effectLst/>
                <a:latin typeface="Google Sans"/>
              </a:rPr>
              <a:t>Imagine building with Legos:</a:t>
            </a:r>
            <a:r>
              <a:rPr lang="en-US" b="0" i="0" dirty="0">
                <a:solidFill>
                  <a:srgbClr val="E3E3E3"/>
                </a:solidFill>
                <a:effectLst/>
                <a:latin typeface="Google Sans"/>
              </a:rPr>
              <a:t> Procedural programming is like having individual bricks, where you need a ton of them for even simple structures. OOP is like having pre-built modules (cars, houses, etc.) that you can snap together. You can reuse these modules and focus on creating the bigger picture (your awesome Lego 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3. </a:t>
            </a:r>
            <a:r>
              <a:rPr lang="en-US" b="1" i="0" dirty="0">
                <a:solidFill>
                  <a:srgbClr val="E3E3E3"/>
                </a:solidFill>
                <a:effectLst/>
                <a:latin typeface="Google Sans"/>
              </a:rPr>
              <a:t>Upgrading your car:</a:t>
            </a:r>
            <a:r>
              <a:rPr lang="en-US" b="0" i="0" dirty="0">
                <a:solidFill>
                  <a:srgbClr val="E3E3E3"/>
                </a:solidFill>
                <a:effectLst/>
                <a:latin typeface="Google Sans"/>
              </a:rPr>
              <a:t> OOP allows inheritance. Imagine a base car class with core functionalities (engine, wheels). You can create sports car and sedan subclasses that inherit these functionalities and add their own specific features (spoiler for sports car, extra legroom for sedan). No need to reinvent the wheel (pun intended) for each car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4. </a:t>
            </a:r>
            <a:r>
              <a:rPr lang="en-US" b="1" i="0" dirty="0">
                <a:solidFill>
                  <a:srgbClr val="E3E3E3"/>
                </a:solidFill>
                <a:effectLst/>
                <a:latin typeface="Google Sans"/>
              </a:rPr>
              <a:t>One remote for many devices:</a:t>
            </a:r>
            <a:r>
              <a:rPr lang="en-US" b="0" i="0" dirty="0">
                <a:solidFill>
                  <a:srgbClr val="E3E3E3"/>
                </a:solidFill>
                <a:effectLst/>
                <a:latin typeface="Google Sans"/>
              </a:rPr>
              <a:t> Polymorphism is like having a universal remote. You can use the same button (method call) to control different devices (objects) – maybe it turns on the TV in the living room or the lamp in the bedroom. The devices handle the specifics based on their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2</a:t>
            </a:fld>
            <a:endParaRPr lang="en-PH"/>
          </a:p>
        </p:txBody>
      </p:sp>
    </p:spTree>
    <p:extLst>
      <p:ext uri="{BB962C8B-B14F-4D97-AF65-F5344CB8AC3E}">
        <p14:creationId xmlns:p14="http://schemas.microsoft.com/office/powerpoint/2010/main" val="4235251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C8C65-8922-9F4E-0433-025A61510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E3F09-BB58-2F2D-CFD7-3211FFCED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8F949-CED1-C78C-F637-FCB376FB319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4D76368-5B87-BCAB-C673-CF31A1403315}"/>
              </a:ext>
            </a:extLst>
          </p:cNvPr>
          <p:cNvSpPr>
            <a:spLocks noGrp="1"/>
          </p:cNvSpPr>
          <p:nvPr>
            <p:ph type="sldNum" sz="quarter" idx="5"/>
          </p:nvPr>
        </p:nvSpPr>
        <p:spPr/>
        <p:txBody>
          <a:bodyPr/>
          <a:lstStyle/>
          <a:p>
            <a:fld id="{FE90CCE9-4AAE-4E1F-85AD-521A406D6524}" type="slidenum">
              <a:rPr lang="en-PH" smtClean="0"/>
              <a:t>3</a:t>
            </a:fld>
            <a:endParaRPr lang="en-PH"/>
          </a:p>
        </p:txBody>
      </p:sp>
    </p:spTree>
    <p:extLst>
      <p:ext uri="{BB962C8B-B14F-4D97-AF65-F5344CB8AC3E}">
        <p14:creationId xmlns:p14="http://schemas.microsoft.com/office/powerpoint/2010/main" val="4117958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3AC04-9A8F-8E84-4A92-4AAD4F2A1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7B1AB-FF24-343C-DF54-D3C9E6CAE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055EF-43AB-0337-1E6B-052FAEEDDE4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32CDEE4-E619-1B4C-FFD2-F7FD03647E2B}"/>
              </a:ext>
            </a:extLst>
          </p:cNvPr>
          <p:cNvSpPr>
            <a:spLocks noGrp="1"/>
          </p:cNvSpPr>
          <p:nvPr>
            <p:ph type="sldNum" sz="quarter" idx="5"/>
          </p:nvPr>
        </p:nvSpPr>
        <p:spPr/>
        <p:txBody>
          <a:bodyPr/>
          <a:lstStyle/>
          <a:p>
            <a:fld id="{FE90CCE9-4AAE-4E1F-85AD-521A406D6524}" type="slidenum">
              <a:rPr lang="en-PH" smtClean="0"/>
              <a:t>4</a:t>
            </a:fld>
            <a:endParaRPr lang="en-PH"/>
          </a:p>
        </p:txBody>
      </p:sp>
    </p:spTree>
    <p:extLst>
      <p:ext uri="{BB962C8B-B14F-4D97-AF65-F5344CB8AC3E}">
        <p14:creationId xmlns:p14="http://schemas.microsoft.com/office/powerpoint/2010/main" val="214067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D608F-24AD-7CF8-27A5-CDA7FAAD9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AA8A3-CCBC-C57F-B3EA-CD90ED732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6118A-6A94-1C10-FC79-4F10A352129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93A81FB-2D75-9822-354E-058BE00988F8}"/>
              </a:ext>
            </a:extLst>
          </p:cNvPr>
          <p:cNvSpPr>
            <a:spLocks noGrp="1"/>
          </p:cNvSpPr>
          <p:nvPr>
            <p:ph type="sldNum" sz="quarter" idx="5"/>
          </p:nvPr>
        </p:nvSpPr>
        <p:spPr/>
        <p:txBody>
          <a:bodyPr/>
          <a:lstStyle/>
          <a:p>
            <a:fld id="{FE90CCE9-4AAE-4E1F-85AD-521A406D6524}" type="slidenum">
              <a:rPr lang="en-PH" smtClean="0"/>
              <a:t>5</a:t>
            </a:fld>
            <a:endParaRPr lang="en-PH"/>
          </a:p>
        </p:txBody>
      </p:sp>
    </p:spTree>
    <p:extLst>
      <p:ext uri="{BB962C8B-B14F-4D97-AF65-F5344CB8AC3E}">
        <p14:creationId xmlns:p14="http://schemas.microsoft.com/office/powerpoint/2010/main" val="3629497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EDE1F-0B35-64EA-A15D-A34B0516F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49C18-AF52-A6A7-A81A-7ED995825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425E8-1BC2-B54C-89D2-FC3B9F214E4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9D5AF06-0BD4-456A-A5B6-CCB8DB447430}"/>
              </a:ext>
            </a:extLst>
          </p:cNvPr>
          <p:cNvSpPr>
            <a:spLocks noGrp="1"/>
          </p:cNvSpPr>
          <p:nvPr>
            <p:ph type="sldNum" sz="quarter" idx="5"/>
          </p:nvPr>
        </p:nvSpPr>
        <p:spPr/>
        <p:txBody>
          <a:bodyPr/>
          <a:lstStyle/>
          <a:p>
            <a:fld id="{FE90CCE9-4AAE-4E1F-85AD-521A406D6524}" type="slidenum">
              <a:rPr lang="en-PH" smtClean="0"/>
              <a:t>6</a:t>
            </a:fld>
            <a:endParaRPr lang="en-PH"/>
          </a:p>
        </p:txBody>
      </p:sp>
    </p:spTree>
    <p:extLst>
      <p:ext uri="{BB962C8B-B14F-4D97-AF65-F5344CB8AC3E}">
        <p14:creationId xmlns:p14="http://schemas.microsoft.com/office/powerpoint/2010/main" val="3378230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CADA-4DF0-93E8-B368-BD0E30C64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60ADD-786A-F806-0218-E7B257B0C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D252A-2FD6-4017-F36A-27E2994140D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D7B7997-28E3-ACDF-34FE-72FAE8F6FE24}"/>
              </a:ext>
            </a:extLst>
          </p:cNvPr>
          <p:cNvSpPr>
            <a:spLocks noGrp="1"/>
          </p:cNvSpPr>
          <p:nvPr>
            <p:ph type="sldNum" sz="quarter" idx="5"/>
          </p:nvPr>
        </p:nvSpPr>
        <p:spPr/>
        <p:txBody>
          <a:bodyPr/>
          <a:lstStyle/>
          <a:p>
            <a:fld id="{FE90CCE9-4AAE-4E1F-85AD-521A406D6524}" type="slidenum">
              <a:rPr lang="en-PH" smtClean="0"/>
              <a:t>7</a:t>
            </a:fld>
            <a:endParaRPr lang="en-PH"/>
          </a:p>
        </p:txBody>
      </p:sp>
    </p:spTree>
    <p:extLst>
      <p:ext uri="{BB962C8B-B14F-4D97-AF65-F5344CB8AC3E}">
        <p14:creationId xmlns:p14="http://schemas.microsoft.com/office/powerpoint/2010/main" val="3086044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26C1E-B7B0-8CEC-15B0-EB2776B06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40D87-5B1B-0338-B3DD-7D476C2F12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69254-5B24-790C-C121-9E0960680A7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08DAD7B-A967-7D18-77D1-AA1B80CF37FF}"/>
              </a:ext>
            </a:extLst>
          </p:cNvPr>
          <p:cNvSpPr>
            <a:spLocks noGrp="1"/>
          </p:cNvSpPr>
          <p:nvPr>
            <p:ph type="sldNum" sz="quarter" idx="5"/>
          </p:nvPr>
        </p:nvSpPr>
        <p:spPr/>
        <p:txBody>
          <a:bodyPr/>
          <a:lstStyle/>
          <a:p>
            <a:fld id="{FE90CCE9-4AAE-4E1F-85AD-521A406D6524}" type="slidenum">
              <a:rPr lang="en-PH" smtClean="0"/>
              <a:t>8</a:t>
            </a:fld>
            <a:endParaRPr lang="en-PH"/>
          </a:p>
        </p:txBody>
      </p:sp>
    </p:spTree>
    <p:extLst>
      <p:ext uri="{BB962C8B-B14F-4D97-AF65-F5344CB8AC3E}">
        <p14:creationId xmlns:p14="http://schemas.microsoft.com/office/powerpoint/2010/main" val="1408626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789A0-095D-8473-47D3-E0FF0D96E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F9DAB-6893-EABC-406E-1C2872565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62C8B4-D9EC-536D-4016-C988A31BF8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b="1" i="0" dirty="0">
                <a:solidFill>
                  <a:srgbClr val="E3E3E3"/>
                </a:solidFill>
                <a:effectLst/>
                <a:latin typeface="Google Sans"/>
              </a:rPr>
              <a:t>Think of a workshop:</a:t>
            </a:r>
            <a:r>
              <a:rPr lang="en-US" b="0" i="0" dirty="0">
                <a:solidFill>
                  <a:srgbClr val="E3E3E3"/>
                </a:solidFill>
                <a:effectLst/>
                <a:latin typeface="Google Sans"/>
              </a:rPr>
              <a:t> OOP keeps things organized. Tools (methods) are stored with the things they work on (objects) in toolboxes (classes). This makes it easier to find what you need and keeps things from getting messy (reducing errors).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2. </a:t>
            </a:r>
            <a:r>
              <a:rPr lang="en-US" b="1" i="0" dirty="0">
                <a:solidFill>
                  <a:srgbClr val="E3E3E3"/>
                </a:solidFill>
                <a:effectLst/>
                <a:latin typeface="Google Sans"/>
              </a:rPr>
              <a:t>Imagine building with Legos:</a:t>
            </a:r>
            <a:r>
              <a:rPr lang="en-US" b="0" i="0" dirty="0">
                <a:solidFill>
                  <a:srgbClr val="E3E3E3"/>
                </a:solidFill>
                <a:effectLst/>
                <a:latin typeface="Google Sans"/>
              </a:rPr>
              <a:t> Procedural programming is like having individual bricks, where you need a ton of them for even simple structures. OOP is like having pre-built modules (cars, houses, etc.) that you can snap together. You can reuse these modules and focus on creating the bigger picture (your awesome Lego 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3. </a:t>
            </a:r>
            <a:r>
              <a:rPr lang="en-US" b="1" i="0" dirty="0">
                <a:solidFill>
                  <a:srgbClr val="E3E3E3"/>
                </a:solidFill>
                <a:effectLst/>
                <a:latin typeface="Google Sans"/>
              </a:rPr>
              <a:t>Upgrading your car:</a:t>
            </a:r>
            <a:r>
              <a:rPr lang="en-US" b="0" i="0" dirty="0">
                <a:solidFill>
                  <a:srgbClr val="E3E3E3"/>
                </a:solidFill>
                <a:effectLst/>
                <a:latin typeface="Google Sans"/>
              </a:rPr>
              <a:t> OOP allows inheritance. Imagine a base car class with core functionalities (engine, wheels). You can create sports car and sedan subclasses that inherit these functionalities and add their own specific features (spoiler for sports car, extra legroom for sedan). No need to reinvent the wheel (pun intended) for each car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4. </a:t>
            </a:r>
            <a:r>
              <a:rPr lang="en-US" b="1" i="0" dirty="0">
                <a:solidFill>
                  <a:srgbClr val="E3E3E3"/>
                </a:solidFill>
                <a:effectLst/>
                <a:latin typeface="Google Sans"/>
              </a:rPr>
              <a:t>One remote for many devices:</a:t>
            </a:r>
            <a:r>
              <a:rPr lang="en-US" b="0" i="0" dirty="0">
                <a:solidFill>
                  <a:srgbClr val="E3E3E3"/>
                </a:solidFill>
                <a:effectLst/>
                <a:latin typeface="Google Sans"/>
              </a:rPr>
              <a:t> Polymorphism is like having a universal remote. You can use the same button (method call) to control different devices (objects) – maybe it turns on the TV in the living room or the lamp in the bedroom. The devices handle the specifics based on their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endParaRPr lang="en-PH" dirty="0"/>
          </a:p>
        </p:txBody>
      </p:sp>
      <p:sp>
        <p:nvSpPr>
          <p:cNvPr id="4" name="Slide Number Placeholder 3">
            <a:extLst>
              <a:ext uri="{FF2B5EF4-FFF2-40B4-BE49-F238E27FC236}">
                <a16:creationId xmlns:a16="http://schemas.microsoft.com/office/drawing/2014/main" id="{9E43FF55-E7C4-755B-BD94-CCEE22004CC9}"/>
              </a:ext>
            </a:extLst>
          </p:cNvPr>
          <p:cNvSpPr>
            <a:spLocks noGrp="1"/>
          </p:cNvSpPr>
          <p:nvPr>
            <p:ph type="sldNum" sz="quarter" idx="5"/>
          </p:nvPr>
        </p:nvSpPr>
        <p:spPr/>
        <p:txBody>
          <a:bodyPr/>
          <a:lstStyle/>
          <a:p>
            <a:fld id="{FE90CCE9-4AAE-4E1F-85AD-521A406D6524}" type="slidenum">
              <a:rPr lang="en-PH" smtClean="0"/>
              <a:t>9</a:t>
            </a:fld>
            <a:endParaRPr lang="en-PH"/>
          </a:p>
        </p:txBody>
      </p:sp>
    </p:spTree>
    <p:extLst>
      <p:ext uri="{BB962C8B-B14F-4D97-AF65-F5344CB8AC3E}">
        <p14:creationId xmlns:p14="http://schemas.microsoft.com/office/powerpoint/2010/main" val="2400399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3EC64-BED0-36D8-B731-4B3DDC111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A471E-DDFF-78AB-3790-C1F75706A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56C0B-0493-E669-9E73-70A4CBA34DE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8C092EA-4827-3885-E09E-B10E6EAC10E9}"/>
              </a:ext>
            </a:extLst>
          </p:cNvPr>
          <p:cNvSpPr>
            <a:spLocks noGrp="1"/>
          </p:cNvSpPr>
          <p:nvPr>
            <p:ph type="sldNum" sz="quarter" idx="5"/>
          </p:nvPr>
        </p:nvSpPr>
        <p:spPr/>
        <p:txBody>
          <a:bodyPr/>
          <a:lstStyle/>
          <a:p>
            <a:fld id="{FE90CCE9-4AAE-4E1F-85AD-521A406D6524}" type="slidenum">
              <a:rPr lang="en-PH" smtClean="0"/>
              <a:t>10</a:t>
            </a:fld>
            <a:endParaRPr lang="en-PH"/>
          </a:p>
        </p:txBody>
      </p:sp>
    </p:spTree>
    <p:extLst>
      <p:ext uri="{BB962C8B-B14F-4D97-AF65-F5344CB8AC3E}">
        <p14:creationId xmlns:p14="http://schemas.microsoft.com/office/powerpoint/2010/main" val="4233798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4ECA-39C1-1B8A-819C-744B82A69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25FB7-423A-161A-A1FA-66D1C2A82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F1CF9-74BC-F44F-4F3E-A2BD33F978E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F1E1BD4-A9AC-9BEA-47D3-394B8090A062}"/>
              </a:ext>
            </a:extLst>
          </p:cNvPr>
          <p:cNvSpPr>
            <a:spLocks noGrp="1"/>
          </p:cNvSpPr>
          <p:nvPr>
            <p:ph type="sldNum" sz="quarter" idx="5"/>
          </p:nvPr>
        </p:nvSpPr>
        <p:spPr/>
        <p:txBody>
          <a:bodyPr/>
          <a:lstStyle/>
          <a:p>
            <a:fld id="{FE90CCE9-4AAE-4E1F-85AD-521A406D6524}" type="slidenum">
              <a:rPr lang="en-PH" smtClean="0"/>
              <a:t>11</a:t>
            </a:fld>
            <a:endParaRPr lang="en-PH"/>
          </a:p>
        </p:txBody>
      </p:sp>
    </p:spTree>
    <p:extLst>
      <p:ext uri="{BB962C8B-B14F-4D97-AF65-F5344CB8AC3E}">
        <p14:creationId xmlns:p14="http://schemas.microsoft.com/office/powerpoint/2010/main" val="932289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C051D-F452-3AEF-D05D-BDA317D93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7FF07-4DDC-2F8C-D9AF-7362E1A04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2C1C-755F-FE4E-314F-9FFB10FD4E0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C3D8422-0BBB-BC2B-718D-F7137C57B071}"/>
              </a:ext>
            </a:extLst>
          </p:cNvPr>
          <p:cNvSpPr>
            <a:spLocks noGrp="1"/>
          </p:cNvSpPr>
          <p:nvPr>
            <p:ph type="sldNum" sz="quarter" idx="5"/>
          </p:nvPr>
        </p:nvSpPr>
        <p:spPr/>
        <p:txBody>
          <a:bodyPr/>
          <a:lstStyle/>
          <a:p>
            <a:fld id="{FE90CCE9-4AAE-4E1F-85AD-521A406D6524}" type="slidenum">
              <a:rPr lang="en-PH" smtClean="0"/>
              <a:t>12</a:t>
            </a:fld>
            <a:endParaRPr lang="en-PH"/>
          </a:p>
        </p:txBody>
      </p:sp>
    </p:spTree>
    <p:extLst>
      <p:ext uri="{BB962C8B-B14F-4D97-AF65-F5344CB8AC3E}">
        <p14:creationId xmlns:p14="http://schemas.microsoft.com/office/powerpoint/2010/main" val="1447044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3D203-30D9-1299-9FB4-08177C477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970AD-02FD-86B1-8A03-11FB6F3C9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74225D-1F6D-F8D0-2DBE-C6DE55E01AD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7FAB199-44A6-B9C5-2C29-A0B617A94E60}"/>
              </a:ext>
            </a:extLst>
          </p:cNvPr>
          <p:cNvSpPr>
            <a:spLocks noGrp="1"/>
          </p:cNvSpPr>
          <p:nvPr>
            <p:ph type="sldNum" sz="quarter" idx="5"/>
          </p:nvPr>
        </p:nvSpPr>
        <p:spPr/>
        <p:txBody>
          <a:bodyPr/>
          <a:lstStyle/>
          <a:p>
            <a:fld id="{FE90CCE9-4AAE-4E1F-85AD-521A406D6524}" type="slidenum">
              <a:rPr lang="en-PH" smtClean="0"/>
              <a:t>13</a:t>
            </a:fld>
            <a:endParaRPr lang="en-PH"/>
          </a:p>
        </p:txBody>
      </p:sp>
    </p:spTree>
    <p:extLst>
      <p:ext uri="{BB962C8B-B14F-4D97-AF65-F5344CB8AC3E}">
        <p14:creationId xmlns:p14="http://schemas.microsoft.com/office/powerpoint/2010/main" val="2216469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1E6E-2408-484E-8979-2DB96F2F8A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947B426-68B8-4CB7-871C-5CC84E86C6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37352935-9451-4839-96FB-E9A8FCCD6D96}"/>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B468F784-7AF5-4560-BEFA-8C8096530B5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3498F6B-191E-4E4B-BE34-C7613712597C}"/>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13193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7643-F5D7-48E2-ADAB-95C74CECF06D}"/>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300FC6CC-B49B-452C-8E9C-808488E73C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2CBF4EE-800F-479B-9D99-FD0B990C4D09}"/>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ABA3E0ED-BABB-43F4-8ACF-6AB1C583C02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2B6B210-80B8-4EC4-A5DD-626DF33507CE}"/>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089668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0E17-7239-452C-8B6C-2DE99BB75C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82621D8-37ED-476B-884F-26990A946C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FE869-1B16-425A-9EFF-D1D147E64F8E}"/>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FEB7772C-84B9-4CA4-BC65-3D41F9D331A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4F6E878-86EF-4ABF-A7AD-65B43A873D50}"/>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412625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D03AF-7534-49E0-B0A2-F0403B159E1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E4E63158-1F78-4261-99A0-55F573DD04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13B12B8E-1661-462B-A00C-FE1078E5F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66763DF-E084-447E-A488-9F9D328A97D0}"/>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6" name="Footer Placeholder 5">
            <a:extLst>
              <a:ext uri="{FF2B5EF4-FFF2-40B4-BE49-F238E27FC236}">
                <a16:creationId xmlns:a16="http://schemas.microsoft.com/office/drawing/2014/main" id="{2D46663E-C0B8-407A-9C08-AD7A14CDF03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A444692-F2BB-4F15-9AC6-1D337C5F6BB9}"/>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052483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4591-52D4-4A6A-81FF-CF9B69DD3DCC}"/>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AAD74561-7712-4BE5-B42C-1DF224123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C6369D-C1D0-4A4F-85B0-DC21BD7E9C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E0D26301-7EFA-4E2D-8E37-01989EDE4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68D5A3-0863-4C19-8CDF-E5F6380092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861BD46F-0A9D-4A21-A809-A8A4915A7137}"/>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8" name="Footer Placeholder 7">
            <a:extLst>
              <a:ext uri="{FF2B5EF4-FFF2-40B4-BE49-F238E27FC236}">
                <a16:creationId xmlns:a16="http://schemas.microsoft.com/office/drawing/2014/main" id="{63B3FE40-3AE1-4501-BD99-5BB30AA8E9EF}"/>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819DB7BF-E7E2-4599-93C1-314862B49E96}"/>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795543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BA4B7-5BD0-45CE-A3AB-0BDAEBCB2F86}"/>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85317F3A-B35D-4332-A083-A8EA82A8CCFF}"/>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4" name="Footer Placeholder 3">
            <a:extLst>
              <a:ext uri="{FF2B5EF4-FFF2-40B4-BE49-F238E27FC236}">
                <a16:creationId xmlns:a16="http://schemas.microsoft.com/office/drawing/2014/main" id="{955D1BAA-3C55-422C-9DDB-C8FA246675AF}"/>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4545CCC-0421-4BC8-A428-7D6891975624}"/>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76104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A8D164-8317-4375-AC20-4E5ECFBC8304}"/>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3" name="Footer Placeholder 2">
            <a:extLst>
              <a:ext uri="{FF2B5EF4-FFF2-40B4-BE49-F238E27FC236}">
                <a16:creationId xmlns:a16="http://schemas.microsoft.com/office/drawing/2014/main" id="{2CE65B31-8161-47C0-B8D2-02FC9D063539}"/>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5B8A5A49-C1DE-4043-9C4E-CA88B7D930C1}"/>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3474507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1128-45F1-4E37-A76C-48135B4B5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96A6B574-F2D0-4A1E-971A-951AD113FF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284A9BF5-4AAF-46A8-9307-3E49D1DC7F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84D477-7EF0-4092-A585-C8B452D869A0}"/>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6" name="Footer Placeholder 5">
            <a:extLst>
              <a:ext uri="{FF2B5EF4-FFF2-40B4-BE49-F238E27FC236}">
                <a16:creationId xmlns:a16="http://schemas.microsoft.com/office/drawing/2014/main" id="{912B03C4-61D6-4E97-BF6A-97F68327734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11C0268-0C31-4494-872A-FF14572B07FB}"/>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314456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1858D-F4CE-4847-9F4E-96911B7263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E112DC33-E4BE-4D59-8A3E-E5C8C7FEA8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E4662A18-4E8B-44E0-95B0-48E49B06B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83A010-3289-4BEF-9BA6-B9291ECCA3A3}"/>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6" name="Footer Placeholder 5">
            <a:extLst>
              <a:ext uri="{FF2B5EF4-FFF2-40B4-BE49-F238E27FC236}">
                <a16:creationId xmlns:a16="http://schemas.microsoft.com/office/drawing/2014/main" id="{C3F1841C-B8D0-4564-AB48-104684286C1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18FD835-28F9-4C9B-8DEF-1C8AF7C19616}"/>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869181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9526-6B4B-4B7C-836C-CA5ECFEE187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2D3F895-13B7-4F09-8F2B-7C7B281BDC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FED4FF3-605C-448B-ABE0-7A159B7B3BA6}"/>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F5D10917-6EAA-48EE-AE32-E15F33FCA10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9451C44-2EAE-49AE-A864-682DEB3D8E31}"/>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1969415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CFD600-C7E3-42EE-9735-2FE3EDE776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6C80727-2711-434B-AEFB-9E214673EC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1B47950-A376-49E5-A09E-DEAA9AD59B10}"/>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47D8641F-5631-4BB0-94A8-CB1A2D78FDD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B056033-BC76-47F3-AA32-F159420DFDA7}"/>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4268849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2D0B8-307D-483C-BA2C-9A8A459E4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2675D10E-5C2B-4972-BF7B-F95754607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42C434A-E16E-4577-B5A4-C633EF521A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529472F3-C75B-4412-A75D-AF542B82A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190A6DE4-6572-40B4-8CEF-D76FDC9FDC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E55236-52B9-4157-99EF-C477DAF2F554}" type="slidenum">
              <a:rPr lang="en-PH" smtClean="0"/>
              <a:t>‹#›</a:t>
            </a:fld>
            <a:endParaRPr lang="en-PH"/>
          </a:p>
        </p:txBody>
      </p:sp>
    </p:spTree>
    <p:extLst>
      <p:ext uri="{BB962C8B-B14F-4D97-AF65-F5344CB8AC3E}">
        <p14:creationId xmlns:p14="http://schemas.microsoft.com/office/powerpoint/2010/main" val="1186813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p:txBody>
          <a:bodyPr>
            <a:normAutofit/>
          </a:bodyPr>
          <a:lstStyle/>
          <a:p>
            <a:r>
              <a:rPr lang="en-PH" b="1" dirty="0"/>
              <a:t>Introduction to Object Oriented Programming</a:t>
            </a:r>
          </a:p>
        </p:txBody>
      </p:sp>
      <p:sp>
        <p:nvSpPr>
          <p:cNvPr id="3" name="Subtitle 2">
            <a:extLst>
              <a:ext uri="{FF2B5EF4-FFF2-40B4-BE49-F238E27FC236}">
                <a16:creationId xmlns:a16="http://schemas.microsoft.com/office/drawing/2014/main" id="{C0232827-4F60-4C85-BA9F-CAC18540AC11}"/>
              </a:ext>
            </a:extLst>
          </p:cNvPr>
          <p:cNvSpPr>
            <a:spLocks noGrp="1"/>
          </p:cNvSpPr>
          <p:nvPr>
            <p:ph type="subTitle" idx="1"/>
          </p:nvPr>
        </p:nvSpPr>
        <p:spPr/>
        <p:txBody>
          <a:bodyPr/>
          <a:lstStyle/>
          <a:p>
            <a:pPr algn="l"/>
            <a:endParaRPr lang="en-PH" sz="2000" dirty="0"/>
          </a:p>
          <a:p>
            <a:pPr algn="l"/>
            <a:r>
              <a:rPr lang="en-PH" sz="2000" dirty="0"/>
              <a:t>Presented by:</a:t>
            </a:r>
          </a:p>
          <a:p>
            <a:pPr algn="l"/>
            <a:r>
              <a:rPr lang="en-PH" sz="2000" dirty="0"/>
              <a:t>Cyrus </a:t>
            </a:r>
            <a:r>
              <a:rPr lang="en-PH" sz="2000" dirty="0" err="1"/>
              <a:t>Rj</a:t>
            </a:r>
            <a:r>
              <a:rPr lang="en-PH" sz="2000" dirty="0"/>
              <a:t> W. Robles</a:t>
            </a:r>
            <a:endParaRPr lang="en-PH" dirty="0"/>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endParaRPr lang="en-PH" dirty="0"/>
          </a:p>
        </p:txBody>
      </p:sp>
    </p:spTree>
    <p:extLst>
      <p:ext uri="{BB962C8B-B14F-4D97-AF65-F5344CB8AC3E}">
        <p14:creationId xmlns:p14="http://schemas.microsoft.com/office/powerpoint/2010/main" val="4005017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rmAutofit fontScale="90000"/>
          </a:bodyPr>
          <a:lstStyle/>
          <a:p>
            <a:r>
              <a:rPr lang="en-PH" b="1" dirty="0"/>
              <a:t>Why use OOP?</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283707"/>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0" i="0" dirty="0">
                <a:effectLst/>
                <a:latin typeface="Calibri (Body)"/>
              </a:rPr>
              <a:t>Object-Oriented Programming (OOP) is utilized for its ability to </a:t>
            </a:r>
            <a:r>
              <a:rPr lang="en-US" sz="2400" b="1" i="0" dirty="0">
                <a:effectLst/>
                <a:latin typeface="Calibri (Body)"/>
              </a:rPr>
              <a:t>organize</a:t>
            </a:r>
            <a:r>
              <a:rPr lang="en-US" sz="2400" b="0" i="0" dirty="0">
                <a:effectLst/>
                <a:latin typeface="Calibri (Body)"/>
              </a:rPr>
              <a:t> software design around data, or objects, rather than functions and logic.</a:t>
            </a:r>
          </a:p>
          <a:p>
            <a:pPr marL="342900" indent="-342900" algn="l">
              <a:buFont typeface="Wingdings" panose="05000000000000000000" pitchFamily="2" charset="2"/>
              <a:buChar char="q"/>
            </a:pPr>
            <a:endParaRPr lang="en-US" sz="2400" b="0" i="0" dirty="0">
              <a:solidFill>
                <a:srgbClr val="273239"/>
              </a:solidFill>
              <a:effectLst/>
              <a:latin typeface="Calibri (Body)"/>
            </a:endParaRPr>
          </a:p>
          <a:p>
            <a:pPr marL="342900" indent="-342900" algn="l">
              <a:buFont typeface="Wingdings" panose="05000000000000000000" pitchFamily="2" charset="2"/>
              <a:buChar char="q"/>
            </a:pPr>
            <a:r>
              <a:rPr lang="en-US" sz="2400" dirty="0">
                <a:solidFill>
                  <a:srgbClr val="273239"/>
                </a:solidFill>
                <a:latin typeface="Calibri (Body)"/>
              </a:rPr>
              <a:t>Why is it extensively used?</a:t>
            </a:r>
          </a:p>
          <a:p>
            <a:pPr marL="800100" lvl="1" indent="-342900">
              <a:buFont typeface="Wingdings" panose="05000000000000000000" pitchFamily="2" charset="2"/>
              <a:buChar char="q"/>
            </a:pPr>
            <a:endParaRPr lang="en-US" sz="100" dirty="0">
              <a:solidFill>
                <a:srgbClr val="273239"/>
              </a:solidFill>
              <a:latin typeface="Calibri (Body)"/>
            </a:endParaRPr>
          </a:p>
          <a:p>
            <a:pPr marL="800100" lvl="1" indent="-342900">
              <a:buFont typeface="Wingdings" panose="05000000000000000000" pitchFamily="2" charset="2"/>
              <a:buChar char="Ø"/>
            </a:pPr>
            <a:r>
              <a:rPr lang="en-US" sz="2400" b="0" i="0" dirty="0">
                <a:solidFill>
                  <a:srgbClr val="273239"/>
                </a:solidFill>
                <a:effectLst/>
                <a:latin typeface="Calibri (Body)"/>
              </a:rPr>
              <a:t>Suitable for </a:t>
            </a:r>
            <a:r>
              <a:rPr lang="en-US" sz="2400" b="1" i="0" dirty="0">
                <a:solidFill>
                  <a:srgbClr val="273239"/>
                </a:solidFill>
                <a:effectLst/>
                <a:latin typeface="Calibri (Body)"/>
              </a:rPr>
              <a:t>constructing</a:t>
            </a:r>
            <a:r>
              <a:rPr lang="en-US" sz="2400" b="0" i="0" dirty="0">
                <a:solidFill>
                  <a:srgbClr val="273239"/>
                </a:solidFill>
                <a:effectLst/>
                <a:latin typeface="Calibri (Body)"/>
              </a:rPr>
              <a:t> both simple and complicated applications. </a:t>
            </a:r>
          </a:p>
          <a:p>
            <a:pPr marL="800100" lvl="1" indent="-342900">
              <a:buFont typeface="Wingdings" panose="05000000000000000000" pitchFamily="2" charset="2"/>
              <a:buChar char="Ø"/>
            </a:pPr>
            <a:r>
              <a:rPr lang="en-US" sz="2400" b="0" i="0" dirty="0">
                <a:solidFill>
                  <a:srgbClr val="273239"/>
                </a:solidFill>
                <a:effectLst/>
                <a:latin typeface="Calibri (Body)"/>
              </a:rPr>
              <a:t>Allows </a:t>
            </a:r>
            <a:r>
              <a:rPr lang="en-US" sz="2400" b="1" i="0" dirty="0">
                <a:solidFill>
                  <a:srgbClr val="273239"/>
                </a:solidFill>
                <a:effectLst/>
                <a:latin typeface="Calibri (Body)"/>
              </a:rPr>
              <a:t>re-use</a:t>
            </a:r>
            <a:r>
              <a:rPr lang="en-US" sz="2400" b="0" i="0" dirty="0">
                <a:solidFill>
                  <a:srgbClr val="273239"/>
                </a:solidFill>
                <a:effectLst/>
                <a:latin typeface="Calibri (Body)"/>
              </a:rPr>
              <a:t> of code, enhancing efficiency. </a:t>
            </a:r>
          </a:p>
          <a:p>
            <a:pPr marL="800100" lvl="1" indent="-342900">
              <a:buFont typeface="Wingdings" panose="05000000000000000000" pitchFamily="2" charset="2"/>
              <a:buChar char="Ø"/>
            </a:pPr>
            <a:r>
              <a:rPr lang="en-US" sz="2400" b="1" i="0" dirty="0">
                <a:solidFill>
                  <a:srgbClr val="273239"/>
                </a:solidFill>
                <a:effectLst/>
                <a:latin typeface="Calibri (Body)"/>
              </a:rPr>
              <a:t>New features </a:t>
            </a:r>
            <a:r>
              <a:rPr lang="en-US" sz="2400" b="0" i="0" dirty="0">
                <a:solidFill>
                  <a:srgbClr val="273239"/>
                </a:solidFill>
                <a:effectLst/>
                <a:latin typeface="Calibri (Body)"/>
              </a:rPr>
              <a:t>are readily integrated into the existing code. </a:t>
            </a:r>
          </a:p>
          <a:p>
            <a:pPr marL="800100" lvl="1" indent="-342900">
              <a:buFont typeface="Wingdings" panose="05000000000000000000" pitchFamily="2" charset="2"/>
              <a:buChar char="Ø"/>
            </a:pPr>
            <a:r>
              <a:rPr lang="en-US" sz="2400" b="1" i="0" dirty="0">
                <a:solidFill>
                  <a:srgbClr val="273239"/>
                </a:solidFill>
                <a:effectLst/>
                <a:latin typeface="Calibri (Body)"/>
              </a:rPr>
              <a:t>Reduced</a:t>
            </a:r>
            <a:r>
              <a:rPr lang="en-US" sz="2400" b="0" i="0" dirty="0">
                <a:solidFill>
                  <a:srgbClr val="273239"/>
                </a:solidFill>
                <a:effectLst/>
                <a:latin typeface="Calibri (Body)"/>
              </a:rPr>
              <a:t> production and maintenance costs.</a:t>
            </a:r>
          </a:p>
          <a:p>
            <a:pPr marL="800100" lvl="1" indent="-342900">
              <a:buFont typeface="Wingdings" panose="05000000000000000000" pitchFamily="2" charset="2"/>
              <a:buChar char="Ø"/>
            </a:pPr>
            <a:endParaRPr lang="en-US" sz="2400" b="0" i="0" dirty="0">
              <a:solidFill>
                <a:srgbClr val="273239"/>
              </a:solidFill>
              <a:effectLst/>
              <a:latin typeface="Calibri (Body)"/>
            </a:endParaRPr>
          </a:p>
          <a:p>
            <a:pPr marL="342900" indent="-342900" algn="l">
              <a:buFont typeface="Wingdings" panose="05000000000000000000" pitchFamily="2" charset="2"/>
              <a:buChar char="q"/>
            </a:pPr>
            <a:r>
              <a:rPr lang="en-US" sz="2400" b="0" i="0" dirty="0">
                <a:solidFill>
                  <a:srgbClr val="273239"/>
                </a:solidFill>
                <a:effectLst/>
                <a:latin typeface="Calibri (Body)"/>
              </a:rPr>
              <a:t>Common programming languages used for OOP include C++, </a:t>
            </a:r>
            <a:r>
              <a:rPr lang="en-US" sz="2400" b="1" i="0" dirty="0">
                <a:solidFill>
                  <a:srgbClr val="273239"/>
                </a:solidFill>
                <a:effectLst/>
                <a:latin typeface="Calibri (Body)"/>
              </a:rPr>
              <a:t>Java</a:t>
            </a:r>
            <a:r>
              <a:rPr lang="en-US" sz="2400" b="0" i="0" dirty="0">
                <a:solidFill>
                  <a:srgbClr val="273239"/>
                </a:solidFill>
                <a:effectLst/>
                <a:latin typeface="Calibri (Body)"/>
              </a:rPr>
              <a:t>, and C#</a:t>
            </a:r>
          </a:p>
          <a:p>
            <a:pPr marL="800100" lvl="1" indent="-342900">
              <a:buFont typeface="Wingdings" panose="05000000000000000000" pitchFamily="2" charset="2"/>
              <a:buChar char="q"/>
            </a:pPr>
            <a:endParaRPr lang="en-US" sz="2400" b="0" i="0" dirty="0">
              <a:solidFill>
                <a:srgbClr val="273239"/>
              </a:solidFill>
              <a:effectLst/>
              <a:latin typeface="Calibri (Body)"/>
            </a:endParaRPr>
          </a:p>
          <a:p>
            <a:pPr algn="l"/>
            <a:endParaRPr lang="en-US" sz="2400" b="0" i="0" dirty="0">
              <a:effectLst/>
              <a:latin typeface="Calibri (Body)"/>
            </a:endParaRPr>
          </a:p>
          <a:p>
            <a:pPr algn="l"/>
            <a:endParaRPr lang="en-US" sz="2400" b="0" i="0" dirty="0">
              <a:effectLst/>
              <a:latin typeface="Calibri (Body)"/>
            </a:endParaRPr>
          </a:p>
          <a:p>
            <a:pPr algn="l"/>
            <a:br>
              <a:rPr lang="en-US" sz="2400" dirty="0">
                <a:latin typeface="Calibri (Body)"/>
              </a:rPr>
            </a:br>
            <a:endParaRPr lang="en-US" sz="2400" b="0" i="0" dirty="0">
              <a:solidFill>
                <a:srgbClr val="000000"/>
              </a:solidFill>
              <a:effectLst/>
              <a:latin typeface="Calibri (Body)"/>
            </a:endParaRPr>
          </a:p>
        </p:txBody>
      </p:sp>
      <p:sp>
        <p:nvSpPr>
          <p:cNvPr id="3" name="Rectangle 1">
            <a:extLst>
              <a:ext uri="{FF2B5EF4-FFF2-40B4-BE49-F238E27FC236}">
                <a16:creationId xmlns:a16="http://schemas.microsoft.com/office/drawing/2014/main" id="{CE8161A2-0D9C-228C-B33C-D1F12A49095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0987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CF6A5688-D33D-BC38-DA79-EDF6C77D8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D97F4-2431-904D-44CB-D697EF299DA7}"/>
              </a:ext>
            </a:extLst>
          </p:cNvPr>
          <p:cNvSpPr>
            <a:spLocks noGrp="1"/>
          </p:cNvSpPr>
          <p:nvPr>
            <p:ph type="ctrTitle"/>
          </p:nvPr>
        </p:nvSpPr>
        <p:spPr>
          <a:xfrm>
            <a:off x="1524000" y="497150"/>
            <a:ext cx="9144000" cy="718459"/>
          </a:xfrm>
        </p:spPr>
        <p:txBody>
          <a:bodyPr>
            <a:normAutofit fontScale="90000"/>
          </a:bodyPr>
          <a:lstStyle/>
          <a:p>
            <a:r>
              <a:rPr lang="en-PH" b="1" dirty="0"/>
              <a:t>Building Blocks of OOP</a:t>
            </a:r>
          </a:p>
        </p:txBody>
      </p:sp>
      <p:sp>
        <p:nvSpPr>
          <p:cNvPr id="4" name="Footer Placeholder 3">
            <a:extLst>
              <a:ext uri="{FF2B5EF4-FFF2-40B4-BE49-F238E27FC236}">
                <a16:creationId xmlns:a16="http://schemas.microsoft.com/office/drawing/2014/main" id="{7A5CD788-17A2-AD44-C957-968DEAA1954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B9EE2C74-71B5-865C-F98F-1C4A09437B46}"/>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1" i="0" dirty="0">
                <a:effectLst/>
                <a:latin typeface="Calibri (Body)"/>
              </a:rPr>
              <a:t>Object</a:t>
            </a:r>
            <a:r>
              <a:rPr lang="en-US" sz="2400" b="0" i="0" dirty="0">
                <a:effectLst/>
                <a:latin typeface="Calibri (Body)"/>
              </a:rPr>
              <a:t>: models a</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Real world object </a:t>
            </a:r>
            <a:r>
              <a:rPr kumimoji="0" lang="en-US" sz="2400" b="0" i="0" u="none" strike="noStrike" kern="1200" cap="none" spc="0" normalizeH="0" baseline="0" noProof="0" dirty="0">
                <a:ln>
                  <a:noFill/>
                </a:ln>
                <a:solidFill>
                  <a:srgbClr val="273239"/>
                </a:solidFill>
                <a:effectLst/>
                <a:uLnTx/>
                <a:uFillTx/>
                <a:latin typeface="Calibri (Body)"/>
                <a:ea typeface="+mn-ea"/>
                <a:cs typeface="+mn-cs"/>
              </a:rPr>
              <a:t>(ex. computer, book, box)</a:t>
            </a:r>
          </a:p>
          <a:p>
            <a:pPr marL="800100" lvl="1" indent="-342900">
              <a:buFont typeface="Wingdings" panose="05000000000000000000" pitchFamily="2" charset="2"/>
              <a:buChar char="Ø"/>
              <a:defRPr/>
            </a:pPr>
            <a:r>
              <a:rPr lang="en-US" sz="2400" b="1" i="0" dirty="0">
                <a:effectLst/>
                <a:latin typeface="Calibri (Body)"/>
              </a:rPr>
              <a:t>Concept</a:t>
            </a:r>
            <a:r>
              <a:rPr lang="en-US" sz="2400" b="0" i="0" dirty="0">
                <a:effectLst/>
                <a:latin typeface="Calibri (Body)"/>
              </a:rPr>
              <a:t> (ex. meeting, interview)</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Process</a:t>
            </a:r>
            <a:r>
              <a:rPr kumimoji="0" lang="en-US" sz="2400" b="0" i="0" u="none" strike="noStrike" kern="1200" cap="none" spc="0" normalizeH="0" baseline="0" noProof="0" dirty="0">
                <a:ln>
                  <a:noFill/>
                </a:ln>
                <a:solidFill>
                  <a:srgbClr val="273239"/>
                </a:solidFill>
                <a:effectLst/>
                <a:uLnTx/>
                <a:uFillTx/>
                <a:latin typeface="Calibri (Body)"/>
                <a:ea typeface="+mn-ea"/>
                <a:cs typeface="+mn-cs"/>
              </a:rPr>
              <a:t> (ex. sorting a stack of papers or comparing two computers to measure their performance)</a:t>
            </a:r>
          </a:p>
          <a:p>
            <a:pPr marL="342900" indent="-342900" algn="l">
              <a:buFont typeface="Wingdings" panose="05000000000000000000" pitchFamily="2" charset="2"/>
              <a:buChar char="q"/>
            </a:pPr>
            <a:endParaRPr lang="en-US" sz="2400" b="0" i="0" dirty="0">
              <a:effectLst/>
              <a:latin typeface="Calibri (Body)"/>
            </a:endParaRPr>
          </a:p>
          <a:p>
            <a:pPr marL="342900" indent="-342900" algn="l">
              <a:buFont typeface="Wingdings" panose="05000000000000000000" pitchFamily="2" charset="2"/>
              <a:buChar char="q"/>
            </a:pPr>
            <a:r>
              <a:rPr lang="en-US" sz="2400" b="1" i="0" dirty="0">
                <a:effectLst/>
                <a:latin typeface="Calibri (Body)"/>
              </a:rPr>
              <a:t>Class</a:t>
            </a:r>
            <a:r>
              <a:rPr lang="en-US" sz="2400" b="0" i="0" dirty="0">
                <a:effectLst/>
                <a:latin typeface="Calibri (Body)"/>
              </a:rPr>
              <a:t>: prototype or blueprint from which objects are created</a:t>
            </a:r>
            <a:endParaRPr lang="en-US" sz="2400" b="0" i="0" dirty="0">
              <a:solidFill>
                <a:srgbClr val="000000"/>
              </a:solidFill>
              <a:effectLst/>
              <a:latin typeface="Calibri (Body)"/>
            </a:endParaRPr>
          </a:p>
        </p:txBody>
      </p:sp>
      <p:sp>
        <p:nvSpPr>
          <p:cNvPr id="3" name="Rectangle 1">
            <a:extLst>
              <a:ext uri="{FF2B5EF4-FFF2-40B4-BE49-F238E27FC236}">
                <a16:creationId xmlns:a16="http://schemas.microsoft.com/office/drawing/2014/main" id="{E3AD60AA-B79C-EDED-4265-FCCFBB7097D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2599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91A992BC-3CAC-34AF-5B9D-AC3B16FB0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24902-EED2-5DAC-7A73-37B70E0D769C}"/>
              </a:ext>
            </a:extLst>
          </p:cNvPr>
          <p:cNvSpPr>
            <a:spLocks noGrp="1"/>
          </p:cNvSpPr>
          <p:nvPr>
            <p:ph type="ctrTitle"/>
          </p:nvPr>
        </p:nvSpPr>
        <p:spPr>
          <a:xfrm>
            <a:off x="1524000" y="497150"/>
            <a:ext cx="9144000" cy="718459"/>
          </a:xfrm>
        </p:spPr>
        <p:txBody>
          <a:bodyPr>
            <a:normAutofit fontScale="90000"/>
          </a:bodyPr>
          <a:lstStyle/>
          <a:p>
            <a:r>
              <a:rPr lang="en-PH" b="1" dirty="0"/>
              <a:t>Building Blocks of OOP</a:t>
            </a:r>
          </a:p>
        </p:txBody>
      </p:sp>
      <p:sp>
        <p:nvSpPr>
          <p:cNvPr id="4" name="Footer Placeholder 3">
            <a:extLst>
              <a:ext uri="{FF2B5EF4-FFF2-40B4-BE49-F238E27FC236}">
                <a16:creationId xmlns:a16="http://schemas.microsoft.com/office/drawing/2014/main" id="{EB6BEDB0-9ED9-253D-EA50-2018B9CB107D}"/>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2DD6EA89-C7B6-5418-82D1-47221A01E27A}"/>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1" i="0" dirty="0">
                <a:effectLst/>
                <a:latin typeface="Calibri (Body)"/>
              </a:rPr>
              <a:t>Object </a:t>
            </a:r>
            <a:r>
              <a:rPr lang="en-US" sz="2400" i="0" dirty="0">
                <a:effectLst/>
                <a:latin typeface="Calibri (Body)"/>
              </a:rPr>
              <a:t>has</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Set of data </a:t>
            </a:r>
            <a:r>
              <a:rPr kumimoji="0" lang="en-US" sz="2400" i="0" u="none" strike="noStrike" kern="1200" cap="none" spc="0" normalizeH="0" baseline="0" noProof="0" dirty="0">
                <a:ln>
                  <a:noFill/>
                </a:ln>
                <a:solidFill>
                  <a:srgbClr val="273239"/>
                </a:solidFill>
                <a:effectLst/>
                <a:uLnTx/>
                <a:uFillTx/>
                <a:latin typeface="Calibri (Body)"/>
                <a:ea typeface="+mn-ea"/>
                <a:cs typeface="+mn-cs"/>
              </a:rPr>
              <a:t>(value for each of its attribute)</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1" i="0" dirty="0">
                <a:effectLst/>
                <a:latin typeface="Calibri (Body)"/>
              </a:rPr>
              <a:t>Set of actions </a:t>
            </a:r>
            <a:r>
              <a:rPr lang="en-US" sz="2400" i="0" dirty="0">
                <a:effectLst/>
                <a:latin typeface="Calibri (Body)"/>
              </a:rPr>
              <a:t>that it can perform</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An identity</a:t>
            </a:r>
          </a:p>
          <a:p>
            <a:pPr marR="0" lvl="1" algn="l" defTabSz="914400" rtl="0" eaLnBrk="1" fontAlgn="auto" latinLnBrk="0" hangingPunct="1">
              <a:lnSpc>
                <a:spcPct val="100000"/>
              </a:lnSpc>
              <a:spcBef>
                <a:spcPts val="0"/>
              </a:spcBef>
              <a:spcAft>
                <a:spcPts val="0"/>
              </a:spcAft>
              <a:buClrTx/>
              <a:buSzTx/>
              <a:tabLst/>
              <a:defRPr/>
            </a:pPr>
            <a:endParaRPr lang="en-US" sz="2400" i="0" dirty="0">
              <a:effectLst/>
              <a:latin typeface="Calibri (Body)"/>
            </a:endParaRPr>
          </a:p>
          <a:p>
            <a:pPr marL="342900" indent="-342900" algn="l">
              <a:buFont typeface="Wingdings" panose="05000000000000000000" pitchFamily="2" charset="2"/>
              <a:buChar char="q"/>
            </a:pPr>
            <a:r>
              <a:rPr lang="en-US" sz="2400" b="1" i="0" dirty="0">
                <a:effectLst/>
                <a:latin typeface="Calibri (Body)"/>
              </a:rPr>
              <a:t>Class</a:t>
            </a:r>
            <a:r>
              <a:rPr lang="en-US" sz="2400" b="0" i="0" dirty="0">
                <a:effectLst/>
                <a:latin typeface="Calibri (Body)"/>
              </a:rPr>
              <a:t> has</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Set of attributes </a:t>
            </a:r>
            <a:r>
              <a:rPr kumimoji="0" lang="en-US" sz="2400" i="0" u="none" strike="noStrike" kern="1200" cap="none" spc="0" normalizeH="0" baseline="0" noProof="0" dirty="0">
                <a:ln>
                  <a:noFill/>
                </a:ln>
                <a:solidFill>
                  <a:srgbClr val="273239"/>
                </a:solidFill>
                <a:effectLst/>
                <a:uLnTx/>
                <a:uFillTx/>
                <a:latin typeface="Calibri (Body)"/>
                <a:ea typeface="+mn-ea"/>
                <a:cs typeface="+mn-cs"/>
              </a:rPr>
              <a:t>or properties that describes every object</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1" i="0" dirty="0">
                <a:effectLst/>
                <a:latin typeface="Calibri (Body)"/>
              </a:rPr>
              <a:t>Set of behavior </a:t>
            </a:r>
            <a:r>
              <a:rPr lang="en-US" sz="2400" i="0" dirty="0">
                <a:effectLst/>
                <a:latin typeface="Calibri (Body)"/>
              </a:rPr>
              <a:t>or actions that every object can perform</a:t>
            </a:r>
          </a:p>
        </p:txBody>
      </p:sp>
      <p:sp>
        <p:nvSpPr>
          <p:cNvPr id="3" name="Rectangle 1">
            <a:extLst>
              <a:ext uri="{FF2B5EF4-FFF2-40B4-BE49-F238E27FC236}">
                <a16:creationId xmlns:a16="http://schemas.microsoft.com/office/drawing/2014/main" id="{AC032028-8DAF-C5F2-8B75-C70380D916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1518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EAE84136-676E-1A34-84ED-5FBC61FBE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9E8D0-8356-0D1F-06A6-E163BB44784A}"/>
              </a:ext>
            </a:extLst>
          </p:cNvPr>
          <p:cNvSpPr>
            <a:spLocks noGrp="1"/>
          </p:cNvSpPr>
          <p:nvPr>
            <p:ph type="ctrTitle"/>
          </p:nvPr>
        </p:nvSpPr>
        <p:spPr>
          <a:xfrm>
            <a:off x="1524000" y="497150"/>
            <a:ext cx="9144000" cy="718459"/>
          </a:xfrm>
        </p:spPr>
        <p:txBody>
          <a:bodyPr>
            <a:normAutofit fontScale="90000"/>
          </a:bodyPr>
          <a:lstStyle/>
          <a:p>
            <a:r>
              <a:rPr lang="en-PH" b="1" dirty="0"/>
              <a:t>What is OOP?</a:t>
            </a:r>
          </a:p>
        </p:txBody>
      </p:sp>
      <p:sp>
        <p:nvSpPr>
          <p:cNvPr id="4" name="Footer Placeholder 3">
            <a:extLst>
              <a:ext uri="{FF2B5EF4-FFF2-40B4-BE49-F238E27FC236}">
                <a16:creationId xmlns:a16="http://schemas.microsoft.com/office/drawing/2014/main" id="{93968865-43A0-AC1D-37B3-3EE136E37510}"/>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CE37B661-CC7E-8FC1-78B3-6C4F97539335}"/>
              </a:ext>
            </a:extLst>
          </p:cNvPr>
          <p:cNvSpPr txBox="1">
            <a:spLocks/>
          </p:cNvSpPr>
          <p:nvPr/>
        </p:nvSpPr>
        <p:spPr>
          <a:xfrm>
            <a:off x="1524000" y="1283707"/>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0" i="0" dirty="0">
                <a:effectLst/>
                <a:latin typeface="Calibri (Body)"/>
              </a:rPr>
              <a:t>Paradigm for problem solving by interaction among objects</a:t>
            </a:r>
          </a:p>
          <a:p>
            <a:pPr marL="342900" indent="-342900" algn="l">
              <a:buFont typeface="Wingdings" panose="05000000000000000000" pitchFamily="2" charset="2"/>
              <a:buChar char="q"/>
            </a:pPr>
            <a:endParaRPr lang="en-US" sz="2400" dirty="0">
              <a:latin typeface="Calibri (Body)"/>
            </a:endParaRPr>
          </a:p>
          <a:p>
            <a:pPr marL="342900" indent="-342900" algn="l">
              <a:buFont typeface="Wingdings" panose="05000000000000000000" pitchFamily="2" charset="2"/>
              <a:buChar char="q"/>
            </a:pPr>
            <a:endParaRPr lang="en-US" sz="2400" b="0" i="0" dirty="0">
              <a:effectLst/>
              <a:latin typeface="Calibri (Body)"/>
            </a:endParaRPr>
          </a:p>
          <a:p>
            <a:pPr marL="342900" indent="-342900" algn="l">
              <a:buFont typeface="Wingdings" panose="05000000000000000000" pitchFamily="2" charset="2"/>
              <a:buChar char="q"/>
            </a:pPr>
            <a:r>
              <a:rPr lang="en-US" sz="2400" b="0" i="0" dirty="0">
                <a:effectLst/>
                <a:latin typeface="Calibri (Body)"/>
              </a:rPr>
              <a:t>It follows a natural way of solving problems</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srgbClr val="273239"/>
                </a:solidFill>
                <a:effectLst/>
                <a:uLnTx/>
                <a:uFillTx/>
                <a:latin typeface="Calibri (Body)"/>
                <a:ea typeface="+mn-ea"/>
                <a:cs typeface="+mn-cs"/>
              </a:rPr>
              <a:t>EX. Roberto wants to start his truck. </a:t>
            </a:r>
          </a:p>
          <a:p>
            <a:pPr marL="914400" lvl="1" indent="-457200">
              <a:buAutoNum type="arabicPeriod"/>
            </a:pPr>
            <a:r>
              <a:rPr lang="en-US" sz="2400" dirty="0">
                <a:solidFill>
                  <a:srgbClr val="273239"/>
                </a:solidFill>
                <a:latin typeface="Calibri (Body)"/>
              </a:rPr>
              <a:t>Roberto walks to his truck</a:t>
            </a:r>
          </a:p>
          <a:p>
            <a:pPr marL="914400" lvl="1" indent="-457200">
              <a:buAutoNum type="arabicPeriod"/>
            </a:pPr>
            <a:r>
              <a:rPr lang="en-US" sz="2400" b="0" i="0" dirty="0">
                <a:solidFill>
                  <a:srgbClr val="273239"/>
                </a:solidFill>
                <a:effectLst/>
                <a:latin typeface="Calibri (Body)"/>
              </a:rPr>
              <a:t>Roberto turn</a:t>
            </a:r>
            <a:r>
              <a:rPr lang="en-US" sz="2400" dirty="0">
                <a:solidFill>
                  <a:srgbClr val="273239"/>
                </a:solidFill>
                <a:latin typeface="Calibri (Body)"/>
              </a:rPr>
              <a:t> his truck on by ignition</a:t>
            </a:r>
          </a:p>
          <a:p>
            <a:pPr marL="914400" lvl="1" indent="-457200">
              <a:buAutoNum type="arabicPeriod"/>
            </a:pPr>
            <a:r>
              <a:rPr lang="en-US" sz="2400" b="0" i="0" dirty="0">
                <a:solidFill>
                  <a:srgbClr val="273239"/>
                </a:solidFill>
                <a:effectLst/>
                <a:latin typeface="Calibri (Body)"/>
              </a:rPr>
              <a:t>The truck starts</a:t>
            </a:r>
          </a:p>
          <a:p>
            <a:pPr marL="914400" lvl="1" indent="-457200">
              <a:buAutoNum type="arabicPeriod"/>
            </a:pPr>
            <a:endParaRPr lang="en-US" sz="2400" dirty="0">
              <a:solidFill>
                <a:srgbClr val="273239"/>
              </a:solidFill>
              <a:latin typeface="Calibri (Body)"/>
            </a:endParaRPr>
          </a:p>
          <a:p>
            <a:pPr marL="914400" lvl="1" indent="-457200">
              <a:buAutoNum type="arabicPeriod"/>
            </a:pPr>
            <a:endParaRPr lang="en-US" sz="2400" b="0" i="0" dirty="0">
              <a:solidFill>
                <a:srgbClr val="273239"/>
              </a:solidFill>
              <a:effectLst/>
              <a:latin typeface="Calibri (Body)"/>
            </a:endParaRPr>
          </a:p>
          <a:p>
            <a:pPr marL="914400" lvl="1" indent="-457200">
              <a:buAutoNum type="arabicPeriod"/>
            </a:pPr>
            <a:endParaRPr lang="en-US" sz="2400" b="0" i="0" dirty="0">
              <a:solidFill>
                <a:srgbClr val="273239"/>
              </a:solidFill>
              <a:effectLst/>
              <a:latin typeface="Calibri (Body)"/>
            </a:endParaRPr>
          </a:p>
          <a:p>
            <a:pPr marL="800100" lvl="1" indent="-342900">
              <a:buFont typeface="Wingdings" panose="05000000000000000000" pitchFamily="2" charset="2"/>
              <a:buChar char="q"/>
            </a:pPr>
            <a:endParaRPr lang="en-US" sz="2400" b="0" i="0" dirty="0">
              <a:solidFill>
                <a:srgbClr val="273239"/>
              </a:solidFill>
              <a:effectLst/>
              <a:latin typeface="Calibri (Body)"/>
            </a:endParaRPr>
          </a:p>
          <a:p>
            <a:pPr algn="l"/>
            <a:endParaRPr lang="en-US" sz="2400" b="0" i="0" dirty="0">
              <a:effectLst/>
              <a:latin typeface="Calibri (Body)"/>
            </a:endParaRPr>
          </a:p>
          <a:p>
            <a:pPr algn="l"/>
            <a:endParaRPr lang="en-US" sz="2400" b="0" i="0" dirty="0">
              <a:effectLst/>
              <a:latin typeface="Calibri (Body)"/>
            </a:endParaRPr>
          </a:p>
          <a:p>
            <a:pPr algn="l"/>
            <a:br>
              <a:rPr lang="en-US" sz="2400" dirty="0">
                <a:latin typeface="Calibri (Body)"/>
              </a:rPr>
            </a:br>
            <a:endParaRPr lang="en-US" sz="2400" b="0" i="0" dirty="0">
              <a:solidFill>
                <a:srgbClr val="000000"/>
              </a:solidFill>
              <a:effectLst/>
              <a:latin typeface="Calibri (Body)"/>
            </a:endParaRPr>
          </a:p>
        </p:txBody>
      </p:sp>
      <p:sp>
        <p:nvSpPr>
          <p:cNvPr id="3" name="Rectangle 1">
            <a:extLst>
              <a:ext uri="{FF2B5EF4-FFF2-40B4-BE49-F238E27FC236}">
                <a16:creationId xmlns:a16="http://schemas.microsoft.com/office/drawing/2014/main" id="{2BD01D31-F7D4-0081-C869-B0234B9817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2037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64022E0F-2016-114D-EB17-F26DF96CF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89CA7-F7D6-FD31-0C64-2F1C2DD74421}"/>
              </a:ext>
            </a:extLst>
          </p:cNvPr>
          <p:cNvSpPr>
            <a:spLocks noGrp="1"/>
          </p:cNvSpPr>
          <p:nvPr>
            <p:ph type="ctrTitle"/>
          </p:nvPr>
        </p:nvSpPr>
        <p:spPr>
          <a:xfrm>
            <a:off x="1524000" y="497150"/>
            <a:ext cx="9144000" cy="718459"/>
          </a:xfrm>
        </p:spPr>
        <p:txBody>
          <a:bodyPr>
            <a:normAutofit fontScale="90000"/>
          </a:bodyPr>
          <a:lstStyle/>
          <a:p>
            <a:r>
              <a:rPr lang="en-US" b="1" dirty="0"/>
              <a:t>En</a:t>
            </a:r>
            <a:r>
              <a:rPr lang="en-PH" b="1" dirty="0"/>
              <a:t>capsulation</a:t>
            </a:r>
          </a:p>
        </p:txBody>
      </p:sp>
      <p:sp>
        <p:nvSpPr>
          <p:cNvPr id="4" name="Footer Placeholder 3">
            <a:extLst>
              <a:ext uri="{FF2B5EF4-FFF2-40B4-BE49-F238E27FC236}">
                <a16:creationId xmlns:a16="http://schemas.microsoft.com/office/drawing/2014/main" id="{B5460214-BA01-4546-8EC5-E575740F7B9F}"/>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C2D24EC2-B89D-C104-6C3A-B387DA08B7CB}"/>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i="0" dirty="0">
                <a:effectLst/>
                <a:latin typeface="Calibri (Body)"/>
              </a:rPr>
              <a:t>refers to the </a:t>
            </a:r>
            <a:r>
              <a:rPr lang="en-US" sz="2400" b="1" i="0" dirty="0">
                <a:effectLst/>
                <a:latin typeface="Calibri (Body)"/>
              </a:rPr>
              <a:t>bundling</a:t>
            </a:r>
            <a:r>
              <a:rPr lang="en-US" sz="2400" i="0" dirty="0">
                <a:effectLst/>
                <a:latin typeface="Calibri (Body)"/>
              </a:rPr>
              <a:t> of data (attributes) and methods (behaviors) that </a:t>
            </a:r>
            <a:r>
              <a:rPr lang="en-US" sz="2400" b="1" i="0" dirty="0">
                <a:effectLst/>
                <a:latin typeface="Calibri (Body)"/>
              </a:rPr>
              <a:t>operate</a:t>
            </a:r>
            <a:r>
              <a:rPr lang="en-US" sz="2400" i="0" dirty="0">
                <a:effectLst/>
                <a:latin typeface="Calibri (Body)"/>
              </a:rPr>
              <a:t> on the data into a single unit, i.e., a class. This helps in data </a:t>
            </a:r>
            <a:r>
              <a:rPr lang="en-US" sz="2400" b="1" i="0" dirty="0">
                <a:effectLst/>
                <a:latin typeface="Calibri (Body)"/>
              </a:rPr>
              <a:t>hiding</a:t>
            </a:r>
            <a:r>
              <a:rPr lang="en-US" sz="2400" i="0" dirty="0">
                <a:effectLst/>
                <a:latin typeface="Calibri (Body)"/>
              </a:rPr>
              <a:t> and prevents direct access to the internal state of an object from outside the class. </a:t>
            </a:r>
          </a:p>
          <a:p>
            <a:pPr marR="0" lvl="1" algn="l" defTabSz="914400" rtl="0" eaLnBrk="1" fontAlgn="auto" latinLnBrk="0" hangingPunct="1">
              <a:lnSpc>
                <a:spcPct val="100000"/>
              </a:lnSpc>
              <a:spcBef>
                <a:spcPts val="0"/>
              </a:spcBef>
              <a:spcAft>
                <a:spcPts val="0"/>
              </a:spcAft>
              <a:buClrTx/>
              <a:buSzTx/>
              <a:tabLst/>
              <a:defRPr/>
            </a:pPr>
            <a:endParaRPr lang="en-US" sz="2400" i="0" dirty="0">
              <a:effectLst/>
              <a:latin typeface="Calibri (Body)"/>
            </a:endParaRPr>
          </a:p>
          <a:p>
            <a:pPr marL="342900" indent="-342900" algn="l">
              <a:buFont typeface="Wingdings" panose="05000000000000000000" pitchFamily="2" charset="2"/>
              <a:buChar char="q"/>
            </a:pPr>
            <a:r>
              <a:rPr lang="en-US" sz="2400" i="0" dirty="0">
                <a:effectLst/>
                <a:latin typeface="Calibri (Body)"/>
              </a:rPr>
              <a:t>Mechanism by which we </a:t>
            </a:r>
            <a:r>
              <a:rPr lang="en-US" sz="2400" b="1" i="0" dirty="0">
                <a:effectLst/>
                <a:latin typeface="Calibri (Body)"/>
              </a:rPr>
              <a:t>combine</a:t>
            </a:r>
            <a:r>
              <a:rPr lang="en-US" sz="2400" i="0" dirty="0">
                <a:effectLst/>
                <a:latin typeface="Calibri (Body)"/>
              </a:rPr>
              <a:t> data and the functions that </a:t>
            </a:r>
            <a:r>
              <a:rPr lang="en-US" sz="2400" b="1" i="0" dirty="0">
                <a:effectLst/>
                <a:latin typeface="Calibri (Body)"/>
              </a:rPr>
              <a:t>manipulate</a:t>
            </a:r>
            <a:r>
              <a:rPr lang="en-US" sz="2400" i="0" dirty="0">
                <a:effectLst/>
                <a:latin typeface="Calibri (Body)"/>
              </a:rPr>
              <a:t> the data into </a:t>
            </a:r>
            <a:r>
              <a:rPr lang="en-US" sz="2400" b="1" i="0" dirty="0">
                <a:effectLst/>
                <a:latin typeface="Calibri (Body)"/>
              </a:rPr>
              <a:t>one unit</a:t>
            </a:r>
          </a:p>
        </p:txBody>
      </p:sp>
      <p:sp>
        <p:nvSpPr>
          <p:cNvPr id="3" name="Rectangle 1">
            <a:extLst>
              <a:ext uri="{FF2B5EF4-FFF2-40B4-BE49-F238E27FC236}">
                <a16:creationId xmlns:a16="http://schemas.microsoft.com/office/drawing/2014/main" id="{CAFDE333-02CA-5F28-5FB1-CBE69C5AA3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6291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27DAED84-590C-E9C0-A927-F5A498F85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F6CF1-D20F-8C3E-37ED-37CFB3ACE6CA}"/>
              </a:ext>
            </a:extLst>
          </p:cNvPr>
          <p:cNvSpPr>
            <a:spLocks noGrp="1"/>
          </p:cNvSpPr>
          <p:nvPr>
            <p:ph type="ctrTitle"/>
          </p:nvPr>
        </p:nvSpPr>
        <p:spPr>
          <a:xfrm>
            <a:off x="1524000" y="497150"/>
            <a:ext cx="9144000" cy="718459"/>
          </a:xfrm>
        </p:spPr>
        <p:txBody>
          <a:bodyPr>
            <a:normAutofit fontScale="90000"/>
          </a:bodyPr>
          <a:lstStyle/>
          <a:p>
            <a:r>
              <a:rPr lang="en-US" b="1" dirty="0"/>
              <a:t>Inheritance</a:t>
            </a:r>
            <a:endParaRPr lang="en-PH" b="1" dirty="0"/>
          </a:p>
        </p:txBody>
      </p:sp>
      <p:sp>
        <p:nvSpPr>
          <p:cNvPr id="4" name="Footer Placeholder 3">
            <a:extLst>
              <a:ext uri="{FF2B5EF4-FFF2-40B4-BE49-F238E27FC236}">
                <a16:creationId xmlns:a16="http://schemas.microsoft.com/office/drawing/2014/main" id="{B1742218-7598-A0D5-8B33-58293175EFCF}"/>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B64BA88E-D045-D818-187B-C90427A3413B}"/>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i="0" dirty="0">
                <a:effectLst/>
                <a:latin typeface="Calibri (Body)"/>
              </a:rPr>
              <a:t>a mechanism that allows a class (subclass or derived class) to </a:t>
            </a:r>
            <a:r>
              <a:rPr lang="en-US" sz="2400" b="1" i="0" dirty="0">
                <a:effectLst/>
                <a:latin typeface="Calibri (Body)"/>
              </a:rPr>
              <a:t>inherit</a:t>
            </a:r>
            <a:r>
              <a:rPr lang="en-US" sz="2400" i="0" dirty="0">
                <a:effectLst/>
                <a:latin typeface="Calibri (Body)"/>
              </a:rPr>
              <a:t> properties and behaviors from another class (superclass or base class). This promotes code </a:t>
            </a:r>
            <a:r>
              <a:rPr lang="en-US" sz="2400" b="1" i="0" dirty="0">
                <a:effectLst/>
                <a:latin typeface="Calibri (Body)"/>
              </a:rPr>
              <a:t>reuse</a:t>
            </a:r>
            <a:r>
              <a:rPr lang="en-US" sz="2400" i="0" dirty="0">
                <a:effectLst/>
                <a:latin typeface="Calibri (Body)"/>
              </a:rPr>
              <a:t> and helps in creating a hierarchy of classes. </a:t>
            </a:r>
          </a:p>
          <a:p>
            <a:pPr marR="0" lvl="1" algn="l" defTabSz="914400" rtl="0" eaLnBrk="1" fontAlgn="auto" latinLnBrk="0" hangingPunct="1">
              <a:lnSpc>
                <a:spcPct val="100000"/>
              </a:lnSpc>
              <a:spcBef>
                <a:spcPts val="0"/>
              </a:spcBef>
              <a:spcAft>
                <a:spcPts val="0"/>
              </a:spcAft>
              <a:buClrTx/>
              <a:buSzTx/>
              <a:tabLst/>
              <a:defRPr/>
            </a:pPr>
            <a:endParaRPr lang="en-US" sz="2400" i="0" dirty="0">
              <a:effectLst/>
              <a:latin typeface="Calibri (Body)"/>
            </a:endParaRPr>
          </a:p>
        </p:txBody>
      </p:sp>
      <p:sp>
        <p:nvSpPr>
          <p:cNvPr id="3" name="Rectangle 1">
            <a:extLst>
              <a:ext uri="{FF2B5EF4-FFF2-40B4-BE49-F238E27FC236}">
                <a16:creationId xmlns:a16="http://schemas.microsoft.com/office/drawing/2014/main" id="{F11250C9-EB7D-8F90-B06F-4D316C8342D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2751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49634607-0276-A9DE-CFAC-74AC290CB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FD43C-B008-4458-CCFC-50E9EF0B8AA1}"/>
              </a:ext>
            </a:extLst>
          </p:cNvPr>
          <p:cNvSpPr>
            <a:spLocks noGrp="1"/>
          </p:cNvSpPr>
          <p:nvPr>
            <p:ph type="ctrTitle"/>
          </p:nvPr>
        </p:nvSpPr>
        <p:spPr>
          <a:xfrm>
            <a:off x="1524000" y="497150"/>
            <a:ext cx="9144000" cy="718459"/>
          </a:xfrm>
        </p:spPr>
        <p:txBody>
          <a:bodyPr>
            <a:normAutofit fontScale="90000"/>
          </a:bodyPr>
          <a:lstStyle/>
          <a:p>
            <a:r>
              <a:rPr lang="en-US" b="1" dirty="0"/>
              <a:t>Polymorphism</a:t>
            </a:r>
            <a:endParaRPr lang="en-PH" b="1" dirty="0"/>
          </a:p>
        </p:txBody>
      </p:sp>
      <p:sp>
        <p:nvSpPr>
          <p:cNvPr id="4" name="Footer Placeholder 3">
            <a:extLst>
              <a:ext uri="{FF2B5EF4-FFF2-40B4-BE49-F238E27FC236}">
                <a16:creationId xmlns:a16="http://schemas.microsoft.com/office/drawing/2014/main" id="{315596B9-2944-9A5F-5A02-3EE991D2C3A4}"/>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6D7EC8D9-FCE2-9E0B-14B0-9E19C719B6B7}"/>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i="0" dirty="0">
                <a:effectLst/>
                <a:latin typeface="Calibri (Body)"/>
              </a:rPr>
              <a:t>allows objects of different classes to be </a:t>
            </a:r>
            <a:r>
              <a:rPr lang="en-US" sz="2400" b="1" i="0" dirty="0">
                <a:effectLst/>
                <a:latin typeface="Calibri (Body)"/>
              </a:rPr>
              <a:t>treated</a:t>
            </a:r>
            <a:r>
              <a:rPr lang="en-US" sz="2400" i="0" dirty="0">
                <a:effectLst/>
                <a:latin typeface="Calibri (Body)"/>
              </a:rPr>
              <a:t> as objects of a </a:t>
            </a:r>
            <a:r>
              <a:rPr lang="en-US" sz="2400" b="1" i="0" dirty="0">
                <a:effectLst/>
                <a:latin typeface="Calibri (Body)"/>
              </a:rPr>
              <a:t>common</a:t>
            </a:r>
            <a:r>
              <a:rPr lang="en-US" sz="2400" i="0" dirty="0">
                <a:effectLst/>
                <a:latin typeface="Calibri (Body)"/>
              </a:rPr>
              <a:t> superclass. It enables </a:t>
            </a:r>
            <a:r>
              <a:rPr lang="en-US" sz="2400" b="1" i="0" dirty="0">
                <a:effectLst/>
                <a:latin typeface="Calibri (Body)"/>
              </a:rPr>
              <a:t>flexibility</a:t>
            </a:r>
            <a:r>
              <a:rPr lang="en-US" sz="2400" i="0" dirty="0">
                <a:effectLst/>
                <a:latin typeface="Calibri (Body)"/>
              </a:rPr>
              <a:t> in programming by allowing the </a:t>
            </a:r>
            <a:r>
              <a:rPr lang="en-US" sz="2400" b="1" i="0" dirty="0">
                <a:effectLst/>
                <a:latin typeface="Calibri (Body)"/>
              </a:rPr>
              <a:t>same</a:t>
            </a:r>
            <a:r>
              <a:rPr lang="en-US" sz="2400" i="0" dirty="0">
                <a:effectLst/>
                <a:latin typeface="Calibri (Body)"/>
              </a:rPr>
              <a:t> method to have </a:t>
            </a:r>
            <a:r>
              <a:rPr lang="en-US" sz="2400" b="1" i="0" dirty="0">
                <a:effectLst/>
                <a:latin typeface="Calibri (Body)"/>
              </a:rPr>
              <a:t>different</a:t>
            </a:r>
            <a:r>
              <a:rPr lang="en-US" sz="2400" i="0" dirty="0">
                <a:effectLst/>
                <a:latin typeface="Calibri (Body)"/>
              </a:rPr>
              <a:t> implementations in different classes.</a:t>
            </a:r>
          </a:p>
          <a:p>
            <a:pPr marL="342900" indent="-342900" algn="l">
              <a:buFont typeface="Wingdings" panose="05000000000000000000" pitchFamily="2" charset="2"/>
              <a:buChar char="q"/>
            </a:pPr>
            <a:endParaRPr lang="en-US" sz="2400" dirty="0">
              <a:latin typeface="Calibri (Body)"/>
            </a:endParaRPr>
          </a:p>
          <a:p>
            <a:pPr marL="342900" indent="-342900" algn="l">
              <a:buFont typeface="Wingdings" panose="05000000000000000000" pitchFamily="2" charset="2"/>
              <a:buChar char="q"/>
            </a:pPr>
            <a:endParaRPr lang="en-US" sz="2400" i="0" dirty="0">
              <a:effectLst/>
              <a:latin typeface="Calibri (Body)"/>
            </a:endParaRPr>
          </a:p>
          <a:p>
            <a:pPr marR="0" lvl="1" algn="l" defTabSz="914400" rtl="0" eaLnBrk="1" fontAlgn="auto" latinLnBrk="0" hangingPunct="1">
              <a:lnSpc>
                <a:spcPct val="100000"/>
              </a:lnSpc>
              <a:spcBef>
                <a:spcPts val="0"/>
              </a:spcBef>
              <a:spcAft>
                <a:spcPts val="0"/>
              </a:spcAft>
              <a:buClrTx/>
              <a:buSzTx/>
              <a:tabLst/>
              <a:defRPr/>
            </a:pPr>
            <a:endParaRPr lang="en-US" sz="2400" i="0" dirty="0">
              <a:effectLst/>
              <a:latin typeface="Calibri (Body)"/>
            </a:endParaRPr>
          </a:p>
        </p:txBody>
      </p:sp>
      <p:sp>
        <p:nvSpPr>
          <p:cNvPr id="3" name="Rectangle 1">
            <a:extLst>
              <a:ext uri="{FF2B5EF4-FFF2-40B4-BE49-F238E27FC236}">
                <a16:creationId xmlns:a16="http://schemas.microsoft.com/office/drawing/2014/main" id="{D2FBB0E8-8031-45E7-5BF7-E5E35E8E1DA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9567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C159E0C7-B598-BB04-02F7-FB6EE877E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09DC9-BE1B-9597-748C-B9FB80B6C218}"/>
              </a:ext>
            </a:extLst>
          </p:cNvPr>
          <p:cNvSpPr>
            <a:spLocks noGrp="1"/>
          </p:cNvSpPr>
          <p:nvPr>
            <p:ph type="ctrTitle"/>
          </p:nvPr>
        </p:nvSpPr>
        <p:spPr>
          <a:xfrm>
            <a:off x="1524000" y="497150"/>
            <a:ext cx="9144000" cy="718459"/>
          </a:xfrm>
        </p:spPr>
        <p:txBody>
          <a:bodyPr>
            <a:normAutofit fontScale="90000"/>
          </a:bodyPr>
          <a:lstStyle/>
          <a:p>
            <a:r>
              <a:rPr lang="en-US" b="1" dirty="0"/>
              <a:t>Abstraction</a:t>
            </a:r>
            <a:endParaRPr lang="en-PH" b="1" dirty="0"/>
          </a:p>
        </p:txBody>
      </p:sp>
      <p:sp>
        <p:nvSpPr>
          <p:cNvPr id="4" name="Footer Placeholder 3">
            <a:extLst>
              <a:ext uri="{FF2B5EF4-FFF2-40B4-BE49-F238E27FC236}">
                <a16:creationId xmlns:a16="http://schemas.microsoft.com/office/drawing/2014/main" id="{6F76CB23-777A-854C-C283-9637517613C1}"/>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0AEA0C5F-5DB3-5808-9902-E86661FBF462}"/>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i="0" dirty="0">
                <a:effectLst/>
                <a:latin typeface="Calibri (Body)"/>
              </a:rPr>
              <a:t>the concept of </a:t>
            </a:r>
            <a:r>
              <a:rPr lang="en-US" sz="2400" b="1" i="0" dirty="0">
                <a:effectLst/>
                <a:latin typeface="Calibri (Body)"/>
              </a:rPr>
              <a:t>hiding</a:t>
            </a:r>
            <a:r>
              <a:rPr lang="en-US" sz="2400" i="0" dirty="0">
                <a:effectLst/>
                <a:latin typeface="Calibri (Body)"/>
              </a:rPr>
              <a:t> complex implementation details and </a:t>
            </a:r>
            <a:r>
              <a:rPr lang="en-US" sz="2400" b="1" i="0" dirty="0">
                <a:effectLst/>
                <a:latin typeface="Calibri (Body)"/>
              </a:rPr>
              <a:t>showing</a:t>
            </a:r>
            <a:r>
              <a:rPr lang="en-US" sz="2400" i="0" dirty="0">
                <a:effectLst/>
                <a:latin typeface="Calibri (Body)"/>
              </a:rPr>
              <a:t> only the essential features of an object.</a:t>
            </a:r>
          </a:p>
          <a:p>
            <a:pPr marL="342900" indent="-342900" algn="l">
              <a:buFont typeface="Wingdings" panose="05000000000000000000" pitchFamily="2" charset="2"/>
              <a:buChar char="q"/>
            </a:pPr>
            <a:endParaRPr lang="en-US" sz="2400" dirty="0">
              <a:latin typeface="Calibri (Body)"/>
            </a:endParaRPr>
          </a:p>
          <a:p>
            <a:pPr marL="342900" indent="-342900" algn="l">
              <a:buFont typeface="Wingdings" panose="05000000000000000000" pitchFamily="2" charset="2"/>
              <a:buChar char="q"/>
            </a:pPr>
            <a:r>
              <a:rPr lang="en-US" sz="2400" b="1" i="0" dirty="0">
                <a:effectLst/>
                <a:latin typeface="Calibri (Body)"/>
              </a:rPr>
              <a:t>Extracting</a:t>
            </a:r>
            <a:r>
              <a:rPr lang="en-US" sz="2400" i="0" dirty="0">
                <a:effectLst/>
                <a:latin typeface="Calibri (Body)"/>
              </a:rPr>
              <a:t> essential properties and behavior of an entity</a:t>
            </a:r>
          </a:p>
          <a:p>
            <a:pPr marL="342900" indent="-342900" algn="l">
              <a:buFont typeface="Wingdings" panose="05000000000000000000" pitchFamily="2" charset="2"/>
              <a:buChar char="q"/>
            </a:pPr>
            <a:endParaRPr lang="en-US" sz="2400" i="0" dirty="0">
              <a:effectLst/>
              <a:latin typeface="Calibri (Body)"/>
            </a:endParaRPr>
          </a:p>
          <a:p>
            <a:pPr marL="342900" indent="-342900" algn="l">
              <a:buFont typeface="Wingdings" panose="05000000000000000000" pitchFamily="2" charset="2"/>
              <a:buChar char="q"/>
            </a:pPr>
            <a:r>
              <a:rPr lang="en-US" sz="2400" i="0" dirty="0">
                <a:effectLst/>
                <a:latin typeface="Calibri (Body)"/>
              </a:rPr>
              <a:t>Class represents such an abstraction and is commonly referred to as an </a:t>
            </a:r>
            <a:r>
              <a:rPr lang="en-US" sz="2400" b="1" i="0" dirty="0">
                <a:effectLst/>
                <a:latin typeface="Calibri (Body)"/>
              </a:rPr>
              <a:t>abstract data type</a:t>
            </a:r>
          </a:p>
        </p:txBody>
      </p:sp>
      <p:sp>
        <p:nvSpPr>
          <p:cNvPr id="3" name="Rectangle 1">
            <a:extLst>
              <a:ext uri="{FF2B5EF4-FFF2-40B4-BE49-F238E27FC236}">
                <a16:creationId xmlns:a16="http://schemas.microsoft.com/office/drawing/2014/main" id="{031BD894-EACF-FCA4-5F94-8BB008B0B68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7658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9E6A0CEC-A6A9-553A-2132-ABEE63872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34A33-4366-EA93-A194-A032E4E58A0E}"/>
              </a:ext>
            </a:extLst>
          </p:cNvPr>
          <p:cNvSpPr>
            <a:spLocks noGrp="1"/>
          </p:cNvSpPr>
          <p:nvPr>
            <p:ph type="ctrTitle"/>
          </p:nvPr>
        </p:nvSpPr>
        <p:spPr>
          <a:xfrm>
            <a:off x="1524000" y="2710541"/>
            <a:ext cx="9144000" cy="718459"/>
          </a:xfrm>
        </p:spPr>
        <p:txBody>
          <a:bodyPr>
            <a:normAutofit fontScale="90000"/>
          </a:bodyPr>
          <a:lstStyle/>
          <a:p>
            <a:r>
              <a:rPr lang="en-US" b="1" dirty="0"/>
              <a:t>Pros vs Cons</a:t>
            </a:r>
            <a:endParaRPr lang="en-PH" b="1" dirty="0"/>
          </a:p>
        </p:txBody>
      </p:sp>
      <p:sp>
        <p:nvSpPr>
          <p:cNvPr id="4" name="Footer Placeholder 3">
            <a:extLst>
              <a:ext uri="{FF2B5EF4-FFF2-40B4-BE49-F238E27FC236}">
                <a16:creationId xmlns:a16="http://schemas.microsoft.com/office/drawing/2014/main" id="{384547A9-DB10-C5BB-D995-A852F4A0924F}"/>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3" name="Rectangle 1">
            <a:extLst>
              <a:ext uri="{FF2B5EF4-FFF2-40B4-BE49-F238E27FC236}">
                <a16:creationId xmlns:a16="http://schemas.microsoft.com/office/drawing/2014/main" id="{D486FF5B-00A4-C67E-0FEF-1557FEE2B8B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5473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AF2BE4F7-C4A9-3CFE-5071-B0C3133EC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4CDE1-49CC-4CF5-83BF-71CA51CAAB3E}"/>
              </a:ext>
            </a:extLst>
          </p:cNvPr>
          <p:cNvSpPr>
            <a:spLocks noGrp="1"/>
          </p:cNvSpPr>
          <p:nvPr>
            <p:ph type="ctrTitle"/>
          </p:nvPr>
        </p:nvSpPr>
        <p:spPr>
          <a:xfrm>
            <a:off x="1524000" y="497150"/>
            <a:ext cx="9144000" cy="718459"/>
          </a:xfrm>
        </p:spPr>
        <p:txBody>
          <a:bodyPr>
            <a:normAutofit fontScale="90000"/>
          </a:bodyPr>
          <a:lstStyle/>
          <a:p>
            <a:r>
              <a:rPr lang="en-US" b="1" dirty="0"/>
              <a:t>Cons</a:t>
            </a:r>
            <a:endParaRPr lang="en-PH" b="1" dirty="0"/>
          </a:p>
        </p:txBody>
      </p:sp>
      <p:sp>
        <p:nvSpPr>
          <p:cNvPr id="4" name="Footer Placeholder 3">
            <a:extLst>
              <a:ext uri="{FF2B5EF4-FFF2-40B4-BE49-F238E27FC236}">
                <a16:creationId xmlns:a16="http://schemas.microsoft.com/office/drawing/2014/main" id="{465673BD-7255-C8FD-9D7A-04B786DA235E}"/>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CD15B609-40F6-AFC5-C136-E2540B873FE7}"/>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1" i="0" dirty="0">
                <a:effectLst/>
                <a:latin typeface="Calibri (Body)"/>
              </a:rPr>
              <a:t>Steeper</a:t>
            </a:r>
            <a:r>
              <a:rPr lang="en-US" sz="2400" i="0" dirty="0">
                <a:effectLst/>
                <a:latin typeface="Calibri (Body)"/>
              </a:rPr>
              <a:t> </a:t>
            </a:r>
            <a:r>
              <a:rPr lang="en-US" sz="2400" b="1" i="0" dirty="0">
                <a:effectLst/>
                <a:latin typeface="Calibri (Body)"/>
              </a:rPr>
              <a:t>Learning Curve</a:t>
            </a:r>
            <a:r>
              <a:rPr lang="en-US" sz="2400" i="0" dirty="0">
                <a:effectLst/>
                <a:latin typeface="Calibri (Body)"/>
              </a:rPr>
              <a:t>: OOP can have a steeper learning curve compared to procedural programming. Concepts like classes, objects, inheritance, and polymorphism require a deeper understanding.</a:t>
            </a:r>
          </a:p>
          <a:p>
            <a:pPr marL="342900" indent="-342900" algn="l">
              <a:buFont typeface="Wingdings" panose="05000000000000000000" pitchFamily="2" charset="2"/>
              <a:buChar char="q"/>
            </a:pPr>
            <a:endParaRPr lang="en-US" sz="2400" dirty="0">
              <a:latin typeface="Calibri (Body)"/>
            </a:endParaRPr>
          </a:p>
          <a:p>
            <a:pPr marL="342900" indent="-342900" algn="l">
              <a:buFont typeface="Wingdings" panose="05000000000000000000" pitchFamily="2" charset="2"/>
              <a:buChar char="q"/>
            </a:pPr>
            <a:endParaRPr lang="en-US" sz="2400" i="0" dirty="0">
              <a:effectLst/>
              <a:latin typeface="Calibri (Body)"/>
            </a:endParaRPr>
          </a:p>
          <a:p>
            <a:pPr marL="342900" indent="-342900" algn="l">
              <a:buFont typeface="Wingdings" panose="05000000000000000000" pitchFamily="2" charset="2"/>
              <a:buChar char="q"/>
            </a:pPr>
            <a:r>
              <a:rPr lang="en-US" sz="2400" b="1" i="0" dirty="0">
                <a:effectLst/>
                <a:latin typeface="Calibri (Body)"/>
              </a:rPr>
              <a:t>Overhead</a:t>
            </a:r>
            <a:r>
              <a:rPr lang="en-US" sz="2400" i="0" dirty="0">
                <a:effectLst/>
                <a:latin typeface="Calibri (Body)"/>
              </a:rPr>
              <a:t>: OOP introduces some overhead due to the additional abstraction layers with classes and objects. This can potentially impact performance in very resource-constrained environments.</a:t>
            </a:r>
          </a:p>
        </p:txBody>
      </p:sp>
      <p:sp>
        <p:nvSpPr>
          <p:cNvPr id="3" name="Rectangle 1">
            <a:extLst>
              <a:ext uri="{FF2B5EF4-FFF2-40B4-BE49-F238E27FC236}">
                <a16:creationId xmlns:a16="http://schemas.microsoft.com/office/drawing/2014/main" id="{25619870-1EA4-5BD6-F6C7-33D0BED329A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50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77DF2DD2-70F9-E467-D332-B8FAF301D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F1C6A-58A6-232A-975D-783C84D598C8}"/>
              </a:ext>
            </a:extLst>
          </p:cNvPr>
          <p:cNvSpPr>
            <a:spLocks noGrp="1"/>
          </p:cNvSpPr>
          <p:nvPr>
            <p:ph type="ctrTitle"/>
          </p:nvPr>
        </p:nvSpPr>
        <p:spPr>
          <a:xfrm>
            <a:off x="1524000" y="497150"/>
            <a:ext cx="9144000" cy="718459"/>
          </a:xfrm>
        </p:spPr>
        <p:txBody>
          <a:bodyPr>
            <a:normAutofit fontScale="90000"/>
          </a:bodyPr>
          <a:lstStyle/>
          <a:p>
            <a:r>
              <a:rPr lang="en-US" b="1" dirty="0"/>
              <a:t>Cons</a:t>
            </a:r>
            <a:endParaRPr lang="en-PH" b="1" dirty="0"/>
          </a:p>
        </p:txBody>
      </p:sp>
      <p:sp>
        <p:nvSpPr>
          <p:cNvPr id="4" name="Footer Placeholder 3">
            <a:extLst>
              <a:ext uri="{FF2B5EF4-FFF2-40B4-BE49-F238E27FC236}">
                <a16:creationId xmlns:a16="http://schemas.microsoft.com/office/drawing/2014/main" id="{7CA47610-90D9-A9CA-6A51-0782CABF680A}"/>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A11045FF-A61E-E945-063A-01594125B9CE}"/>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1" i="0" dirty="0">
                <a:effectLst/>
                <a:latin typeface="Calibri (Body)"/>
              </a:rPr>
              <a:t>Overuse of Inheritance</a:t>
            </a:r>
            <a:r>
              <a:rPr lang="en-US" sz="2400" i="0" dirty="0">
                <a:effectLst/>
                <a:latin typeface="Calibri (Body)"/>
              </a:rPr>
              <a:t>: While inheritance is powerful, overuse can lead to complex class hierarchies that become difficult to maintain and understand. It's important to strike a balance between reusability and code simplicity.</a:t>
            </a:r>
          </a:p>
          <a:p>
            <a:pPr marL="342900" indent="-342900" algn="l">
              <a:buFont typeface="Wingdings" panose="05000000000000000000" pitchFamily="2" charset="2"/>
              <a:buChar char="q"/>
            </a:pPr>
            <a:endParaRPr lang="en-US" sz="2400" i="0" dirty="0">
              <a:effectLst/>
              <a:latin typeface="Calibri (Body)"/>
            </a:endParaRPr>
          </a:p>
          <a:p>
            <a:pPr marL="342900" indent="-342900" algn="l">
              <a:buFont typeface="Wingdings" panose="05000000000000000000" pitchFamily="2" charset="2"/>
              <a:buChar char="q"/>
            </a:pPr>
            <a:r>
              <a:rPr lang="en-US" sz="2400" b="1" i="0" dirty="0">
                <a:effectLst/>
                <a:latin typeface="Calibri (Body)"/>
              </a:rPr>
              <a:t>Not Suitable for All Problems</a:t>
            </a:r>
            <a:r>
              <a:rPr lang="en-US" sz="2400" i="0" dirty="0">
                <a:effectLst/>
                <a:latin typeface="Calibri (Body)"/>
              </a:rPr>
              <a:t>: OOP is not necessarily the best approach for all types of problems. For simpler tasks or problems that don't naturally lend themselves to object-oriented modeling, other paradigms like procedural or functional programming might be more suitable.</a:t>
            </a:r>
            <a:endParaRPr lang="en-US" sz="2400" b="1" i="0" dirty="0">
              <a:effectLst/>
              <a:latin typeface="Calibri (Body)"/>
            </a:endParaRPr>
          </a:p>
        </p:txBody>
      </p:sp>
      <p:sp>
        <p:nvSpPr>
          <p:cNvPr id="3" name="Rectangle 1">
            <a:extLst>
              <a:ext uri="{FF2B5EF4-FFF2-40B4-BE49-F238E27FC236}">
                <a16:creationId xmlns:a16="http://schemas.microsoft.com/office/drawing/2014/main" id="{162A25E9-F856-51A1-7F43-E9A259CCCD9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3860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B5041502-9FE0-C4E1-C73F-051E55EC5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4B7AA-8227-453E-761E-926669359240}"/>
              </a:ext>
            </a:extLst>
          </p:cNvPr>
          <p:cNvSpPr>
            <a:spLocks noGrp="1"/>
          </p:cNvSpPr>
          <p:nvPr>
            <p:ph type="ctrTitle"/>
          </p:nvPr>
        </p:nvSpPr>
        <p:spPr>
          <a:xfrm>
            <a:off x="1524000" y="497150"/>
            <a:ext cx="9144000" cy="718459"/>
          </a:xfrm>
        </p:spPr>
        <p:txBody>
          <a:bodyPr>
            <a:normAutofit fontScale="90000"/>
          </a:bodyPr>
          <a:lstStyle/>
          <a:p>
            <a:r>
              <a:rPr lang="en-PH" b="1" dirty="0"/>
              <a:t>References</a:t>
            </a:r>
          </a:p>
        </p:txBody>
      </p:sp>
      <p:sp>
        <p:nvSpPr>
          <p:cNvPr id="4" name="Footer Placeholder 3">
            <a:extLst>
              <a:ext uri="{FF2B5EF4-FFF2-40B4-BE49-F238E27FC236}">
                <a16:creationId xmlns:a16="http://schemas.microsoft.com/office/drawing/2014/main" id="{7AFB4721-4813-74F7-9617-51580B35001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372F3DC5-9656-41CE-60C9-618AEA13C75F}"/>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endParaRPr lang="en-US" sz="2400" i="0" dirty="0">
              <a:effectLst/>
              <a:latin typeface="Calibri (Body)"/>
            </a:endParaRPr>
          </a:p>
        </p:txBody>
      </p:sp>
      <p:sp>
        <p:nvSpPr>
          <p:cNvPr id="3" name="Rectangle 1">
            <a:extLst>
              <a:ext uri="{FF2B5EF4-FFF2-40B4-BE49-F238E27FC236}">
                <a16:creationId xmlns:a16="http://schemas.microsoft.com/office/drawing/2014/main" id="{7B5266EC-987D-0683-7B68-F99D6B3479D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FF8D1531-2136-4A3B-B3CA-01887A242704}"/>
              </a:ext>
            </a:extLst>
          </p:cNvPr>
          <p:cNvSpPr>
            <a:spLocks noChangeArrowheads="1"/>
          </p:cNvSpPr>
          <p:nvPr/>
        </p:nvSpPr>
        <p:spPr bwMode="auto">
          <a:xfrm>
            <a:off x="1592580" y="1433457"/>
            <a:ext cx="900684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ctr" anchorCtr="0" compatLnSpc="1">
            <a:prstTxWarp prst="textNoShape">
              <a:avLst/>
            </a:prstTxWarp>
            <a:spAutoFit/>
          </a:bodyPr>
          <a:lstStyle/>
          <a:p>
            <a:pPr lvl="1" algn="just"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 Oriented Programming_combined.ppt,”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Google Docs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https://docs.google.com/presentation/d/1RqCs_I_GVfmcY7FKjcNWFNeiy1JV1oPQhapn07O-F-U/htmlpresent#!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8187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E22A5FA3A2044CB9CD88DCBEA97603" ma:contentTypeVersion="14" ma:contentTypeDescription="Create a new document." ma:contentTypeScope="" ma:versionID="add9614137543b78dcbd012fba14612c">
  <xsd:schema xmlns:xsd="http://www.w3.org/2001/XMLSchema" xmlns:xs="http://www.w3.org/2001/XMLSchema" xmlns:p="http://schemas.microsoft.com/office/2006/metadata/properties" xmlns:ns2="9a780629-4d19-4bb9-9056-9a589cd4d271" xmlns:ns3="6de439ce-b7a3-4fe1-9235-7bacf5677901" targetNamespace="http://schemas.microsoft.com/office/2006/metadata/properties" ma:root="true" ma:fieldsID="ff15d42874a67466ae73f4094a57046d" ns2:_="" ns3:_="">
    <xsd:import namespace="9a780629-4d19-4bb9-9056-9a589cd4d271"/>
    <xsd:import namespace="6de439ce-b7a3-4fe1-9235-7bacf567790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780629-4d19-4bb9-9056-9a589cd4d2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0475df7c-731a-48f9-b587-d0ce67fd343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e439ce-b7a3-4fe1-9235-7bacf5677901"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7220bbd5-5dd0-4cc5-8ff1-a93b22e2889e}" ma:internalName="TaxCatchAll" ma:showField="CatchAllData" ma:web="6de439ce-b7a3-4fe1-9235-7bacf567790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de439ce-b7a3-4fe1-9235-7bacf5677901" xsi:nil="true"/>
    <lcf76f155ced4ddcb4097134ff3c332f xmlns="9a780629-4d19-4bb9-9056-9a589cd4d2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66066B6-D4D8-4581-B2B5-DB6FD832CF10}"/>
</file>

<file path=customXml/itemProps2.xml><?xml version="1.0" encoding="utf-8"?>
<ds:datastoreItem xmlns:ds="http://schemas.openxmlformats.org/officeDocument/2006/customXml" ds:itemID="{70F04DBF-2F14-454E-942B-BF49FD030ACF}"/>
</file>

<file path=customXml/itemProps3.xml><?xml version="1.0" encoding="utf-8"?>
<ds:datastoreItem xmlns:ds="http://schemas.openxmlformats.org/officeDocument/2006/customXml" ds:itemID="{E8A977CA-91B3-4B2C-9837-E72C9E692D5D}"/>
</file>

<file path=docProps/app.xml><?xml version="1.0" encoding="utf-8"?>
<Properties xmlns="http://schemas.openxmlformats.org/officeDocument/2006/extended-properties" xmlns:vt="http://schemas.openxmlformats.org/officeDocument/2006/docPropsVTypes">
  <Template>Retrospect</Template>
  <TotalTime>1155</TotalTime>
  <Words>1208</Words>
  <Application>Microsoft Office PowerPoint</Application>
  <PresentationFormat>Widescreen</PresentationFormat>
  <Paragraphs>130</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(Body)</vt:lpstr>
      <vt:lpstr>Calibri Light</vt:lpstr>
      <vt:lpstr>Google Sans</vt:lpstr>
      <vt:lpstr>Times New Roman</vt:lpstr>
      <vt:lpstr>Wingdings</vt:lpstr>
      <vt:lpstr>Office Theme</vt:lpstr>
      <vt:lpstr>Introduction to Object Oriented Programming</vt:lpstr>
      <vt:lpstr>Why use OOP?</vt:lpstr>
      <vt:lpstr>Building Blocks of OOP</vt:lpstr>
      <vt:lpstr>Building Blocks of OOP</vt:lpstr>
      <vt:lpstr>What is OOP?</vt:lpstr>
      <vt:lpstr>Encapsulation</vt:lpstr>
      <vt:lpstr>Inheritance</vt:lpstr>
      <vt:lpstr>Polymorphism</vt:lpstr>
      <vt:lpstr>Abstraction</vt:lpstr>
      <vt:lpstr>Pros vs Cons</vt:lpstr>
      <vt:lpstr>Cons</vt:lpstr>
      <vt:lpstr>Cons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SLY Ponio</dc:creator>
  <cp:lastModifiedBy>Cyrus RJ W. Robles</cp:lastModifiedBy>
  <cp:revision>168</cp:revision>
  <dcterms:created xsi:type="dcterms:W3CDTF">2022-05-11T03:47:05Z</dcterms:created>
  <dcterms:modified xsi:type="dcterms:W3CDTF">2024-04-05T04:55:00Z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0x0101000BE22A5FA3A2044CB9CD88DCBEA97603</vt:lpwstr>
  </property>
</Properties>
</file>