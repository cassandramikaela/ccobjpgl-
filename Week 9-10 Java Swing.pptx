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70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75676" autoAdjust="0"/>
  </p:normalViewPr>
  <p:slideViewPr>
    <p:cSldViewPr snapToGrid="0">
      <p:cViewPr varScale="1">
        <p:scale>
          <a:sx n="52" d="100"/>
          <a:sy n="52" d="100"/>
        </p:scale>
        <p:origin x="12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D1EBB-E0C9-4D31-8787-A98D5CFBC31F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79F4-8DD7-4751-A6E4-6B531833C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4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79F4-8DD7-4751-A6E4-6B531833C2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90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rgbClr val="FF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rgbClr val="35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Desk">
            <a:extLst>
              <a:ext uri="{FF2B5EF4-FFF2-40B4-BE49-F238E27FC236}">
                <a16:creationId xmlns:a16="http://schemas.microsoft.com/office/drawing/2014/main" id="{E27D44A2-A855-473C-B54D-D4A64176E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37" y="4722720"/>
            <a:ext cx="2280699" cy="2280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5D626D-0FAA-4C09-83B9-8A2C5628EA53}"/>
              </a:ext>
            </a:extLst>
          </p:cNvPr>
          <p:cNvSpPr txBox="1"/>
          <p:nvPr userDrawn="1"/>
        </p:nvSpPr>
        <p:spPr>
          <a:xfrm>
            <a:off x="180305" y="2092444"/>
            <a:ext cx="224380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50" b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35408E"/>
                </a:solidFill>
                <a:latin typeface="Eras Bold ITC" panose="020B0907030504020204" pitchFamily="34" charset="0"/>
              </a:defRPr>
            </a:lvl1pPr>
          </a:lstStyle>
          <a:p>
            <a:pPr lvl="0" algn="ctr"/>
            <a:r>
              <a:rPr lang="en-US" dirty="0">
                <a:latin typeface="Eras Demi ITC" panose="020B0805030504020804" pitchFamily="34" charset="0"/>
              </a:rPr>
              <a:t>MODULE  G    ALS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B18BDC0-7AC5-48B0-926A-E7D1434DA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774" y="2405337"/>
            <a:ext cx="2105920" cy="2254250"/>
          </a:xfrm>
        </p:spPr>
        <p:txBody>
          <a:bodyPr>
            <a:noAutofit/>
          </a:bodyPr>
          <a:lstStyle>
            <a:lvl1pPr marL="142306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1pPr>
            <a:lvl2pPr marL="426917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2pPr>
            <a:lvl3pPr marL="711528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3pPr>
            <a:lvl4pPr marL="99614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4pPr>
            <a:lvl5pPr marL="128075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Graphic 12" descr="Target">
            <a:extLst>
              <a:ext uri="{FF2B5EF4-FFF2-40B4-BE49-F238E27FC236}">
                <a16:creationId xmlns:a16="http://schemas.microsoft.com/office/drawing/2014/main" id="{55D6439B-5271-491B-9B76-299133CF2E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7465" y="2147153"/>
            <a:ext cx="258185" cy="258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F9EE84-7BE5-4FA0-935F-72C5D3BF4589}"/>
              </a:ext>
            </a:extLst>
          </p:cNvPr>
          <p:cNvSpPr txBox="1"/>
          <p:nvPr userDrawn="1"/>
        </p:nvSpPr>
        <p:spPr>
          <a:xfrm>
            <a:off x="295974" y="202652"/>
            <a:ext cx="218236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35408E"/>
                </a:solidFill>
                <a:latin typeface="Eras Bold ITC" panose="020B0907030504020204" pitchFamily="34" charset="0"/>
              </a:rPr>
              <a:t>MODULE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8727F8C8-33E6-4AD9-ACE6-1F5A95002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851" y="571501"/>
            <a:ext cx="1738313" cy="1362075"/>
          </a:xfrm>
        </p:spPr>
        <p:txBody>
          <a:bodyPr anchor="ctr">
            <a:noAutofit/>
          </a:bodyPr>
          <a:lstStyle>
            <a:lvl1pPr marL="142306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1pPr>
            <a:lvl2pPr marL="426917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2pPr>
            <a:lvl3pPr marL="1140722" indent="-571500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3pPr>
            <a:lvl4pPr marL="996140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4pPr>
            <a:lvl5pPr marL="1280750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185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rgbClr val="FF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rgbClr val="35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Desk">
            <a:extLst>
              <a:ext uri="{FF2B5EF4-FFF2-40B4-BE49-F238E27FC236}">
                <a16:creationId xmlns:a16="http://schemas.microsoft.com/office/drawing/2014/main" id="{E27D44A2-A855-473C-B54D-D4A64176E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37" y="4722720"/>
            <a:ext cx="2280699" cy="228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5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 descr="Classroom">
            <a:extLst>
              <a:ext uri="{FF2B5EF4-FFF2-40B4-BE49-F238E27FC236}">
                <a16:creationId xmlns:a16="http://schemas.microsoft.com/office/drawing/2014/main" id="{194FA857-A1EE-466B-BDFF-82DD0329B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564" y="5140939"/>
            <a:ext cx="1717061" cy="17170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EC02A5-0150-4082-9226-B27D56CD26B1}"/>
              </a:ext>
            </a:extLst>
          </p:cNvPr>
          <p:cNvSpPr txBox="1"/>
          <p:nvPr userDrawn="1"/>
        </p:nvSpPr>
        <p:spPr>
          <a:xfrm>
            <a:off x="-128840" y="1761364"/>
            <a:ext cx="2243809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Demi ITC" panose="020B0805030504020804" pitchFamily="34" charset="0"/>
              </a:rPr>
              <a:t>LEARNING</a:t>
            </a:r>
          </a:p>
          <a:p>
            <a:pPr algn="ctr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Demi ITC" panose="020B0805030504020804" pitchFamily="34" charset="0"/>
              </a:rPr>
              <a:t>            OUTC    MES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C3D1D5D-FAF6-4D14-8D45-90250B0CAC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774" y="2431095"/>
            <a:ext cx="2105920" cy="2254250"/>
          </a:xfrm>
        </p:spPr>
        <p:txBody>
          <a:bodyPr>
            <a:noAutofit/>
          </a:bodyPr>
          <a:lstStyle>
            <a:lvl1pPr marL="142306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1pPr>
            <a:lvl2pPr marL="426917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2pPr>
            <a:lvl3pPr marL="711528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3pPr>
            <a:lvl4pPr marL="99614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4pPr>
            <a:lvl5pPr marL="128075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 descr="Target">
            <a:extLst>
              <a:ext uri="{FF2B5EF4-FFF2-40B4-BE49-F238E27FC236}">
                <a16:creationId xmlns:a16="http://schemas.microsoft.com/office/drawing/2014/main" id="{C2CA0B7A-830F-4E8C-916E-D11713E87FB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572" y="2060272"/>
            <a:ext cx="258185" cy="2581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250F91-C30A-4F66-A99E-AEAE02552150}"/>
              </a:ext>
            </a:extLst>
          </p:cNvPr>
          <p:cNvSpPr txBox="1"/>
          <p:nvPr userDrawn="1"/>
        </p:nvSpPr>
        <p:spPr>
          <a:xfrm>
            <a:off x="284890" y="202652"/>
            <a:ext cx="218236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Bold ITC" panose="020B0907030504020204" pitchFamily="34" charset="0"/>
              </a:rPr>
              <a:t>LESSON</a:t>
            </a: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7D8108EE-B9C1-49A9-982F-FD8C20C1CD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908" y="595385"/>
            <a:ext cx="1600062" cy="1142578"/>
          </a:xfrm>
        </p:spPr>
        <p:txBody>
          <a:bodyPr anchor="ctr">
            <a:noAutofit/>
          </a:bodyPr>
          <a:lstStyle>
            <a:lvl1pPr marL="142306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1pPr>
            <a:lvl2pPr marL="426917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2pPr>
            <a:lvl3pPr marL="1026422" indent="-457200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3pPr>
            <a:lvl4pPr marL="996140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4pPr>
            <a:lvl5pPr marL="1280750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9707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 descr="Classroom">
            <a:extLst>
              <a:ext uri="{FF2B5EF4-FFF2-40B4-BE49-F238E27FC236}">
                <a16:creationId xmlns:a16="http://schemas.microsoft.com/office/drawing/2014/main" id="{194FA857-A1EE-466B-BDFF-82DD0329B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564" y="5140939"/>
            <a:ext cx="1717061" cy="171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9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72E1DB-094E-40F5-B6CA-6AC96B50030F}"/>
              </a:ext>
            </a:extLst>
          </p:cNvPr>
          <p:cNvSpPr/>
          <p:nvPr userDrawn="1"/>
        </p:nvSpPr>
        <p:spPr>
          <a:xfrm>
            <a:off x="0" y="-5344"/>
            <a:ext cx="12192000" cy="4704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C8B7D-46CD-43C2-B5C9-9E5F496D69EA}"/>
              </a:ext>
            </a:extLst>
          </p:cNvPr>
          <p:cNvSpPr/>
          <p:nvPr userDrawn="1"/>
        </p:nvSpPr>
        <p:spPr>
          <a:xfrm>
            <a:off x="0" y="5809797"/>
            <a:ext cx="12192000" cy="940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9D9EF8-9DAB-4A0A-A801-F9772A387793}"/>
              </a:ext>
            </a:extLst>
          </p:cNvPr>
          <p:cNvSpPr/>
          <p:nvPr userDrawn="1"/>
        </p:nvSpPr>
        <p:spPr>
          <a:xfrm>
            <a:off x="0" y="6750793"/>
            <a:ext cx="12213594" cy="1157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72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840"/>
            <a:ext cx="10515600" cy="4061503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321AAE5-7C22-4B44-B831-57FCBC60927F}"/>
              </a:ext>
            </a:extLst>
          </p:cNvPr>
          <p:cNvGrpSpPr/>
          <p:nvPr userDrawn="1"/>
        </p:nvGrpSpPr>
        <p:grpSpPr>
          <a:xfrm flipV="1">
            <a:off x="0" y="0"/>
            <a:ext cx="12213594" cy="1056703"/>
            <a:chOff x="0" y="5809797"/>
            <a:chExt cx="12213594" cy="10567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2C8B7D-46CD-43C2-B5C9-9E5F496D69EA}"/>
                </a:ext>
              </a:extLst>
            </p:cNvPr>
            <p:cNvSpPr/>
            <p:nvPr userDrawn="1"/>
          </p:nvSpPr>
          <p:spPr>
            <a:xfrm>
              <a:off x="0" y="5809797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9D9EF8-9DAB-4A0A-A801-F9772A387793}"/>
                </a:ext>
              </a:extLst>
            </p:cNvPr>
            <p:cNvSpPr/>
            <p:nvPr userDrawn="1"/>
          </p:nvSpPr>
          <p:spPr>
            <a:xfrm>
              <a:off x="0" y="6750793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97" y="230518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14"/>
            <a:ext cx="10515600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9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287" y="230518"/>
            <a:ext cx="9887309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490" y="1171514"/>
            <a:ext cx="9887309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D7DAFE-16D9-4055-88FF-76567836F6F0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465EDF-454F-4668-A063-CEA8D37E0FFA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20E84F-46D2-480E-AB59-BD5178400EFF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</p:spTree>
    <p:extLst>
      <p:ext uri="{BB962C8B-B14F-4D97-AF65-F5344CB8AC3E}">
        <p14:creationId xmlns:p14="http://schemas.microsoft.com/office/powerpoint/2010/main" val="172169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2500" y="0"/>
            <a:ext cx="7429500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>
            <a:off x="196505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19" y="368605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19" y="3082829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Building Brick Wall">
            <a:extLst>
              <a:ext uri="{FF2B5EF4-FFF2-40B4-BE49-F238E27FC236}">
                <a16:creationId xmlns:a16="http://schemas.microsoft.com/office/drawing/2014/main" id="{01157D1D-AE29-477D-BAB3-EC3B2B880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82" y="5929073"/>
            <a:ext cx="1001074" cy="100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E84532-7A49-4931-A28E-66E833AB0B42}"/>
              </a:ext>
            </a:extLst>
          </p:cNvPr>
          <p:cNvSpPr/>
          <p:nvPr userDrawn="1"/>
        </p:nvSpPr>
        <p:spPr>
          <a:xfrm>
            <a:off x="196504" y="5904683"/>
            <a:ext cx="11995495" cy="940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2500" y="0"/>
            <a:ext cx="7429500" cy="5904683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>
            <a:off x="196505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19" y="368605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19" y="3082829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29500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 flipH="1">
            <a:off x="7425439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946" y="659357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0946" y="3373581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C9A9BA-B0E6-4614-B392-E5EEC4D63C0C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50628C-FCB5-4822-ABDD-4D949AB0AC27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C12EFF-EC78-4DFB-9F52-7946F250007B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6407C6-7F0D-456D-8F80-AAAC5172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246" y="278861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0FE5-1CE4-4F98-A437-C40E71517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3246" y="173936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083D-4951-4236-91AD-ED3F895B9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37246" y="173936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03FE5-4876-44FF-B29F-3C68A95D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3246" y="6270086"/>
            <a:ext cx="2743200" cy="365125"/>
          </a:xfrm>
        </p:spPr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62184-DC4B-4046-AD8F-1166E247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3646" y="6270086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1EA4-7002-4562-AD86-4B1F98E0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5646" y="6270086"/>
            <a:ext cx="2743200" cy="365125"/>
          </a:xfrm>
        </p:spPr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17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3CDE00C-539C-4D4B-A581-DA6FACC4CF95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132462-F569-4682-80CD-5DBD194747C7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26CD24-B052-45F9-8A98-E4A43F3F520F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F210EF-CFAE-47E8-8AC3-AC41A18E3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120" y="287488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5EB43-E4B4-478A-B272-2961D5D6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0120" y="160352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5023A-B876-4C93-9EF2-2E5C72399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0120" y="2427438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19069-AA90-4EF0-95CF-B42D2D3DA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2532" y="160352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08BFD-0C70-46F9-A6B7-212D8969C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72532" y="2427438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50F3E-ED90-40CF-B1BF-7315FE17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8532" y="6278713"/>
            <a:ext cx="2743200" cy="365125"/>
          </a:xfrm>
        </p:spPr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C4036-5B8E-4C70-8EAB-BB4BA5EE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8932" y="6278713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20EF3-8C2B-4872-AFF8-2DF4D6D8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932" y="6278713"/>
            <a:ext cx="2743200" cy="365125"/>
          </a:xfrm>
        </p:spPr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01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04E1-917E-6B28-611C-A4C4EAB9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58048-2155-685D-D7DB-28D3FD91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6BAA2-864A-F4C7-35F1-E26BFAD7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93C68-1F91-8802-1F80-D01327E5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33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97" y="230518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14"/>
            <a:ext cx="10515600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0C836A-601C-4673-97BA-270F598A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D68BB-20A8-4BD8-AE3E-157D76055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6A811-963A-4BEC-BA10-1E75132FD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23EF2-2872-4378-9FDE-AFEA983DA76B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B18F-1ADE-42D1-AD17-50885BFA8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85544-9957-4D60-8C9C-51F8E9927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6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1" r:id="rId3"/>
    <p:sldLayoutId id="2147483666" r:id="rId4"/>
    <p:sldLayoutId id="2147483650" r:id="rId5"/>
    <p:sldLayoutId id="2147483660" r:id="rId6"/>
    <p:sldLayoutId id="2147483663" r:id="rId7"/>
    <p:sldLayoutId id="2147483651" r:id="rId8"/>
    <p:sldLayoutId id="2147483664" r:id="rId9"/>
    <p:sldLayoutId id="2147483662" r:id="rId10"/>
    <p:sldLayoutId id="2147483652" r:id="rId11"/>
    <p:sldLayoutId id="2147483653" r:id="rId12"/>
    <p:sldLayoutId id="2147483667" r:id="rId13"/>
    <p:sldLayoutId id="214748366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E868-418A-E944-85BE-D2CC032322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Java Swing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ED8AC-EB2A-55A0-4AF8-6981DAC60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</a:t>
            </a:r>
            <a:br>
              <a:rPr lang="en-US" dirty="0"/>
            </a:br>
            <a:r>
              <a:rPr lang="en-US" dirty="0"/>
              <a:t>Prof. Cyrus </a:t>
            </a:r>
            <a:r>
              <a:rPr lang="en-US" dirty="0" err="1"/>
              <a:t>Rj</a:t>
            </a:r>
            <a:r>
              <a:rPr lang="en-US" dirty="0"/>
              <a:t> W. Robles</a:t>
            </a:r>
            <a:endParaRPr lang="en-PH" dirty="0"/>
          </a:p>
          <a:p>
            <a:endParaRPr lang="en-P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D511D-C334-3ABC-56C6-DCBB4A78DC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Understand the basics of Java Swing.</a:t>
            </a:r>
          </a:p>
          <a:p>
            <a:r>
              <a:rPr lang="en-US" dirty="0"/>
              <a:t>Learn how to create a simple Swing application.</a:t>
            </a:r>
          </a:p>
          <a:p>
            <a:r>
              <a:rPr lang="en-US" dirty="0"/>
              <a:t>Explore key Swing components and their usage.</a:t>
            </a:r>
          </a:p>
          <a:p>
            <a:r>
              <a:rPr lang="en-US" dirty="0"/>
              <a:t>Apply OOP principles in building a Swing application.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180C5-9057-F0F4-551D-F34B360D27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4999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087A-0DFB-2896-A804-6D97FC77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Overview of Java Swing: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2215-F18A-3845-EB88-B104ED7B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Swing is a part of Java Foundation Classes (JFC) used to create window-based applications. </a:t>
            </a:r>
          </a:p>
          <a:p>
            <a:r>
              <a:rPr lang="en-US" dirty="0"/>
              <a:t>It provides a rich set of GUI components such as buttons, text fields, tables, and more.</a:t>
            </a:r>
          </a:p>
          <a:p>
            <a:r>
              <a:rPr lang="en-US" dirty="0"/>
              <a:t> Unlike the Abstract Window Toolkit (AWT), Swing is platform-independent and provides a more flexible and sophisticated GUI.</a:t>
            </a:r>
          </a:p>
          <a:p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159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087A-0DFB-2896-A804-6D97FC77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Basics of Java Swing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2215-F18A-3845-EB88-B104ED7B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What is Java Swing?</a:t>
            </a:r>
          </a:p>
          <a:p>
            <a:pPr lvl="1"/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Java Swing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is a GUI toolkit for Java.</a:t>
            </a:r>
          </a:p>
          <a:p>
            <a:pPr lvl="1"/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Part of the Java Foundation Classes (JFC).</a:t>
            </a:r>
          </a:p>
          <a:p>
            <a:pPr lvl="1"/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Provides lightweight, platform-independent components.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5756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9F5F-990E-3353-8A62-6A9BF701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lan-Medium" panose="02000503040000020004"/>
              </a:rPr>
              <a:t>Basics of Java Swing</a:t>
            </a:r>
            <a:endParaRPr lang="en-PH" b="1" dirty="0">
              <a:latin typeface="Clan-Medium" panose="020005030400000200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8D839-59B4-5189-AA88-097CAA411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PH" sz="3600" dirty="0"/>
              <a:t>Swing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1DC40-EEB5-DCDB-2AF9-DC8476101F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PH" dirty="0"/>
              <a:t>Platform-dependent.</a:t>
            </a:r>
          </a:p>
          <a:p>
            <a:r>
              <a:rPr lang="en-PH" dirty="0"/>
              <a:t>Heavyweight components.</a:t>
            </a:r>
          </a:p>
          <a:p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26A88-17B9-D6F9-6FCD-F622011A5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 dirty="0"/>
              <a:t>AWT (Abstract Window Toolkit)</a:t>
            </a:r>
            <a:endParaRPr lang="en-PH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8A818-DCCA-17CB-C529-AC56E1BEF4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Platform-independent.</a:t>
            </a:r>
          </a:p>
          <a:p>
            <a:r>
              <a:rPr lang="en-US" dirty="0"/>
              <a:t>Lightweight components.</a:t>
            </a:r>
          </a:p>
          <a:p>
            <a:r>
              <a:rPr lang="en-US" dirty="0"/>
              <a:t>More versatile and flexible.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9352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087A-0DFB-2896-A804-6D97FC77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Key Features of Swing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2215-F18A-3845-EB88-B104ED7B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Lightweight Components: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Do not rely on native GUI components.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Pluggable Look and Feel: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Can change the appearance of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MVC Architecture: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Separates the data model, view, and controller.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Event-Driven Programming: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Responds to user actions like clicks and key presses.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9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8E3E-F361-EB75-5F58-607BDF23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Simple Swing Application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D40B8-0ABE-C4BF-B6F7-5D2E5379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97" y="1152853"/>
            <a:ext cx="10515600" cy="50700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Import Swing Packages: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the Main Application Class:</a:t>
            </a:r>
          </a:p>
          <a:p>
            <a:endParaRPr lang="en-US" dirty="0"/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E53E6-7952-5C53-1CF8-AEED0F95AC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80"/>
          <a:stretch/>
        </p:blipFill>
        <p:spPr>
          <a:xfrm>
            <a:off x="2015827" y="1660850"/>
            <a:ext cx="7013845" cy="1768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88F576-4FF4-9D3A-3804-09696CC1C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28" y="4115042"/>
            <a:ext cx="7393391" cy="210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9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8E3E-F361-EB75-5F58-607BDF23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Simple Swing Application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D40B8-0ABE-C4BF-B6F7-5D2E5379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97" y="1152853"/>
            <a:ext cx="10515600" cy="5070024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Add Components:</a:t>
            </a:r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Run the Application:</a:t>
            </a:r>
          </a:p>
          <a:p>
            <a:endParaRPr lang="en-US" dirty="0"/>
          </a:p>
          <a:p>
            <a:pPr marL="0" indent="0">
              <a:buNone/>
            </a:pPr>
            <a:endParaRPr lang="en-P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3BEF8B-E59A-9DDF-F35D-47AEE0DC1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28" y="1626796"/>
            <a:ext cx="6848771" cy="1993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BC484E-9048-DE11-676E-676476F2D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27" y="4115041"/>
            <a:ext cx="5644103" cy="231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34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8E3E-F361-EB75-5F58-607BDF23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Swing Components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D40B8-0ABE-C4BF-B6F7-5D2E5379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97" y="1152853"/>
            <a:ext cx="10515600" cy="50700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Commonly Used Swing Components</a:t>
            </a:r>
          </a:p>
          <a:p>
            <a:r>
              <a:rPr lang="en-US" b="1" dirty="0" err="1"/>
              <a:t>JLabel</a:t>
            </a:r>
            <a:r>
              <a:rPr lang="en-US" dirty="0"/>
              <a:t>: Displays text or image.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JTextField</a:t>
            </a:r>
            <a:r>
              <a:rPr lang="en-US" dirty="0"/>
              <a:t>: Single-line text input.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JTextArea</a:t>
            </a:r>
            <a:r>
              <a:rPr lang="en-US" dirty="0"/>
              <a:t>: Multi-line text input.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DAE65-CE69-E119-7B5F-EF6811FDC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2247592"/>
            <a:ext cx="9555255" cy="818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7986D5-0880-630B-C5BB-0FC21807F6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"/>
          <a:stretch/>
        </p:blipFill>
        <p:spPr>
          <a:xfrm>
            <a:off x="1828799" y="3792220"/>
            <a:ext cx="10151567" cy="818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7130D3-65DF-6C1A-345A-029FDE2A3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324147"/>
            <a:ext cx="10065776" cy="8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3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8E3E-F361-EB75-5F58-607BDF23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Swing Components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D40B8-0ABE-C4BF-B6F7-5D2E53793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997" y="1152853"/>
            <a:ext cx="10515600" cy="50700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Commonly Used Swing Components</a:t>
            </a:r>
          </a:p>
          <a:p>
            <a:r>
              <a:rPr lang="en-PH" b="1" i="0" dirty="0" err="1">
                <a:solidFill>
                  <a:srgbClr val="0D0D0D"/>
                </a:solidFill>
                <a:effectLst/>
                <a:latin typeface="Söhne"/>
              </a:rPr>
              <a:t>JCheckBox</a:t>
            </a: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: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Checkable item.</a:t>
            </a:r>
          </a:p>
          <a:p>
            <a:endParaRPr lang="en-PH" b="0" dirty="0">
              <a:solidFill>
                <a:srgbClr val="0D0D0D"/>
              </a:solidFill>
              <a:latin typeface="Söhne"/>
            </a:endParaRPr>
          </a:p>
          <a:p>
            <a:endParaRPr lang="en-PH" b="0" dirty="0">
              <a:solidFill>
                <a:srgbClr val="0D0D0D"/>
              </a:solidFill>
              <a:latin typeface="Söhne"/>
            </a:endParaRPr>
          </a:p>
          <a:p>
            <a:r>
              <a:rPr lang="en-PH" b="1" i="0" dirty="0" err="1">
                <a:solidFill>
                  <a:srgbClr val="0D0D0D"/>
                </a:solidFill>
                <a:effectLst/>
                <a:latin typeface="Söhne"/>
              </a:rPr>
              <a:t>JRadioButton</a:t>
            </a: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: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Radio button for selecting one of multiple options.</a:t>
            </a:r>
          </a:p>
          <a:p>
            <a:endParaRPr lang="en-PH" b="0" dirty="0">
              <a:solidFill>
                <a:srgbClr val="0D0D0D"/>
              </a:solidFill>
              <a:latin typeface="Söhne"/>
            </a:endParaRPr>
          </a:p>
          <a:p>
            <a:endParaRPr lang="en-PH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PH" b="1" i="0" dirty="0" err="1">
                <a:solidFill>
                  <a:srgbClr val="0D0D0D"/>
                </a:solidFill>
                <a:effectLst/>
                <a:latin typeface="Söhne"/>
              </a:rPr>
              <a:t>JComboBox</a:t>
            </a:r>
            <a:r>
              <a:rPr lang="en-PH" b="1" i="0" dirty="0">
                <a:solidFill>
                  <a:srgbClr val="0D0D0D"/>
                </a:solidFill>
                <a:effectLst/>
                <a:latin typeface="Söhne"/>
              </a:rPr>
              <a:t>:</a:t>
            </a:r>
            <a:r>
              <a:rPr lang="en-PH" b="0" i="0" dirty="0">
                <a:solidFill>
                  <a:srgbClr val="0D0D0D"/>
                </a:solidFill>
                <a:effectLst/>
                <a:latin typeface="Söhne"/>
              </a:rPr>
              <a:t> Dropdown menu.</a:t>
            </a:r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16BAC-4976-5207-5DD3-5DF3AC18C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949" y="2288297"/>
            <a:ext cx="7517690" cy="8233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9BACC-AAA5-B6CF-25E6-1BB4E1BFC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09" y="3647488"/>
            <a:ext cx="8824335" cy="966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B26868-5C87-9EC2-AB8D-6C95B1B93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949" y="5404432"/>
            <a:ext cx="10954346" cy="9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C0E7-B8AC-0315-A065-A0E3473C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Applying OOP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6EF5-FFD5-1AA0-C12C-10358673B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b="1" i="0" dirty="0">
                <a:solidFill>
                  <a:srgbClr val="0D0D0D"/>
                </a:solidFill>
                <a:effectLst/>
                <a:latin typeface="Clan-Book" panose="02000503050000020004"/>
              </a:rPr>
              <a:t>Object-Oriented Programming Concepts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Clan-Book" panose="02000503050000020004"/>
              </a:rPr>
              <a:t>Encapsulation:</a:t>
            </a:r>
            <a:r>
              <a:rPr lang="en-PH" b="0" i="0" dirty="0">
                <a:solidFill>
                  <a:srgbClr val="0D0D0D"/>
                </a:solidFill>
                <a:effectLst/>
                <a:latin typeface="Clan-Book" panose="02000503050000020004"/>
              </a:rPr>
              <a:t> Bundling data and methods within classes.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Clan-Book" panose="02000503050000020004"/>
              </a:rPr>
              <a:t>Inheritance:</a:t>
            </a:r>
            <a:r>
              <a:rPr lang="en-PH" b="0" i="0" dirty="0">
                <a:solidFill>
                  <a:srgbClr val="0D0D0D"/>
                </a:solidFill>
                <a:effectLst/>
                <a:latin typeface="Clan-Book" panose="02000503050000020004"/>
              </a:rPr>
              <a:t> Creating new classes from existing ones.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Clan-Book" panose="02000503050000020004"/>
              </a:rPr>
              <a:t>Polymorphism:</a:t>
            </a:r>
            <a:r>
              <a:rPr lang="en-PH" b="0" i="0" dirty="0">
                <a:solidFill>
                  <a:srgbClr val="0D0D0D"/>
                </a:solidFill>
                <a:effectLst/>
                <a:latin typeface="Clan-Book" panose="02000503050000020004"/>
              </a:rPr>
              <a:t> Ability to process objects differently based on their data type or class.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1" i="0" dirty="0">
                <a:solidFill>
                  <a:srgbClr val="0D0D0D"/>
                </a:solidFill>
                <a:effectLst/>
                <a:latin typeface="Clan-Book" panose="02000503050000020004"/>
              </a:rPr>
              <a:t>Abstraction:</a:t>
            </a:r>
            <a:r>
              <a:rPr lang="en-PH" b="0" i="0" dirty="0">
                <a:solidFill>
                  <a:srgbClr val="0D0D0D"/>
                </a:solidFill>
                <a:effectLst/>
                <a:latin typeface="Clan-Book" panose="02000503050000020004"/>
              </a:rPr>
              <a:t> Hiding complex implementation details and showing only the necessary features.</a:t>
            </a:r>
          </a:p>
          <a:p>
            <a:endParaRPr lang="en-US" dirty="0">
              <a:latin typeface="Clan-Book" panose="0200050305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400045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912B-632F-612F-AC0E-8E293726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OOP in Swing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E6AC5-B7E8-056E-16D4-85BD5211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b="1" dirty="0"/>
              <a:t>Encapsulation</a:t>
            </a:r>
          </a:p>
          <a:p>
            <a:pPr marL="0" indent="0">
              <a:buNone/>
            </a:pPr>
            <a:r>
              <a:rPr lang="en-PH" dirty="0"/>
              <a:t>Encapsulate GUI components and logic within classes.</a:t>
            </a:r>
          </a:p>
          <a:p>
            <a:endParaRPr lang="en-PH" dirty="0"/>
          </a:p>
          <a:p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CE654C-C241-C187-5BF7-21E888A3C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718" y="2245567"/>
            <a:ext cx="9700928" cy="35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0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912B-632F-612F-AC0E-8E293726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OOP in Swing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E6AC5-B7E8-056E-16D4-85BD5211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Abstraction</a:t>
            </a:r>
          </a:p>
          <a:p>
            <a:pPr marL="0" indent="0">
              <a:buNone/>
            </a:pPr>
            <a:r>
              <a:rPr lang="en-US" dirty="0"/>
              <a:t>Use abstract classes and interfaces to define common behaviors.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CD2540-E9BD-2E79-DC1C-A518A7DC5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97" y="2208244"/>
            <a:ext cx="10496904" cy="403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087A-0DFB-2896-A804-6D97FC77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2215-F18A-3845-EB88-B104ED7B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Today, we covered the basics of Java Swing and how to create a simple GUI application. </a:t>
            </a:r>
          </a:p>
          <a:p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We also explored various Swing components and applied OOP principles in developing Swing applications. </a:t>
            </a:r>
          </a:p>
          <a:p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By understanding these concepts, you can build more sophisticated and maintainable GUI applications in Java.</a:t>
            </a:r>
          </a:p>
          <a:p>
            <a:pPr marL="0" indent="0">
              <a:buNone/>
            </a:pPr>
            <a:endParaRPr lang="en-US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774291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F90C-78FA-BA3F-291F-D876953520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D12ED-87ED-E61B-00AA-3DA9D4D6DC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H" dirty="0"/>
              <a:t>Java Swing</a:t>
            </a:r>
          </a:p>
        </p:txBody>
      </p:sp>
    </p:spTree>
    <p:extLst>
      <p:ext uri="{BB962C8B-B14F-4D97-AF65-F5344CB8AC3E}">
        <p14:creationId xmlns:p14="http://schemas.microsoft.com/office/powerpoint/2010/main" val="620427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427F-3319-4403-CEE0-C92AB1F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Simple Button Click Counter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5CB74EB3-766D-8281-F0CD-6BE12999F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09" y="1087462"/>
            <a:ext cx="5264982" cy="5540020"/>
          </a:xfrm>
        </p:spPr>
      </p:pic>
    </p:spTree>
    <p:extLst>
      <p:ext uri="{BB962C8B-B14F-4D97-AF65-F5344CB8AC3E}">
        <p14:creationId xmlns:p14="http://schemas.microsoft.com/office/powerpoint/2010/main" val="338999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427F-3319-4403-CEE0-C92AB1F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 Field Input and Display</a:t>
            </a:r>
            <a:endParaRPr lang="en-PH" b="1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B4E8EF58-E302-9768-8281-4FE2FDA84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098" y="1139453"/>
            <a:ext cx="5223805" cy="5540400"/>
          </a:xfrm>
        </p:spPr>
      </p:pic>
    </p:spTree>
    <p:extLst>
      <p:ext uri="{BB962C8B-B14F-4D97-AF65-F5344CB8AC3E}">
        <p14:creationId xmlns:p14="http://schemas.microsoft.com/office/powerpoint/2010/main" val="498412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427F-3319-4403-CEE0-C92AB1F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Text Editor</a:t>
            </a:r>
            <a:endParaRPr lang="en-PH" b="1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87C5612F-FD86-C83D-34DE-0F2067F46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648" y="1197769"/>
            <a:ext cx="7404704" cy="5540400"/>
          </a:xfrm>
        </p:spPr>
      </p:pic>
    </p:spTree>
    <p:extLst>
      <p:ext uri="{BB962C8B-B14F-4D97-AF65-F5344CB8AC3E}">
        <p14:creationId xmlns:p14="http://schemas.microsoft.com/office/powerpoint/2010/main" val="188749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427F-3319-4403-CEE0-C92AB1F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Password Checker</a:t>
            </a:r>
            <a:endParaRPr lang="en-PH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F7FE36-51B2-9E27-C20A-B5B02844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31" y="1087082"/>
            <a:ext cx="6181537" cy="55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43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427F-3319-4403-CEE0-C92AB1F1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Password Checker</a:t>
            </a:r>
            <a:endParaRPr lang="en-PH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BD25D-1706-6A9F-1681-7920773FE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340" y="1112329"/>
            <a:ext cx="6261320" cy="55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17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1038-3817-9076-19A3-086B63E5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39A06-1C1B-C739-110A-0DEDE073C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i="1" dirty="0"/>
              <a:t>tackoverflow.com/questions/23205439/set-gradient-direction-in-swing </a:t>
            </a:r>
          </a:p>
          <a:p>
            <a:pPr marL="0" indent="0">
              <a:buNone/>
            </a:pPr>
            <a:r>
              <a:rPr lang="en-PH" i="1" dirty="0"/>
              <a:t>github.com/</a:t>
            </a:r>
            <a:r>
              <a:rPr lang="en-PH" i="1" dirty="0" err="1"/>
              <a:t>HouariZegai</a:t>
            </a:r>
            <a:r>
              <a:rPr lang="en-PH" i="1" dirty="0"/>
              <a:t>/java-</a:t>
            </a:r>
            <a:r>
              <a:rPr lang="en-PH" i="1" dirty="0" err="1"/>
              <a:t>pocs</a:t>
            </a:r>
            <a:r>
              <a:rPr lang="en-PH" i="1" dirty="0"/>
              <a:t> </a:t>
            </a:r>
          </a:p>
          <a:p>
            <a:pPr marL="0" indent="0">
              <a:buNone/>
            </a:pPr>
            <a:r>
              <a:rPr lang="en-PH" i="1" dirty="0"/>
              <a:t>subject to license (MIT) </a:t>
            </a:r>
          </a:p>
          <a:p>
            <a:pPr marL="0" indent="0">
              <a:buNone/>
            </a:pPr>
            <a:r>
              <a:rPr lang="en-PH" i="1" dirty="0"/>
              <a:t>stackoverflow.com/questions/71314365/looping-a-validation-consecutively </a:t>
            </a:r>
          </a:p>
          <a:p>
            <a:pPr marL="0" indent="0">
              <a:buNone/>
            </a:pPr>
            <a:r>
              <a:rPr lang="en-PH" i="1" dirty="0"/>
              <a:t>stackoverflow.com/questions/11699931/how-to-use-the-built-in-</a:t>
            </a:r>
            <a:r>
              <a:rPr lang="en-PH" i="1" dirty="0" err="1"/>
              <a:t>plaf</a:t>
            </a:r>
            <a:r>
              <a:rPr lang="en-PH" i="1" dirty="0"/>
              <a:t>-with-custom-components </a:t>
            </a:r>
          </a:p>
          <a:p>
            <a:pPr marL="0" indent="0">
              <a:buNone/>
            </a:pPr>
            <a:r>
              <a:rPr lang="en-PH" i="1" dirty="0"/>
              <a:t>pt.stackoverflow.com/questions/472217/erro-movimenta%C3%A7%C3%A3o-do-player </a:t>
            </a:r>
          </a:p>
          <a:p>
            <a:pPr marL="0" indent="0">
              <a:buNone/>
            </a:pPr>
            <a:r>
              <a:rPr lang="en-PH" i="1" dirty="0"/>
              <a:t>github.com/Sumir123/</a:t>
            </a:r>
            <a:r>
              <a:rPr lang="en-PH" i="1" dirty="0" err="1"/>
              <a:t>JavaSwingApp</a:t>
            </a:r>
            <a:endParaRPr lang="en-PH" i="1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39856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030E-85A6-9AAA-B43F-19FB21AE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5671"/>
            <a:ext cx="10515600" cy="2926658"/>
          </a:xfrm>
        </p:spPr>
        <p:txBody>
          <a:bodyPr>
            <a:normAutofit/>
          </a:bodyPr>
          <a:lstStyle/>
          <a:p>
            <a:pPr algn="ctr"/>
            <a:r>
              <a:rPr lang="en-PH" sz="5400" b="1" dirty="0">
                <a:latin typeface="+mn-lt"/>
              </a:rPr>
              <a:t>Thank </a:t>
            </a:r>
            <a:r>
              <a:rPr lang="en-PH" sz="5400" b="1" dirty="0" err="1">
                <a:latin typeface="+mn-lt"/>
              </a:rPr>
              <a:t>youuu</a:t>
            </a:r>
            <a:r>
              <a:rPr lang="en-PH" sz="5400" b="1" dirty="0">
                <a:latin typeface="+mn-lt"/>
              </a:rPr>
              <a:t>!!</a:t>
            </a:r>
            <a:endParaRPr lang="en-PH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2611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39F0FF-A358-4D9F-8976-BEE96A36A48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4da98b77-e5c5-4b36-b9de-c114a2c2c848"/>
    <ds:schemaRef ds:uri="e7da3552-a5ce-4fbc-b6a0-d009838d080c"/>
  </ds:schemaRefs>
</ds:datastoreItem>
</file>

<file path=customXml/itemProps2.xml><?xml version="1.0" encoding="utf-8"?>
<ds:datastoreItem xmlns:ds="http://schemas.openxmlformats.org/officeDocument/2006/customXml" ds:itemID="{B4F17401-7E23-45DF-9A08-E386BC811F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9294A2-32EB-440C-B407-D5B23A8E2C98}"/>
</file>

<file path=docProps/app.xml><?xml version="1.0" encoding="utf-8"?>
<Properties xmlns="http://schemas.openxmlformats.org/officeDocument/2006/extended-properties" xmlns:vt="http://schemas.openxmlformats.org/officeDocument/2006/docPropsVTypes">
  <TotalTime>3326</TotalTime>
  <Words>526</Words>
  <Application>Microsoft Office PowerPoint</Application>
  <PresentationFormat>Widescreen</PresentationFormat>
  <Paragraphs>93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Clan-Book</vt:lpstr>
      <vt:lpstr>Clan-Medium</vt:lpstr>
      <vt:lpstr>Eras Bold ITC</vt:lpstr>
      <vt:lpstr>Eras Demi ITC</vt:lpstr>
      <vt:lpstr>Söhne</vt:lpstr>
      <vt:lpstr>Office Theme</vt:lpstr>
      <vt:lpstr>Java Swing</vt:lpstr>
      <vt:lpstr>Overview of Java Swing:</vt:lpstr>
      <vt:lpstr>Basics of Java Swing</vt:lpstr>
      <vt:lpstr>Basics of Java Swing</vt:lpstr>
      <vt:lpstr>Key Features of Swing</vt:lpstr>
      <vt:lpstr>Creating a Simple Swing Application</vt:lpstr>
      <vt:lpstr>Creating a Simple Swing Application</vt:lpstr>
      <vt:lpstr>Key Swing Components</vt:lpstr>
      <vt:lpstr>Key Swing Components</vt:lpstr>
      <vt:lpstr>Applying OOP Principles</vt:lpstr>
      <vt:lpstr>OOP in Swing Applications</vt:lpstr>
      <vt:lpstr>OOP in Swing Applications</vt:lpstr>
      <vt:lpstr>Conclusion</vt:lpstr>
      <vt:lpstr>EXAMPLES</vt:lpstr>
      <vt:lpstr>Simple Button Click Counter</vt:lpstr>
      <vt:lpstr>Text Field Input and Display</vt:lpstr>
      <vt:lpstr>Simple Text Editor</vt:lpstr>
      <vt:lpstr>Simple Password Checker</vt:lpstr>
      <vt:lpstr>Simple Password Checker</vt:lpstr>
      <vt:lpstr>REFERENCES</vt:lpstr>
      <vt:lpstr>Thank youuu!!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Richard H. Guadana</dc:creator>
  <cp:lastModifiedBy>Cyrus RJ W. Robles</cp:lastModifiedBy>
  <cp:revision>64</cp:revision>
  <dcterms:created xsi:type="dcterms:W3CDTF">2020-08-03T03:06:31Z</dcterms:created>
  <dcterms:modified xsi:type="dcterms:W3CDTF">2024-05-23T07:51:25Z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