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7.xml" ContentType="application/vnd.openxmlformats-officedocument.presentationml.notesSlide+xml"/>
  <Override PartName="/ppt/notesMasters/notesMaster1.xml" ContentType="application/vnd.openxmlformats-officedocument.presentationml.notesMaster+xml"/>
  <Override PartName="/ppt/theme/theme2.xml" ContentType="application/vnd.openxmlformats-officedocument.theme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1"/>
  </p:notesMasterIdLst>
  <p:sldIdLst>
    <p:sldId id="257" r:id="rId2"/>
    <p:sldId id="315" r:id="rId3"/>
    <p:sldId id="321" r:id="rId4"/>
    <p:sldId id="318" r:id="rId5"/>
    <p:sldId id="322" r:id="rId6"/>
    <p:sldId id="323" r:id="rId7"/>
    <p:sldId id="324" r:id="rId8"/>
    <p:sldId id="325" r:id="rId9"/>
    <p:sldId id="326" r:id="rId10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B5FF2ED-5567-445A-B3E0-3393544B04A6}" v="675" dt="2022-05-11T04:00:20.336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616DA210-FB5B-4158-B5E0-FEB733F419BA}" styleName="Light Style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E8B1032C-EA38-4F05-BA0D-38AFFFC7BED3}" styleName="Light Style 3 - Accent 6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  <a:tblStyle styleId="{68D230F3-CF80-4859-8CE7-A43EE81993B5}" styleName="Light Style 1 - Accent 6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6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6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293" autoAdjust="0"/>
    <p:restoredTop sz="94137" autoAdjust="0"/>
  </p:normalViewPr>
  <p:slideViewPr>
    <p:cSldViewPr snapToGrid="0">
      <p:cViewPr varScale="1">
        <p:scale>
          <a:sx n="77" d="100"/>
          <a:sy n="77" d="100"/>
        </p:scale>
        <p:origin x="898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18" Type="http://schemas.openxmlformats.org/officeDocument/2006/relationships/customXml" Target="../customXml/item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17" Type="http://schemas.openxmlformats.org/officeDocument/2006/relationships/customXml" Target="../customXml/item1.xml"/><Relationship Id="rId2" Type="http://schemas.openxmlformats.org/officeDocument/2006/relationships/slide" Target="slides/slide1.xml"/><Relationship Id="rId16" Type="http://schemas.microsoft.com/office/2015/10/relationships/revisionInfo" Target="revisionInfo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customXml" Target="../customXml/item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666E1FD-E7A0-497B-BBC0-740BAAC97C6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PH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PH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E90CCE9-4AAE-4E1F-85AD-521A406D652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5985558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1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338840344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2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0445266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3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863143328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4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36338423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5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72126958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6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997755309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F9C4074-569E-1D8B-233E-DFB535C5BB6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8E5C6DB-771A-AFD4-B365-84F3D228B658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C9EC5D4-18E4-436A-D0CF-F14844B4600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226A4AB-7279-3594-F562-E0D4D74BEE34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7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14980130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85CEF44-FA99-2F0A-2CB2-6C2DCA1E4D3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C77F1FBA-719A-C094-C89E-483D6C53834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BC9E2C58-C623-A76F-2509-FC56216822D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A1DA161B-B046-1E71-F1F5-0838C55E8370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8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9139132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237C081-9F4A-EB1D-25F7-726367B61D9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2DD9B5C4-8A28-2AE2-8437-B2329E0532E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AFDEF506-6AB2-15B7-C366-FD052FAA169D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PH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3A90D2F-6D14-A6DD-37B0-B0158C69B45A}"/>
              </a:ext>
            </a:extLst>
          </p:cNvPr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FE90CCE9-4AAE-4E1F-85AD-521A406D6524}" type="slidenum">
              <a:rPr lang="en-PH" smtClean="0"/>
              <a:t>9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58082650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2DB1E6E-2408-484E-8979-2DB96F2F8A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947B426-68B8-4CB7-871C-5CC84E86C6C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7352935-9451-4839-96FB-E9A8FCCD6D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468F784-7AF5-4560-BEFA-8C8096530B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3498F6B-191E-4E4B-BE34-C761371259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13193476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687643-F5D7-48E2-ADAB-95C74CECF06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00FC6CC-B49B-452C-8E9C-808488E73C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2CBF4EE-800F-479B-9D99-FD0B990C4D0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BA3E0ED-BABB-43F4-8ACF-6AB1C583C02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B6B210-80B8-4EC4-A5DD-626DF33507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8966858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520E17-7239-452C-8B6C-2DE99BB75C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2621D8-37ED-476B-884F-26990A946C9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D2FE869-1B16-425A-9EFF-D1D147E64F8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EB7772C-84B9-4CA4-BC65-3D41F9D331A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4F6E878-86EF-4ABF-A7AD-65B43A873D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41262574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68D03AF-7534-49E0-B0A2-F0403B159E1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4E63158-1F78-4261-99A0-55F573DD0434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13B12B8E-1661-462B-A00C-FE1078E5F2D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66763DF-E084-447E-A488-9F9D328A97D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46663E-C0B8-407A-9C08-AD7A14CDF03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A444692-F2BB-4F15-9AC6-1D337C5F6B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05248389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724591-52D4-4A6A-81FF-CF9B69DD3DC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AD74561-7712-4BE5-B42C-1DF224123B1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DC6369D-C1D0-4A4F-85B0-DC21BD7E9CE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E0D26301-7EFA-4E2D-8E37-01989EDE45C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568D5A3-0863-4C19-8CDF-E5F63800924B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61BD46F-0A9D-4A21-A809-A8A4915A71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63B3FE40-3AE1-4501-BD99-5BB30AA8E9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819DB7BF-E7E2-4599-93C1-314862B49E9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79554378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7BA4B7-5BD0-45CE-A3AB-0BDAEBCB2F8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85317F3A-B35D-4332-A083-A8EA82A8CC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55D1BAA-3C55-422C-9DDB-C8FA246675A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4545CCC-0421-4BC8-A428-7D6891975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7610498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4A8D164-8317-4375-AC20-4E5ECFBC830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2CE65B31-8161-47C0-B8D2-02FC9D06353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B8A5A49-C1DE-4043-9C4E-CA88B7D930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4745070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A441128-45F1-4E37-A76C-48135B4B5AB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A6B574-F2D0-4A1E-971A-951AD113FFA7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4A9BF5-4AAF-46A8-9307-3E49D1DC7F5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C84D477-7EF0-4092-A585-C8B452D869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2B03C4-61D6-4E97-BF6A-97F68327734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11C0268-0C31-4494-872A-FF14572B07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314456931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B91858D-F4CE-4847-9F4E-96911B72633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E112DC33-E4BE-4D59-8A3E-E5C8C7FEA823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PH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4662A18-4E8B-44E0-95B0-48E49B06BBC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B83A010-3289-4BEF-9BA6-B9291ECCA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C3F1841C-B8D0-4564-AB48-104684286C1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18FD835-28F9-4C9B-8DEF-1C8AF7C196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286918134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1C9526-6B4B-4B7C-836C-CA5ECFEE187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D3F895-13B7-4F09-8F2B-7C7B281BDCE5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FED4FF3-605C-448B-ABE0-7A159B7B3BA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5D10917-6EAA-48EE-AE32-E15F33FCA1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9451C44-2EAE-49AE-A864-682DEB3D8E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969415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FBCFD600-C7E3-42EE-9735-2FE3EDE7764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6C80727-2711-434B-AEFB-9E214673ECCD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1B47950-A376-49E5-A09E-DEAA9AD59B1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D8641F-5631-4BB0-94A8-CB1A2D78FD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B056033-BC76-47F3-AA32-F159420DFD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426884969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1E2D0B8-307D-483C-BA2C-9A8A459E49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PH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75D10E-5C2B-4972-BF7B-F9575460746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PH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42C434A-E16E-4577-B5A4-C633EF521A87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CF0B81-6BD8-4C65-9459-815598C5F1F4}" type="datetimeFigureOut">
              <a:rPr lang="en-PH" smtClean="0"/>
              <a:t>01/04/2024</a:t>
            </a:fld>
            <a:endParaRPr lang="en-PH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29472F3-C75B-4412-A75D-AF542B82AF1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PH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90A6DE4-6572-40B4-8CEF-D76FDC9FDC78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2E55236-52B9-4157-99EF-C477DAF2F554}" type="slidenum">
              <a:rPr lang="en-PH" smtClean="0"/>
              <a:t>‹#›</a:t>
            </a:fld>
            <a:endParaRPr lang="en-PH"/>
          </a:p>
        </p:txBody>
      </p:sp>
    </p:spTree>
    <p:extLst>
      <p:ext uri="{BB962C8B-B14F-4D97-AF65-F5344CB8AC3E}">
        <p14:creationId xmlns:p14="http://schemas.microsoft.com/office/powerpoint/2010/main" val="11868130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png"/><Relationship Id="rId3" Type="http://schemas.openxmlformats.org/officeDocument/2006/relationships/image" Target="../media/image1.jpg"/><Relationship Id="rId7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PH" b="1" dirty="0"/>
              <a:t>Classes and Objects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0232827-4F60-4C85-BA9F-CAC18540AC11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en-PH" sz="2000" dirty="0"/>
          </a:p>
          <a:p>
            <a:pPr algn="l"/>
            <a:r>
              <a:rPr lang="en-PH" sz="2000" dirty="0"/>
              <a:t>Presented by:</a:t>
            </a:r>
          </a:p>
          <a:p>
            <a:pPr algn="l"/>
            <a:r>
              <a:rPr lang="en-PH" sz="2000" dirty="0"/>
              <a:t>Cyrus </a:t>
            </a:r>
            <a:r>
              <a:rPr lang="en-PH" sz="2000" dirty="0" err="1"/>
              <a:t>Rj</a:t>
            </a:r>
            <a:r>
              <a:rPr lang="en-PH" sz="2000" dirty="0"/>
              <a:t> Robles</a:t>
            </a:r>
            <a:endParaRPr lang="en-P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400501706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5000" b="1" dirty="0"/>
              <a:t>What are Classes and Objects?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b="0" i="0" dirty="0">
                <a:effectLst/>
                <a:latin typeface="Calibri (Body)"/>
              </a:rPr>
              <a:t>A class is a template used to create objects.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500" dirty="0"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b="0" i="0" dirty="0">
                <a:effectLst/>
                <a:latin typeface="Calibri (Body)"/>
              </a:rPr>
              <a:t>An object is any entity that has a </a:t>
            </a:r>
            <a:r>
              <a:rPr lang="en-US" sz="2500" b="1" i="0" dirty="0">
                <a:effectLst/>
                <a:latin typeface="Calibri (Body)"/>
              </a:rPr>
              <a:t>state (properties)</a:t>
            </a:r>
            <a:r>
              <a:rPr lang="en-US" sz="2500" b="0" i="0" dirty="0">
                <a:effectLst/>
                <a:latin typeface="Calibri (Body)"/>
              </a:rPr>
              <a:t> and </a:t>
            </a:r>
            <a:r>
              <a:rPr lang="en-US" sz="2500" b="1" i="0" dirty="0">
                <a:effectLst/>
                <a:latin typeface="Calibri (Body)"/>
              </a:rPr>
              <a:t>behavior (methods).</a:t>
            </a:r>
            <a:endParaRPr lang="en-US" sz="2500" b="0" i="0" dirty="0">
              <a:effectLst/>
              <a:latin typeface="Calibri (Body)"/>
            </a:endParaRPr>
          </a:p>
          <a:p>
            <a:pPr algn="l"/>
            <a:endParaRPr lang="en-US" sz="2500" dirty="0"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b="1" i="0" dirty="0">
                <a:effectLst/>
                <a:latin typeface="Calibri (Body)"/>
              </a:rPr>
              <a:t>Classes are categories</a:t>
            </a:r>
            <a:r>
              <a:rPr lang="en-US" sz="2500" b="0" i="0" dirty="0">
                <a:effectLst/>
                <a:latin typeface="Calibri (Body)"/>
              </a:rPr>
              <a:t>, and </a:t>
            </a:r>
            <a:r>
              <a:rPr lang="en-US" sz="2500" b="1" i="0" dirty="0">
                <a:effectLst/>
                <a:latin typeface="Calibri (Body)"/>
              </a:rPr>
              <a:t>objects are items within each category</a:t>
            </a:r>
            <a:r>
              <a:rPr lang="en-US" sz="2500" b="0" i="0" dirty="0">
                <a:effectLst/>
                <a:latin typeface="Calibri (Body)"/>
              </a:rPr>
              <a:t>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500" b="0" i="0" dirty="0">
              <a:effectLst/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b="0" i="0" dirty="0">
                <a:solidFill>
                  <a:srgbClr val="273239"/>
                </a:solidFill>
                <a:effectLst/>
                <a:latin typeface="Calibri (Body)"/>
              </a:rPr>
              <a:t>Classes and Objects are basic concepts of Object Oriented Programming that revolve around real life entities.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273239"/>
              </a:solidFill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500" dirty="0">
              <a:latin typeface="Calibri (Body)"/>
            </a:endParaRPr>
          </a:p>
          <a:p>
            <a:pPr algn="l"/>
            <a:endParaRPr lang="en-US" sz="2500" dirty="0">
              <a:latin typeface="Calibri (Body)"/>
            </a:endParaRPr>
          </a:p>
          <a:p>
            <a:pPr algn="l"/>
            <a:endParaRPr lang="en-US" sz="2500" b="0" i="0" dirty="0"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6275952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5000" b="1" dirty="0"/>
              <a:t>What are Classes and Objects?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158484AC-F801-EAAA-27E1-CABB42EDC80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90238" y="3355769"/>
            <a:ext cx="2143125" cy="2143125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74F721D-F29A-9DD3-454C-F2399F09A637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976440" y="1285875"/>
            <a:ext cx="2143125" cy="2143125"/>
          </a:xfrm>
          <a:prstGeom prst="rect">
            <a:avLst/>
          </a:prstGeom>
        </p:spPr>
      </p:pic>
      <p:pic>
        <p:nvPicPr>
          <p:cNvPr id="10" name="Picture 9" descr="Logo&#10;&#10;Description automatically generated">
            <a:extLst>
              <a:ext uri="{FF2B5EF4-FFF2-40B4-BE49-F238E27FC236}">
                <a16:creationId xmlns:a16="http://schemas.microsoft.com/office/drawing/2014/main" id="{0C91D75B-2779-EADB-0267-B52AC1D5D75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119565" y="3028794"/>
            <a:ext cx="2143125" cy="2143125"/>
          </a:xfrm>
          <a:prstGeom prst="rect">
            <a:avLst/>
          </a:prstGeom>
        </p:spPr>
      </p:pic>
      <p:pic>
        <p:nvPicPr>
          <p:cNvPr id="14" name="Picture 13" descr="Bubble chart&#10;&#10;Description automatically generated with low confidence">
            <a:extLst>
              <a:ext uri="{FF2B5EF4-FFF2-40B4-BE49-F238E27FC236}">
                <a16:creationId xmlns:a16="http://schemas.microsoft.com/office/drawing/2014/main" id="{4A98B501-1209-CF15-A4E8-F96DF93EDBD9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992572" y="1029579"/>
            <a:ext cx="2647995" cy="2647995"/>
          </a:xfrm>
          <a:prstGeom prst="rect">
            <a:avLst/>
          </a:prstGeom>
        </p:spPr>
      </p:pic>
      <p:pic>
        <p:nvPicPr>
          <p:cNvPr id="1026" name="Picture 2" descr="Car - Free travel icons">
            <a:extLst>
              <a:ext uri="{FF2B5EF4-FFF2-40B4-BE49-F238E27FC236}">
                <a16:creationId xmlns:a16="http://schemas.microsoft.com/office/drawing/2014/main" id="{FA5F31D3-4E7E-0265-69E6-AABB90BE801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296301" y="3355769"/>
            <a:ext cx="2054865" cy="2054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67789644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2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Syntax to create a Class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PH" sz="2600" dirty="0">
              <a:latin typeface="Consolas" panose="020B0609020204030204" pitchFamily="49" charset="0"/>
            </a:endParaRPr>
          </a:p>
          <a:p>
            <a:pPr algn="l"/>
            <a:r>
              <a:rPr lang="en-PH" sz="2600" b="0" dirty="0">
                <a:effectLst/>
                <a:latin typeface="Consolas" panose="020B0609020204030204" pitchFamily="49" charset="0"/>
              </a:rPr>
              <a:t>                         </a:t>
            </a:r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097DE-2E41-E649-960B-1A1DAE1754D6}"/>
              </a:ext>
            </a:extLst>
          </p:cNvPr>
          <p:cNvSpPr txBox="1"/>
          <p:nvPr/>
        </p:nvSpPr>
        <p:spPr>
          <a:xfrm>
            <a:off x="2285325" y="1747232"/>
            <a:ext cx="13214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solidFill>
                  <a:srgbClr val="7030A0"/>
                </a:solidFill>
                <a:latin typeface="Consolas" panose="020B0609020204030204" pitchFamily="49" charset="0"/>
              </a:rPr>
              <a:t>class</a:t>
            </a:r>
            <a:endParaRPr lang="en-PH" sz="30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7A035E-A5EC-0B05-5CC3-FD23097C82D9}"/>
              </a:ext>
            </a:extLst>
          </p:cNvPr>
          <p:cNvSpPr txBox="1"/>
          <p:nvPr/>
        </p:nvSpPr>
        <p:spPr>
          <a:xfrm>
            <a:off x="3481436" y="1742692"/>
            <a:ext cx="215837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 err="1">
                <a:solidFill>
                  <a:schemeClr val="accent1"/>
                </a:solidFill>
                <a:latin typeface="Consolas" panose="020B0609020204030204" pitchFamily="49" charset="0"/>
              </a:rPr>
              <a:t>ClassName</a:t>
            </a:r>
            <a:endParaRPr lang="en-PH" sz="30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858D8B-8E8E-0BAB-E6B4-E5A558D655B4}"/>
              </a:ext>
            </a:extLst>
          </p:cNvPr>
          <p:cNvSpPr txBox="1"/>
          <p:nvPr/>
        </p:nvSpPr>
        <p:spPr>
          <a:xfrm>
            <a:off x="5564203" y="1711565"/>
            <a:ext cx="3764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latin typeface="Consolas" panose="020B0609020204030204" pitchFamily="49" charset="0"/>
              </a:rPr>
              <a:t>{</a:t>
            </a:r>
            <a:endParaRPr lang="en-PH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D5DE3-3F38-42DC-CA05-47344D299D72}"/>
              </a:ext>
            </a:extLst>
          </p:cNvPr>
          <p:cNvSpPr txBox="1"/>
          <p:nvPr/>
        </p:nvSpPr>
        <p:spPr>
          <a:xfrm>
            <a:off x="2473215" y="2460679"/>
            <a:ext cx="615080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solidFill>
                  <a:srgbClr val="00B050"/>
                </a:solidFill>
                <a:latin typeface="Consolas" panose="020B0609020204030204" pitchFamily="49" charset="0"/>
              </a:rPr>
              <a:t>// properties</a:t>
            </a:r>
          </a:p>
          <a:p>
            <a:r>
              <a:rPr lang="en-PH" sz="3000" dirty="0">
                <a:solidFill>
                  <a:srgbClr val="00B050"/>
                </a:solidFill>
                <a:latin typeface="Consolas" panose="020B0609020204030204" pitchFamily="49" charset="0"/>
              </a:rPr>
              <a:t>// methods</a:t>
            </a:r>
            <a:endParaRPr lang="en-PH" sz="3000" dirty="0">
              <a:solidFill>
                <a:srgbClr val="00B050"/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FB4130-ABA0-6D8A-19A3-94142673BCEB}"/>
              </a:ext>
            </a:extLst>
          </p:cNvPr>
          <p:cNvSpPr txBox="1"/>
          <p:nvPr/>
        </p:nvSpPr>
        <p:spPr>
          <a:xfrm>
            <a:off x="2285324" y="3635791"/>
            <a:ext cx="3757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latin typeface="Consolas" panose="020B0609020204030204" pitchFamily="49" charset="0"/>
              </a:rPr>
              <a:t>}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8691303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9" grpId="0"/>
      <p:bldP spid="10" grpId="0"/>
      <p:bldP spid="11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Syntax to create a Class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PH" sz="2600" dirty="0">
              <a:latin typeface="Consolas" panose="020B0609020204030204" pitchFamily="49" charset="0"/>
            </a:endParaRPr>
          </a:p>
          <a:p>
            <a:pPr algn="l"/>
            <a:r>
              <a:rPr lang="en-PH" sz="2600" b="0" dirty="0">
                <a:effectLst/>
                <a:latin typeface="Consolas" panose="020B0609020204030204" pitchFamily="49" charset="0"/>
              </a:rPr>
              <a:t>                         </a:t>
            </a:r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25097DE-2E41-E649-960B-1A1DAE1754D6}"/>
              </a:ext>
            </a:extLst>
          </p:cNvPr>
          <p:cNvSpPr txBox="1"/>
          <p:nvPr/>
        </p:nvSpPr>
        <p:spPr>
          <a:xfrm>
            <a:off x="2285325" y="1747232"/>
            <a:ext cx="132144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class</a:t>
            </a:r>
            <a:endParaRPr lang="en-PH" sz="25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17A035E-A5EC-0B05-5CC3-FD23097C82D9}"/>
              </a:ext>
            </a:extLst>
          </p:cNvPr>
          <p:cNvSpPr txBox="1"/>
          <p:nvPr/>
        </p:nvSpPr>
        <p:spPr>
          <a:xfrm>
            <a:off x="3348087" y="1742318"/>
            <a:ext cx="11032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chemeClr val="accent1"/>
                </a:solidFill>
                <a:latin typeface="Consolas" panose="020B0609020204030204" pitchFamily="49" charset="0"/>
              </a:rPr>
              <a:t>Fruit</a:t>
            </a:r>
            <a:endParaRPr lang="en-PH" sz="25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32858D8B-8E8E-0BAB-E6B4-E5A558D655B4}"/>
              </a:ext>
            </a:extLst>
          </p:cNvPr>
          <p:cNvSpPr txBox="1"/>
          <p:nvPr/>
        </p:nvSpPr>
        <p:spPr>
          <a:xfrm>
            <a:off x="4451351" y="1747232"/>
            <a:ext cx="37643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273D5DE3-3F38-42DC-CA05-47344D299D72}"/>
              </a:ext>
            </a:extLst>
          </p:cNvPr>
          <p:cNvSpPr txBox="1"/>
          <p:nvPr/>
        </p:nvSpPr>
        <p:spPr>
          <a:xfrm>
            <a:off x="2661105" y="2499151"/>
            <a:ext cx="24950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String color;</a:t>
            </a:r>
          </a:p>
          <a:p>
            <a:endParaRPr lang="en-PH" sz="2500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33FB4130-ABA0-6D8A-19A3-94142673BCEB}"/>
              </a:ext>
            </a:extLst>
          </p:cNvPr>
          <p:cNvSpPr txBox="1"/>
          <p:nvPr/>
        </p:nvSpPr>
        <p:spPr>
          <a:xfrm>
            <a:off x="2285324" y="3627581"/>
            <a:ext cx="375781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D5304937-FEEB-07FD-539F-B1466DEF6BF1}"/>
              </a:ext>
            </a:extLst>
          </p:cNvPr>
          <p:cNvSpPr txBox="1"/>
          <p:nvPr/>
        </p:nvSpPr>
        <p:spPr>
          <a:xfrm>
            <a:off x="2661105" y="2980786"/>
            <a:ext cx="2495095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String taste;</a:t>
            </a:r>
          </a:p>
          <a:p>
            <a:endParaRPr lang="en-PH" sz="2500" dirty="0"/>
          </a:p>
        </p:txBody>
      </p:sp>
    </p:spTree>
    <p:extLst>
      <p:ext uri="{BB962C8B-B14F-4D97-AF65-F5344CB8AC3E}">
        <p14:creationId xmlns:p14="http://schemas.microsoft.com/office/powerpoint/2010/main" val="40644351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9" grpId="0"/>
      <p:bldP spid="10" grpId="0"/>
      <p:bldP spid="11" grpId="0"/>
      <p:bldP spid="8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A3DCE86-C2BA-4713-9E7A-73589E8D6CC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Syntax to create an Object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38E7DE1-45EE-476A-A474-0F3C264AED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444037F-B658-D82C-5DCA-53E8AA1493D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PH" sz="2600" dirty="0">
              <a:latin typeface="Consolas" panose="020B0609020204030204" pitchFamily="49" charset="0"/>
            </a:endParaRPr>
          </a:p>
          <a:p>
            <a:pPr algn="l"/>
            <a:r>
              <a:rPr lang="en-PH" sz="2600" b="0" dirty="0">
                <a:effectLst/>
                <a:latin typeface="Consolas" panose="020B0609020204030204" pitchFamily="49" charset="0"/>
              </a:rPr>
              <a:t>                         </a:t>
            </a:r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62644E33-0790-A4ED-3637-CB08B00AE129}"/>
              </a:ext>
            </a:extLst>
          </p:cNvPr>
          <p:cNvSpPr txBox="1"/>
          <p:nvPr/>
        </p:nvSpPr>
        <p:spPr>
          <a:xfrm>
            <a:off x="2112981" y="2019137"/>
            <a:ext cx="359914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public static void </a:t>
            </a:r>
            <a:endParaRPr lang="en-PH" sz="2500" dirty="0">
              <a:solidFill>
                <a:srgbClr val="7030A0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86B44F0F-757D-030E-2584-3FE3C7085380}"/>
              </a:ext>
            </a:extLst>
          </p:cNvPr>
          <p:cNvSpPr txBox="1"/>
          <p:nvPr/>
        </p:nvSpPr>
        <p:spPr>
          <a:xfrm>
            <a:off x="5396887" y="2019137"/>
            <a:ext cx="903964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chemeClr val="accent1"/>
                </a:solidFill>
                <a:latin typeface="Consolas" panose="020B0609020204030204" pitchFamily="49" charset="0"/>
              </a:rPr>
              <a:t>main</a:t>
            </a:r>
            <a:endParaRPr lang="en-PH" sz="2500" dirty="0">
              <a:solidFill>
                <a:schemeClr val="accent1"/>
              </a:solidFill>
            </a:endParaRPr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EF70E510-AB7A-C497-7A77-76C3B225A3FA}"/>
              </a:ext>
            </a:extLst>
          </p:cNvPr>
          <p:cNvSpPr txBox="1"/>
          <p:nvPr/>
        </p:nvSpPr>
        <p:spPr>
          <a:xfrm>
            <a:off x="6249443" y="2020493"/>
            <a:ext cx="2869502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(String[] </a:t>
            </a:r>
            <a:r>
              <a:rPr lang="en-PH" sz="2500" dirty="0" err="1">
                <a:latin typeface="Consolas" panose="020B0609020204030204" pitchFamily="49" charset="0"/>
              </a:rPr>
              <a:t>args</a:t>
            </a:r>
            <a:r>
              <a:rPr lang="en-PH" sz="2500" dirty="0">
                <a:latin typeface="Consolas" panose="020B0609020204030204" pitchFamily="49" charset="0"/>
              </a:rPr>
              <a:t>)</a:t>
            </a:r>
            <a:endParaRPr lang="en-PH" sz="2500" dirty="0"/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id="{541B0EFF-FC51-0F26-49A0-2D9069C78E37}"/>
              </a:ext>
            </a:extLst>
          </p:cNvPr>
          <p:cNvSpPr txBox="1"/>
          <p:nvPr/>
        </p:nvSpPr>
        <p:spPr>
          <a:xfrm>
            <a:off x="8977241" y="2016363"/>
            <a:ext cx="4749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B7C154C8-9B95-9D69-8AAC-C31574BB679A}"/>
              </a:ext>
            </a:extLst>
          </p:cNvPr>
          <p:cNvSpPr txBox="1"/>
          <p:nvPr/>
        </p:nvSpPr>
        <p:spPr>
          <a:xfrm>
            <a:off x="2112981" y="4378651"/>
            <a:ext cx="546970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A4F858C0-8960-A58A-41A0-94D29E7C7B91}"/>
              </a:ext>
            </a:extLst>
          </p:cNvPr>
          <p:cNvSpPr txBox="1"/>
          <p:nvPr/>
        </p:nvSpPr>
        <p:spPr>
          <a:xfrm>
            <a:off x="1638038" y="1421344"/>
            <a:ext cx="3599146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7030A0"/>
                </a:solidFill>
                <a:latin typeface="Consolas" panose="020B0609020204030204" pitchFamily="49" charset="0"/>
              </a:rPr>
              <a:t>class </a:t>
            </a:r>
            <a:r>
              <a:rPr lang="en-PH" sz="2500" dirty="0">
                <a:solidFill>
                  <a:srgbClr val="0070C0"/>
                </a:solidFill>
                <a:latin typeface="Consolas" panose="020B0609020204030204" pitchFamily="49" charset="0"/>
              </a:rPr>
              <a:t>App</a:t>
            </a:r>
            <a:endParaRPr lang="en-PH" sz="2500" dirty="0"/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1ED0268C-EAE4-8984-169D-469B1F4A1ADC}"/>
              </a:ext>
            </a:extLst>
          </p:cNvPr>
          <p:cNvSpPr txBox="1"/>
          <p:nvPr/>
        </p:nvSpPr>
        <p:spPr>
          <a:xfrm>
            <a:off x="3354976" y="1388938"/>
            <a:ext cx="4749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{</a:t>
            </a:r>
            <a:endParaRPr lang="en-PH" sz="2500" dirty="0"/>
          </a:p>
        </p:txBody>
      </p:sp>
      <p:sp>
        <p:nvSpPr>
          <p:cNvPr id="30" name="TextBox 29">
            <a:extLst>
              <a:ext uri="{FF2B5EF4-FFF2-40B4-BE49-F238E27FC236}">
                <a16:creationId xmlns:a16="http://schemas.microsoft.com/office/drawing/2014/main" id="{65D291D2-F916-B3B1-02C2-E93FA4A7BD52}"/>
              </a:ext>
            </a:extLst>
          </p:cNvPr>
          <p:cNvSpPr txBox="1"/>
          <p:nvPr/>
        </p:nvSpPr>
        <p:spPr>
          <a:xfrm>
            <a:off x="1638038" y="4952219"/>
            <a:ext cx="474943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latin typeface="Consolas" panose="020B0609020204030204" pitchFamily="49" charset="0"/>
              </a:rPr>
              <a:t>}</a:t>
            </a:r>
            <a:endParaRPr lang="en-PH" sz="2500" dirty="0"/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id="{77551F81-3E0C-F1EF-A8DD-15AB8D579127}"/>
              </a:ext>
            </a:extLst>
          </p:cNvPr>
          <p:cNvSpPr txBox="1"/>
          <p:nvPr/>
        </p:nvSpPr>
        <p:spPr>
          <a:xfrm>
            <a:off x="2570280" y="2780122"/>
            <a:ext cx="52656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>
                <a:solidFill>
                  <a:srgbClr val="00B0F0"/>
                </a:solidFill>
                <a:latin typeface="Consolas" panose="020B0609020204030204" pitchFamily="49" charset="0"/>
              </a:rPr>
              <a:t>Fruit</a:t>
            </a:r>
            <a:r>
              <a:rPr lang="en-PH" sz="2500" dirty="0">
                <a:latin typeface="Consolas" panose="020B0609020204030204" pitchFamily="49" charset="0"/>
              </a:rPr>
              <a:t> Mango = </a:t>
            </a:r>
            <a:r>
              <a:rPr lang="en-PH" sz="2500" b="1" dirty="0">
                <a:solidFill>
                  <a:srgbClr val="7030A0"/>
                </a:solidFill>
                <a:latin typeface="Consolas" panose="020B0609020204030204" pitchFamily="49" charset="0"/>
              </a:rPr>
              <a:t>new</a:t>
            </a:r>
            <a:r>
              <a:rPr lang="en-PH" sz="2500" dirty="0">
                <a:latin typeface="Consolas" panose="020B0609020204030204" pitchFamily="49" charset="0"/>
              </a:rPr>
              <a:t> </a:t>
            </a:r>
            <a:r>
              <a:rPr lang="en-PH" sz="2500" dirty="0">
                <a:solidFill>
                  <a:srgbClr val="00B0F0"/>
                </a:solidFill>
                <a:latin typeface="Consolas" panose="020B0609020204030204" pitchFamily="49" charset="0"/>
              </a:rPr>
              <a:t>Fruit</a:t>
            </a:r>
            <a:r>
              <a:rPr lang="en-PH" sz="2500" dirty="0">
                <a:latin typeface="Consolas" panose="020B0609020204030204" pitchFamily="49" charset="0"/>
              </a:rPr>
              <a:t>();</a:t>
            </a:r>
            <a:endParaRPr lang="en-PH" sz="25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id="{AB262461-C91B-A5A1-14FA-9E21B168EC3F}"/>
              </a:ext>
            </a:extLst>
          </p:cNvPr>
          <p:cNvSpPr txBox="1"/>
          <p:nvPr/>
        </p:nvSpPr>
        <p:spPr>
          <a:xfrm>
            <a:off x="2570279" y="3359731"/>
            <a:ext cx="52656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 err="1">
                <a:latin typeface="Consolas" panose="020B0609020204030204" pitchFamily="49" charset="0"/>
              </a:rPr>
              <a:t>Mango.color</a:t>
            </a:r>
            <a:r>
              <a:rPr lang="en-PH" sz="2500" dirty="0">
                <a:latin typeface="Consolas" panose="020B0609020204030204" pitchFamily="49" charset="0"/>
              </a:rPr>
              <a:t> = “Yellow”;</a:t>
            </a:r>
            <a:endParaRPr lang="en-PH" sz="2500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443E5B98-8456-081B-13EC-66EC3537AE77}"/>
              </a:ext>
            </a:extLst>
          </p:cNvPr>
          <p:cNvSpPr txBox="1"/>
          <p:nvPr/>
        </p:nvSpPr>
        <p:spPr>
          <a:xfrm>
            <a:off x="2570278" y="3869191"/>
            <a:ext cx="5265619" cy="4770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2500" dirty="0" err="1">
                <a:latin typeface="Consolas" panose="020B0609020204030204" pitchFamily="49" charset="0"/>
              </a:rPr>
              <a:t>Mango.taste</a:t>
            </a:r>
            <a:r>
              <a:rPr lang="en-PH" sz="2500" dirty="0">
                <a:latin typeface="Consolas" panose="020B0609020204030204" pitchFamily="49" charset="0"/>
              </a:rPr>
              <a:t> = “Sweet”;</a:t>
            </a:r>
            <a:endParaRPr lang="en-PH" sz="2500" dirty="0"/>
          </a:p>
        </p:txBody>
      </p:sp>
    </p:spTree>
    <p:extLst>
      <p:ext uri="{BB962C8B-B14F-4D97-AF65-F5344CB8AC3E}">
        <p14:creationId xmlns:p14="http://schemas.microsoft.com/office/powerpoint/2010/main" val="43815390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10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3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15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5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2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4" presetClass="entr" presetSubtype="1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3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10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2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3" dur="1000" fill="hold"/>
                                        <p:tgtEl>
                                          <p:spTgt spid="3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10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9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3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10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6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7" dur="1000" fill="hold"/>
                                        <p:tgtEl>
                                          <p:spTgt spid="3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2" grpId="0"/>
      <p:bldP spid="13" grpId="0"/>
      <p:bldP spid="14" grpId="0"/>
      <p:bldP spid="15" grpId="0"/>
      <p:bldP spid="17" grpId="0"/>
      <p:bldP spid="28" grpId="0"/>
      <p:bldP spid="29" grpId="0"/>
      <p:bldP spid="30" grpId="0"/>
      <p:bldP spid="31" grpId="0"/>
      <p:bldP spid="32" grpId="0"/>
      <p:bldP spid="33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3EADF12-450D-9612-40B6-ADC8BAF1BA3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E76CF7-9E02-76F0-788E-0661207AF42A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r>
              <a:rPr lang="en-PH" b="1" dirty="0"/>
              <a:t>Methods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22E83F5-E4D3-CE69-B0A5-8E0B88EC06E3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pPr algn="l"/>
            <a:endParaRPr lang="en-PH" sz="2000" dirty="0"/>
          </a:p>
          <a:p>
            <a:pPr algn="l"/>
            <a:r>
              <a:rPr lang="en-PH" sz="2000" dirty="0"/>
              <a:t>Presented by:</a:t>
            </a:r>
          </a:p>
          <a:p>
            <a:pPr algn="l"/>
            <a:r>
              <a:rPr lang="en-PH" sz="2000" dirty="0"/>
              <a:t>Cyrus </a:t>
            </a:r>
            <a:r>
              <a:rPr lang="en-PH" sz="2000" dirty="0" err="1"/>
              <a:t>Rj</a:t>
            </a:r>
            <a:r>
              <a:rPr lang="en-PH" sz="2000" dirty="0"/>
              <a:t> Robles</a:t>
            </a:r>
            <a:endParaRPr lang="en-PH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A142151-4769-B70A-5753-A0F993246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</p:spTree>
    <p:extLst>
      <p:ext uri="{BB962C8B-B14F-4D97-AF65-F5344CB8AC3E}">
        <p14:creationId xmlns:p14="http://schemas.microsoft.com/office/powerpoint/2010/main" val="308133433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6593AEA-7CCC-BA1E-7534-8F4699AA300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42C970-9DD8-F95E-9F15-463BA1AE157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Autofit/>
          </a:bodyPr>
          <a:lstStyle/>
          <a:p>
            <a:r>
              <a:rPr lang="en-PH" sz="5000" b="1" dirty="0"/>
              <a:t>What is Methods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9E4774A-B438-919F-5DFC-B6337FD2CC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020D89D-0FEF-0EE5-3CAF-BE1474E7C16F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t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dirty="0">
                <a:latin typeface="Calibri (Body)"/>
              </a:rPr>
              <a:t>A method is a state of behavior.</a:t>
            </a:r>
            <a:endParaRPr lang="en-US" sz="2500" i="0" dirty="0">
              <a:effectLst/>
              <a:latin typeface="Calibri (Body)"/>
            </a:endParaRPr>
          </a:p>
          <a:p>
            <a:pPr algn="l"/>
            <a:endParaRPr lang="en-US" sz="2500" dirty="0"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i="0" dirty="0">
                <a:effectLst/>
                <a:latin typeface="Calibri (Body)"/>
              </a:rPr>
              <a:t>A program module </a:t>
            </a:r>
          </a:p>
          <a:p>
            <a:pPr algn="l"/>
            <a:endParaRPr lang="en-US" sz="2500" i="0" dirty="0">
              <a:effectLst/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i="0" dirty="0">
                <a:effectLst/>
                <a:latin typeface="Calibri (Body)"/>
              </a:rPr>
              <a:t>Contains a series of statements</a:t>
            </a:r>
          </a:p>
          <a:p>
            <a:pPr algn="l"/>
            <a:r>
              <a:rPr lang="en-US" sz="2500" i="0" dirty="0">
                <a:effectLst/>
                <a:latin typeface="Calibri (Body)"/>
              </a:rPr>
              <a:t> 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r>
              <a:rPr lang="en-US" sz="2500" i="0" dirty="0">
                <a:effectLst/>
                <a:latin typeface="Calibri (Body)"/>
              </a:rPr>
              <a:t>Carries out a task</a:t>
            </a: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500" dirty="0">
              <a:solidFill>
                <a:srgbClr val="273239"/>
              </a:solidFill>
              <a:latin typeface="Calibri (Body)"/>
            </a:endParaRPr>
          </a:p>
          <a:p>
            <a:pPr marL="342900" indent="-342900" algn="l">
              <a:buFont typeface="Wingdings" panose="05000000000000000000" pitchFamily="2" charset="2"/>
              <a:buChar char="q"/>
            </a:pPr>
            <a:endParaRPr lang="en-US" sz="2500" dirty="0">
              <a:latin typeface="Calibri (Body)"/>
            </a:endParaRPr>
          </a:p>
          <a:p>
            <a:pPr algn="l"/>
            <a:endParaRPr lang="en-US" sz="2500" dirty="0">
              <a:latin typeface="Calibri (Body)"/>
            </a:endParaRPr>
          </a:p>
          <a:p>
            <a:pPr algn="l"/>
            <a:endParaRPr lang="en-US" sz="2500" b="0" i="0" dirty="0">
              <a:effectLst/>
              <a:latin typeface="Calibri (Body)"/>
            </a:endParaRPr>
          </a:p>
        </p:txBody>
      </p:sp>
    </p:spTree>
    <p:extLst>
      <p:ext uri="{BB962C8B-B14F-4D97-AF65-F5344CB8AC3E}">
        <p14:creationId xmlns:p14="http://schemas.microsoft.com/office/powerpoint/2010/main" val="355598191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alphaModFix amt="99000"/>
            <a:lum/>
          </a:blip>
          <a:srcRect/>
          <a:stretch>
            <a:fillRect t="89000" r="85000" b="-1000"/>
          </a:stretch>
        </a:blip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0F6D09A-6B8D-F21F-F2CE-944AEBEC51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2AA5BA-AAE2-0624-9C4A-820E81ACA3E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497150"/>
            <a:ext cx="9144000" cy="718459"/>
          </a:xfrm>
        </p:spPr>
        <p:txBody>
          <a:bodyPr>
            <a:normAutofit fontScale="90000"/>
          </a:bodyPr>
          <a:lstStyle/>
          <a:p>
            <a:r>
              <a:rPr lang="en-PH" b="1" dirty="0"/>
              <a:t>Syntax to create a Method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E78AC16-C3C6-5F14-A552-B15C3406629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0" y="6139541"/>
            <a:ext cx="12192000" cy="718459"/>
          </a:xfrm>
          <a:ln w="28575">
            <a:solidFill>
              <a:schemeClr val="accent5">
                <a:lumMod val="50000"/>
              </a:schemeClr>
            </a:solidFill>
          </a:ln>
        </p:spPr>
        <p:txBody>
          <a:bodyPr/>
          <a:lstStyle/>
          <a:p>
            <a:endParaRPr lang="en-PH" dirty="0"/>
          </a:p>
        </p:txBody>
      </p:sp>
      <p:sp>
        <p:nvSpPr>
          <p:cNvPr id="5" name="Title 1">
            <a:extLst>
              <a:ext uri="{FF2B5EF4-FFF2-40B4-BE49-F238E27FC236}">
                <a16:creationId xmlns:a16="http://schemas.microsoft.com/office/drawing/2014/main" id="{3B977F71-8848-F819-1FA9-7A061D4D6057}"/>
              </a:ext>
            </a:extLst>
          </p:cNvPr>
          <p:cNvSpPr txBox="1">
            <a:spLocks/>
          </p:cNvSpPr>
          <p:nvPr/>
        </p:nvSpPr>
        <p:spPr>
          <a:xfrm>
            <a:off x="1524000" y="1516449"/>
            <a:ext cx="9144000" cy="4290585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97500"/>
          </a:bodyPr>
          <a:lstStyle>
            <a:lvl1pPr algn="ctr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60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l"/>
            <a:endParaRPr lang="en-PH" sz="2600" dirty="0">
              <a:latin typeface="Consolas" panose="020B0609020204030204" pitchFamily="49" charset="0"/>
            </a:endParaRPr>
          </a:p>
          <a:p>
            <a:pPr algn="l"/>
            <a:r>
              <a:rPr lang="en-PH" sz="2600" b="0" dirty="0">
                <a:effectLst/>
                <a:latin typeface="Consolas" panose="020B0609020204030204" pitchFamily="49" charset="0"/>
              </a:rPr>
              <a:t>                         </a:t>
            </a:r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dirty="0"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  <a:p>
            <a:pPr algn="l"/>
            <a:endParaRPr lang="en-PH" sz="2000" b="0" dirty="0">
              <a:effectLst/>
              <a:latin typeface="Consolas" panose="020B0609020204030204" pitchFamily="49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42EE316-1314-D090-01E8-7D5CD38DBD91}"/>
              </a:ext>
            </a:extLst>
          </p:cNvPr>
          <p:cNvSpPr txBox="1"/>
          <p:nvPr/>
        </p:nvSpPr>
        <p:spPr>
          <a:xfrm>
            <a:off x="2285325" y="1170762"/>
            <a:ext cx="1321442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solidFill>
                  <a:srgbClr val="7030A0"/>
                </a:solidFill>
                <a:latin typeface="Consolas" panose="020B0609020204030204" pitchFamily="49" charset="0"/>
              </a:rPr>
              <a:t>class</a:t>
            </a:r>
            <a:endParaRPr lang="en-PH" sz="3000" dirty="0">
              <a:solidFill>
                <a:srgbClr val="7030A0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2F88C2A-EA35-62B0-DF62-A3551330DE53}"/>
              </a:ext>
            </a:extLst>
          </p:cNvPr>
          <p:cNvSpPr txBox="1"/>
          <p:nvPr/>
        </p:nvSpPr>
        <p:spPr>
          <a:xfrm>
            <a:off x="3481436" y="1166222"/>
            <a:ext cx="2769930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solidFill>
                  <a:schemeClr val="accent1"/>
                </a:solidFill>
                <a:latin typeface="Consolas" panose="020B0609020204030204" pitchFamily="49" charset="0"/>
              </a:rPr>
              <a:t>Sample Class</a:t>
            </a:r>
            <a:endParaRPr lang="en-PH" sz="3000" dirty="0">
              <a:solidFill>
                <a:schemeClr val="accent1"/>
              </a:solidFill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6905E52-88A9-F66F-441B-F18DDE6AFA34}"/>
              </a:ext>
            </a:extLst>
          </p:cNvPr>
          <p:cNvSpPr txBox="1"/>
          <p:nvPr/>
        </p:nvSpPr>
        <p:spPr>
          <a:xfrm>
            <a:off x="6096000" y="1161682"/>
            <a:ext cx="376433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latin typeface="Consolas" panose="020B0609020204030204" pitchFamily="49" charset="0"/>
              </a:rPr>
              <a:t>{</a:t>
            </a:r>
            <a:endParaRPr lang="en-PH" sz="30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4F114BE-808F-B1E4-5567-2A086B437AD1}"/>
              </a:ext>
            </a:extLst>
          </p:cNvPr>
          <p:cNvSpPr txBox="1"/>
          <p:nvPr/>
        </p:nvSpPr>
        <p:spPr>
          <a:xfrm>
            <a:off x="2473215" y="1630235"/>
            <a:ext cx="7187620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  <a:latin typeface="Consolas" panose="020B0609020204030204" pitchFamily="49" charset="0"/>
              </a:rPr>
              <a:t>public</a:t>
            </a: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30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</a:t>
            </a:r>
            <a:r>
              <a:rPr lang="en-US" sz="3000" dirty="0">
                <a:solidFill>
                  <a:srgbClr val="FFC000"/>
                </a:solidFill>
                <a:latin typeface="Consolas" panose="020B0609020204030204" pitchFamily="49" charset="0"/>
              </a:rPr>
              <a:t>add</a:t>
            </a:r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(int a, int b) {</a:t>
            </a:r>
          </a:p>
          <a:p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   return a + b;</a:t>
            </a:r>
          </a:p>
          <a:p>
            <a:r>
              <a:rPr lang="en-US" sz="3000" dirty="0">
                <a:solidFill>
                  <a:schemeClr val="tx1">
                    <a:lumMod val="95000"/>
                    <a:lumOff val="5000"/>
                  </a:schemeClr>
                </a:solidFill>
                <a:latin typeface="Consolas" panose="020B0609020204030204" pitchFamily="49" charset="0"/>
              </a:rPr>
              <a:t>  }</a:t>
            </a:r>
            <a:endParaRPr lang="en-PH" sz="3000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E9CFE5EE-EFE4-A43C-A64F-8EE514209387}"/>
              </a:ext>
            </a:extLst>
          </p:cNvPr>
          <p:cNvSpPr txBox="1"/>
          <p:nvPr/>
        </p:nvSpPr>
        <p:spPr>
          <a:xfrm>
            <a:off x="2285325" y="5438828"/>
            <a:ext cx="375781" cy="5539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PH" sz="3000" dirty="0">
                <a:latin typeface="Consolas" panose="020B0609020204030204" pitchFamily="49" charset="0"/>
              </a:rPr>
              <a:t>}</a:t>
            </a:r>
            <a:endParaRPr lang="en-PH" sz="3000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ECACF3FE-6DB4-8B85-A37E-D026A01845F4}"/>
              </a:ext>
            </a:extLst>
          </p:cNvPr>
          <p:cNvSpPr txBox="1"/>
          <p:nvPr/>
        </p:nvSpPr>
        <p:spPr>
          <a:xfrm>
            <a:off x="2473214" y="2979970"/>
            <a:ext cx="9254959" cy="24006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000" dirty="0">
                <a:solidFill>
                  <a:srgbClr val="7030A0"/>
                </a:solidFill>
                <a:latin typeface="Consolas" panose="020B0609020204030204" pitchFamily="49" charset="0"/>
              </a:rPr>
              <a:t>public static void</a:t>
            </a:r>
            <a:r>
              <a:rPr lang="en-US" sz="3000" dirty="0">
                <a:latin typeface="Consolas" panose="020B0609020204030204" pitchFamily="49" charset="0"/>
              </a:rPr>
              <a:t> </a:t>
            </a:r>
            <a:r>
              <a:rPr lang="en-US" sz="3000" dirty="0">
                <a:solidFill>
                  <a:srgbClr val="FFC000"/>
                </a:solidFill>
                <a:latin typeface="Consolas" panose="020B0609020204030204" pitchFamily="49" charset="0"/>
              </a:rPr>
              <a:t>main</a:t>
            </a:r>
            <a:r>
              <a:rPr lang="en-US" sz="3000" dirty="0">
                <a:latin typeface="Consolas" panose="020B0609020204030204" pitchFamily="49" charset="0"/>
              </a:rPr>
              <a:t>(String[] </a:t>
            </a:r>
            <a:r>
              <a:rPr lang="en-US" sz="3000" dirty="0" err="1">
                <a:latin typeface="Consolas" panose="020B0609020204030204" pitchFamily="49" charset="0"/>
              </a:rPr>
              <a:t>args</a:t>
            </a:r>
            <a:r>
              <a:rPr lang="en-US" sz="3000" dirty="0">
                <a:latin typeface="Consolas" panose="020B0609020204030204" pitchFamily="49" charset="0"/>
              </a:rPr>
              <a:t>) {</a:t>
            </a:r>
          </a:p>
          <a:p>
            <a:r>
              <a:rPr lang="en-US" sz="3000" dirty="0">
                <a:latin typeface="Consolas" panose="020B0609020204030204" pitchFamily="49" charset="0"/>
              </a:rPr>
              <a:t>    </a:t>
            </a:r>
            <a:r>
              <a:rPr lang="en-US" sz="3000" dirty="0" err="1">
                <a:latin typeface="Consolas" panose="020B0609020204030204" pitchFamily="49" charset="0"/>
              </a:rPr>
              <a:t>MathUtils</a:t>
            </a:r>
            <a:r>
              <a:rPr lang="en-US" sz="3000" dirty="0">
                <a:latin typeface="Consolas" panose="020B0609020204030204" pitchFamily="49" charset="0"/>
              </a:rPr>
              <a:t> util = </a:t>
            </a:r>
            <a:r>
              <a:rPr lang="en-US" sz="3000" dirty="0">
                <a:solidFill>
                  <a:srgbClr val="7030A0"/>
                </a:solidFill>
                <a:latin typeface="Consolas" panose="020B0609020204030204" pitchFamily="49" charset="0"/>
              </a:rPr>
              <a:t>new</a:t>
            </a:r>
            <a:r>
              <a:rPr lang="en-US" sz="3000" dirty="0">
                <a:latin typeface="Consolas" panose="020B0609020204030204" pitchFamily="49" charset="0"/>
              </a:rPr>
              <a:t> </a:t>
            </a:r>
            <a:r>
              <a:rPr lang="en-US" sz="3000" dirty="0" err="1">
                <a:latin typeface="Consolas" panose="020B0609020204030204" pitchFamily="49" charset="0"/>
              </a:rPr>
              <a:t>MathUtils</a:t>
            </a:r>
            <a:r>
              <a:rPr lang="en-US" sz="3000" dirty="0">
                <a:latin typeface="Consolas" panose="020B0609020204030204" pitchFamily="49" charset="0"/>
              </a:rPr>
              <a:t>();</a:t>
            </a:r>
          </a:p>
          <a:p>
            <a:r>
              <a:rPr lang="en-US" sz="3000" dirty="0">
                <a:latin typeface="Consolas" panose="020B0609020204030204" pitchFamily="49" charset="0"/>
              </a:rPr>
              <a:t>    </a:t>
            </a:r>
            <a:r>
              <a:rPr lang="en-US" sz="3000" dirty="0">
                <a:solidFill>
                  <a:srgbClr val="7030A0"/>
                </a:solidFill>
                <a:latin typeface="Consolas" panose="020B0609020204030204" pitchFamily="49" charset="0"/>
              </a:rPr>
              <a:t>int</a:t>
            </a:r>
            <a:r>
              <a:rPr lang="en-US" sz="3000" dirty="0">
                <a:latin typeface="Consolas" panose="020B0609020204030204" pitchFamily="49" charset="0"/>
              </a:rPr>
              <a:t> result = </a:t>
            </a:r>
            <a:r>
              <a:rPr lang="en-US" sz="3000" dirty="0" err="1">
                <a:latin typeface="Consolas" panose="020B0609020204030204" pitchFamily="49" charset="0"/>
              </a:rPr>
              <a:t>util.add</a:t>
            </a:r>
            <a:r>
              <a:rPr lang="en-US" sz="3000" dirty="0">
                <a:latin typeface="Consolas" panose="020B0609020204030204" pitchFamily="49" charset="0"/>
              </a:rPr>
              <a:t>(5, 3);</a:t>
            </a:r>
          </a:p>
          <a:p>
            <a:r>
              <a:rPr lang="en-US" sz="3000" dirty="0">
                <a:latin typeface="Consolas" panose="020B0609020204030204" pitchFamily="49" charset="0"/>
              </a:rPr>
              <a:t>    </a:t>
            </a:r>
            <a:r>
              <a:rPr lang="en-US" sz="3000" dirty="0" err="1">
                <a:latin typeface="Consolas" panose="020B0609020204030204" pitchFamily="49" charset="0"/>
              </a:rPr>
              <a:t>System.</a:t>
            </a:r>
            <a:r>
              <a:rPr lang="en-US" sz="3000" i="1" dirty="0" err="1">
                <a:latin typeface="Consolas" panose="020B0609020204030204" pitchFamily="49" charset="0"/>
              </a:rPr>
              <a:t>out</a:t>
            </a:r>
            <a:r>
              <a:rPr lang="en-US" sz="3000" dirty="0" err="1">
                <a:latin typeface="Consolas" panose="020B0609020204030204" pitchFamily="49" charset="0"/>
              </a:rPr>
              <a:t>.println</a:t>
            </a:r>
            <a:r>
              <a:rPr lang="en-US" sz="3000" dirty="0">
                <a:latin typeface="Consolas" panose="020B0609020204030204" pitchFamily="49" charset="0"/>
              </a:rPr>
              <a:t>(</a:t>
            </a:r>
            <a:r>
              <a:rPr lang="en-US" sz="3000" dirty="0">
                <a:solidFill>
                  <a:srgbClr val="00B050"/>
                </a:solidFill>
                <a:latin typeface="Consolas" panose="020B0609020204030204" pitchFamily="49" charset="0"/>
              </a:rPr>
              <a:t>"Sum: " </a:t>
            </a:r>
            <a:r>
              <a:rPr lang="en-US" sz="3000" dirty="0">
                <a:latin typeface="Consolas" panose="020B0609020204030204" pitchFamily="49" charset="0"/>
              </a:rPr>
              <a:t>+ result);</a:t>
            </a:r>
          </a:p>
          <a:p>
            <a:r>
              <a:rPr lang="en-US" sz="3000" dirty="0">
                <a:latin typeface="Consolas" panose="020B0609020204030204" pitchFamily="49" charset="0"/>
              </a:rPr>
              <a:t>  }</a:t>
            </a:r>
            <a:endParaRPr lang="en-PH" sz="3000" dirty="0"/>
          </a:p>
        </p:txBody>
      </p:sp>
    </p:spTree>
    <p:extLst>
      <p:ext uri="{BB962C8B-B14F-4D97-AF65-F5344CB8AC3E}">
        <p14:creationId xmlns:p14="http://schemas.microsoft.com/office/powerpoint/2010/main" val="240666049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  <p:par>
                                <p:cTn id="20" presetID="42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6" grpId="0"/>
      <p:bldP spid="9" grpId="0"/>
      <p:bldP spid="10" grpId="0"/>
      <p:bldP spid="11" grpId="0"/>
      <p:bldP spid="7" grpId="0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0BE22A5FA3A2044CB9CD88DCBEA97603" ma:contentTypeVersion="14" ma:contentTypeDescription="Create a new document." ma:contentTypeScope="" ma:versionID="add9614137543b78dcbd012fba14612c">
  <xsd:schema xmlns:xsd="http://www.w3.org/2001/XMLSchema" xmlns:xs="http://www.w3.org/2001/XMLSchema" xmlns:p="http://schemas.microsoft.com/office/2006/metadata/properties" xmlns:ns2="9a780629-4d19-4bb9-9056-9a589cd4d271" xmlns:ns3="6de439ce-b7a3-4fe1-9235-7bacf5677901" targetNamespace="http://schemas.microsoft.com/office/2006/metadata/properties" ma:root="true" ma:fieldsID="ff15d42874a67466ae73f4094a57046d" ns2:_="" ns3:_="">
    <xsd:import namespace="9a780629-4d19-4bb9-9056-9a589cd4d271"/>
    <xsd:import namespace="6de439ce-b7a3-4fe1-9235-7bacf5677901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ObjectDetectorVersions" minOccurs="0"/>
                <xsd:element ref="ns2:lcf76f155ced4ddcb4097134ff3c332f" minOccurs="0"/>
                <xsd:element ref="ns3:TaxCatchAll" minOccurs="0"/>
                <xsd:element ref="ns2:MediaServiceDateTaken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SearchPropertie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9a780629-4d19-4bb9-9056-9a589cd4d271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bjectDetectorVersions" ma:index="10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lcf76f155ced4ddcb4097134ff3c332f" ma:index="12" nillable="true" ma:taxonomy="true" ma:internalName="lcf76f155ced4ddcb4097134ff3c332f" ma:taxonomyFieldName="MediaServiceImageTags" ma:displayName="Image Tags" ma:readOnly="false" ma:fieldId="{5cf76f15-5ced-4ddc-b409-7134ff3c332f}" ma:taxonomyMulti="true" ma:sspId="0475df7c-731a-48f9-b587-d0ce67fd3439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CR" ma:index="15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6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7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0" nillable="true" ma:displayName="MediaLengthInSeconds" ma:hidden="true" ma:internalName="MediaLengthInSeconds" ma:readOnly="true">
      <xsd:simpleType>
        <xsd:restriction base="dms:Unknown"/>
      </xsd:simpleType>
    </xsd:element>
    <xsd:element name="MediaServiceSearchProperties" ma:index="21" nillable="true" ma:displayName="MediaServiceSearchProperties" ma:hidden="true" ma:internalName="MediaServiceSearchPropertie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6de439ce-b7a3-4fe1-9235-7bacf5677901" elementFormDefault="qualified">
    <xsd:import namespace="http://schemas.microsoft.com/office/2006/documentManagement/types"/>
    <xsd:import namespace="http://schemas.microsoft.com/office/infopath/2007/PartnerControls"/>
    <xsd:element name="TaxCatchAll" ma:index="13" nillable="true" ma:displayName="Taxonomy Catch All Column" ma:hidden="true" ma:list="{7220bbd5-5dd0-4cc5-8ff1-a93b22e2889e}" ma:internalName="TaxCatchAll" ma:showField="CatchAllData" ma:web="6de439ce-b7a3-4fe1-9235-7bacf567790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8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9" nillable="true" ma:displayName="Shared With Details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6de439ce-b7a3-4fe1-9235-7bacf5677901" xsi:nil="true"/>
    <lcf76f155ced4ddcb4097134ff3c332f xmlns="9a780629-4d19-4bb9-9056-9a589cd4d271">
      <Terms xmlns="http://schemas.microsoft.com/office/infopath/2007/PartnerControls"/>
    </lcf76f155ced4ddcb4097134ff3c332f>
  </documentManagement>
</p:properties>
</file>

<file path=customXml/itemProps1.xml><?xml version="1.0" encoding="utf-8"?>
<ds:datastoreItem xmlns:ds="http://schemas.openxmlformats.org/officeDocument/2006/customXml" ds:itemID="{21CA40A7-DF97-4CC6-A261-6EE9A8AD4BFF}"/>
</file>

<file path=customXml/itemProps2.xml><?xml version="1.0" encoding="utf-8"?>
<ds:datastoreItem xmlns:ds="http://schemas.openxmlformats.org/officeDocument/2006/customXml" ds:itemID="{E4C6A5AB-5D3A-4640-A39A-5E904B401A91}"/>
</file>

<file path=customXml/itemProps3.xml><?xml version="1.0" encoding="utf-8"?>
<ds:datastoreItem xmlns:ds="http://schemas.openxmlformats.org/officeDocument/2006/customXml" ds:itemID="{8F0AD36E-292C-4CC0-B488-F5A5E82126A2}"/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1081</TotalTime>
  <Words>262</Words>
  <Application>Microsoft Office PowerPoint</Application>
  <PresentationFormat>Widescreen</PresentationFormat>
  <Paragraphs>113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6" baseType="lpstr">
      <vt:lpstr>Arial</vt:lpstr>
      <vt:lpstr>Calibri</vt:lpstr>
      <vt:lpstr>Calibri (Body)</vt:lpstr>
      <vt:lpstr>Calibri Light</vt:lpstr>
      <vt:lpstr>Consolas</vt:lpstr>
      <vt:lpstr>Wingdings</vt:lpstr>
      <vt:lpstr>Office Theme</vt:lpstr>
      <vt:lpstr>Classes and Objects</vt:lpstr>
      <vt:lpstr>What are Classes and Objects?</vt:lpstr>
      <vt:lpstr>What are Classes and Objects?</vt:lpstr>
      <vt:lpstr>Syntax to create a Class</vt:lpstr>
      <vt:lpstr>Syntax to create a Class</vt:lpstr>
      <vt:lpstr>Syntax to create an Object</vt:lpstr>
      <vt:lpstr>Methods</vt:lpstr>
      <vt:lpstr>What is Methods</vt:lpstr>
      <vt:lpstr>Syntax to create a Method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SLY Ponio</dc:creator>
  <cp:lastModifiedBy>Cyrus RJ W. Robles</cp:lastModifiedBy>
  <cp:revision>133</cp:revision>
  <dcterms:created xsi:type="dcterms:W3CDTF">2022-05-11T03:47:05Z</dcterms:created>
  <dcterms:modified xsi:type="dcterms:W3CDTF">2024-04-01T15:41:34Z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0x0101000BE22A5FA3A2044CB9CD88DCBEA97603</vt:lpwstr>
  </property>
</Properties>
</file>