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314" r:id="rId3"/>
    <p:sldId id="321" r:id="rId4"/>
    <p:sldId id="315" r:id="rId5"/>
    <p:sldId id="316" r:id="rId6"/>
    <p:sldId id="322" r:id="rId7"/>
    <p:sldId id="323" r:id="rId8"/>
    <p:sldId id="324" r:id="rId9"/>
    <p:sldId id="325" r:id="rId10"/>
    <p:sldId id="326" r:id="rId11"/>
    <p:sldId id="327" r:id="rId12"/>
    <p:sldId id="329" r:id="rId13"/>
    <p:sldId id="330" r:id="rId14"/>
    <p:sldId id="331" r:id="rId15"/>
    <p:sldId id="319" r:id="rId16"/>
    <p:sldId id="332" r:id="rId17"/>
    <p:sldId id="333" r:id="rId18"/>
    <p:sldId id="334" r:id="rId19"/>
    <p:sldId id="335" r:id="rId20"/>
    <p:sldId id="336" r:id="rId21"/>
    <p:sldId id="337" r:id="rId22"/>
    <p:sldId id="32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3" autoAdjust="0"/>
    <p:restoredTop sz="94137" autoAdjust="0"/>
  </p:normalViewPr>
  <p:slideViewPr>
    <p:cSldViewPr snapToGrid="0">
      <p:cViewPr varScale="1">
        <p:scale>
          <a:sx n="104" d="100"/>
          <a:sy n="104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251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531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4452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8889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0718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1528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6816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28543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251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621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8573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4602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2515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5411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7620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6835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2390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0881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896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291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W. Robles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Meaning </a:t>
            </a:r>
            <a:r>
              <a:rPr lang="en-PH" b="1"/>
              <a:t>of “Inherit”</a:t>
            </a:r>
            <a:endParaRPr lang="en-PH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dirty="0">
                <a:solidFill>
                  <a:srgbClr val="212529"/>
                </a:solidFill>
                <a:latin typeface="Calibri (Body)"/>
              </a:rPr>
              <a:t>T</a:t>
            </a:r>
            <a:r>
              <a:rPr lang="en-US" sz="2500" b="0" i="0" dirty="0">
                <a:solidFill>
                  <a:srgbClr val="212529"/>
                </a:solidFill>
                <a:effectLst/>
                <a:latin typeface="Calibri (Body)"/>
              </a:rPr>
              <a:t>o receive from a parent or ancestor by genetic transmission.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12529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1252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12529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1252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12529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1252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12529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1252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12529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12529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</p:txBody>
      </p:sp>
      <p:pic>
        <p:nvPicPr>
          <p:cNvPr id="7" name="Picture 6" descr="A picture containing cat, indoor, domestic cat, mammal&#10;&#10;Description automatically generated">
            <a:extLst>
              <a:ext uri="{FF2B5EF4-FFF2-40B4-BE49-F238E27FC236}">
                <a16:creationId xmlns:a16="http://schemas.microsoft.com/office/drawing/2014/main" id="{A5C93F09-79A0-FE64-04DC-02E30C780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590148"/>
            <a:ext cx="3810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8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What is Inheritance?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000000"/>
                </a:solidFill>
                <a:effectLst/>
                <a:latin typeface="Calibri (Body)"/>
              </a:rPr>
              <a:t>In Java, it is possible to inherit attributes and methods from one class to another. </a:t>
            </a:r>
          </a:p>
          <a:p>
            <a:pPr algn="l"/>
            <a:endParaRPr lang="en-US" sz="2500" b="0" i="0" dirty="0"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The new class that is created is known as a </a:t>
            </a:r>
            <a:r>
              <a:rPr lang="en-US" sz="2500" b="1" i="0" dirty="0">
                <a:effectLst/>
                <a:latin typeface="Calibri (Body)"/>
              </a:rPr>
              <a:t>subclass</a:t>
            </a:r>
            <a:r>
              <a:rPr lang="en-US" sz="2500" b="0" i="0" dirty="0">
                <a:effectLst/>
                <a:latin typeface="Calibri (Body)"/>
              </a:rPr>
              <a:t> (child or derived class) and the existing class from where the child class is derived is known as a </a:t>
            </a:r>
            <a:r>
              <a:rPr lang="en-US" sz="2500" b="1" i="0" dirty="0">
                <a:effectLst/>
                <a:latin typeface="Calibri (Body)"/>
              </a:rPr>
              <a:t>superclass</a:t>
            </a:r>
            <a:r>
              <a:rPr lang="en-US" sz="2500" b="0" i="0" dirty="0">
                <a:effectLst/>
                <a:latin typeface="Calibri (Body)"/>
              </a:rPr>
              <a:t> (parent or base class).</a:t>
            </a:r>
          </a:p>
          <a:p>
            <a:pPr algn="l"/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000000"/>
                </a:solidFill>
                <a:effectLst/>
                <a:latin typeface="Calibri (Body)"/>
              </a:rPr>
              <a:t>To inherit from a class, the </a:t>
            </a:r>
            <a:r>
              <a:rPr lang="en-US" sz="2500" b="1" i="0" dirty="0">
                <a:solidFill>
                  <a:srgbClr val="000000"/>
                </a:solidFill>
                <a:effectLst/>
                <a:latin typeface="Calibri (Body)"/>
              </a:rPr>
              <a:t>extends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Calibri (Body)"/>
              </a:rPr>
              <a:t> keyword is used.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25260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Inheritance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5B145-4EA6-DC6D-0B0B-7BE0261680E7}"/>
              </a:ext>
            </a:extLst>
          </p:cNvPr>
          <p:cNvSpPr txBox="1"/>
          <p:nvPr/>
        </p:nvSpPr>
        <p:spPr>
          <a:xfrm>
            <a:off x="1294271" y="3067065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7F118-337D-200D-E30E-0D7D65F4A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114500"/>
              </p:ext>
            </p:extLst>
          </p:nvPr>
        </p:nvGraphicFramePr>
        <p:xfrm>
          <a:off x="5269456" y="1318377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700" dirty="0"/>
                        <a:t>String surname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 err="1"/>
                        <a:t>getSurname</a:t>
                      </a:r>
                      <a:r>
                        <a:rPr lang="en-PH" dirty="0"/>
                        <a:t>()</a:t>
                      </a:r>
                    </a:p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2B499CF-6619-42A0-CF89-5BEC52AE8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264398"/>
              </p:ext>
            </p:extLst>
          </p:nvPr>
        </p:nvGraphicFramePr>
        <p:xfrm>
          <a:off x="1255127" y="3616847"/>
          <a:ext cx="165308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DCB1AB-6938-9007-BECC-E0B93F95E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83246"/>
              </p:ext>
            </p:extLst>
          </p:nvPr>
        </p:nvGraphicFramePr>
        <p:xfrm>
          <a:off x="9209066" y="3616847"/>
          <a:ext cx="165308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1C1331C-8FD0-D3B3-EC85-FE7FD5A73598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rot="5400000" flipH="1" flipV="1">
            <a:off x="2865418" y="1212810"/>
            <a:ext cx="1620290" cy="318778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4755153-9161-3AD6-CB38-9B698341DA4F}"/>
              </a:ext>
            </a:extLst>
          </p:cNvPr>
          <p:cNvCxnSpPr>
            <a:cxnSpLocks/>
            <a:stCxn id="9" idx="0"/>
            <a:endCxn id="6" idx="3"/>
          </p:cNvCxnSpPr>
          <p:nvPr/>
        </p:nvCxnSpPr>
        <p:spPr>
          <a:xfrm rot="16200000" flipV="1">
            <a:off x="7668932" y="1250169"/>
            <a:ext cx="1620290" cy="311306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8AEA59-97B8-8D53-6FE0-658CFA46FBFC}"/>
              </a:ext>
            </a:extLst>
          </p:cNvPr>
          <p:cNvSpPr txBox="1"/>
          <p:nvPr/>
        </p:nvSpPr>
        <p:spPr>
          <a:xfrm>
            <a:off x="1033145" y="4918521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accent2"/>
                </a:solidFill>
              </a:rPr>
              <a:t>Subclass/Child Class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56901-3A4C-1F00-1E6E-583D9E193EE0}"/>
              </a:ext>
            </a:extLst>
          </p:cNvPr>
          <p:cNvSpPr txBox="1"/>
          <p:nvPr/>
        </p:nvSpPr>
        <p:spPr>
          <a:xfrm>
            <a:off x="2761002" y="1485142"/>
            <a:ext cx="243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00B050"/>
                </a:solidFill>
              </a:rPr>
              <a:t>Superclass/Parent Class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9F3CB-43C8-C9C0-AD80-35E8BAD66CC8}"/>
              </a:ext>
            </a:extLst>
          </p:cNvPr>
          <p:cNvSpPr txBox="1"/>
          <p:nvPr/>
        </p:nvSpPr>
        <p:spPr>
          <a:xfrm>
            <a:off x="9061806" y="4920576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accent2"/>
                </a:solidFill>
              </a:rPr>
              <a:t>Subclass/Child Class</a:t>
            </a:r>
          </a:p>
        </p:txBody>
      </p:sp>
    </p:spTree>
    <p:extLst>
      <p:ext uri="{BB962C8B-B14F-4D97-AF65-F5344CB8AC3E}">
        <p14:creationId xmlns:p14="http://schemas.microsoft.com/office/powerpoint/2010/main" val="36275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Parent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539FE-74F9-CD0E-C270-B52FE5934003}"/>
              </a:ext>
            </a:extLst>
          </p:cNvPr>
          <p:cNvSpPr txBox="1"/>
          <p:nvPr/>
        </p:nvSpPr>
        <p:spPr>
          <a:xfrm>
            <a:off x="1524001" y="1647024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C7C6A-5089-A1C3-1B17-E7CB1143B753}"/>
              </a:ext>
            </a:extLst>
          </p:cNvPr>
          <p:cNvSpPr txBox="1"/>
          <p:nvPr/>
        </p:nvSpPr>
        <p:spPr>
          <a:xfrm>
            <a:off x="2536658" y="1639056"/>
            <a:ext cx="12524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Daddy</a:t>
            </a:r>
            <a:endParaRPr lang="en-PH" sz="25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0DF3A-1BC0-9FDF-9C97-E38380563D53}"/>
              </a:ext>
            </a:extLst>
          </p:cNvPr>
          <p:cNvSpPr txBox="1"/>
          <p:nvPr/>
        </p:nvSpPr>
        <p:spPr>
          <a:xfrm>
            <a:off x="3600905" y="1638907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97C0-7502-8505-817E-BC00E34EC180}"/>
              </a:ext>
            </a:extLst>
          </p:cNvPr>
          <p:cNvSpPr txBox="1"/>
          <p:nvPr/>
        </p:nvSpPr>
        <p:spPr>
          <a:xfrm>
            <a:off x="1899781" y="2260003"/>
            <a:ext cx="47139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protected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</a:t>
            </a:r>
            <a:r>
              <a:rPr lang="en-PH" sz="2500" dirty="0">
                <a:latin typeface="Consolas" panose="020B0609020204030204" pitchFamily="49" charset="0"/>
              </a:rPr>
              <a:t> surname;</a:t>
            </a:r>
          </a:p>
          <a:p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30E93-D717-22BA-6562-7878FACB006E}"/>
              </a:ext>
            </a:extLst>
          </p:cNvPr>
          <p:cNvSpPr txBox="1"/>
          <p:nvPr/>
        </p:nvSpPr>
        <p:spPr>
          <a:xfrm>
            <a:off x="1524000" y="464232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7D906-398A-6B34-51E5-036F269F65BB}"/>
              </a:ext>
            </a:extLst>
          </p:cNvPr>
          <p:cNvSpPr txBox="1"/>
          <p:nvPr/>
        </p:nvSpPr>
        <p:spPr>
          <a:xfrm>
            <a:off x="1899781" y="2864912"/>
            <a:ext cx="511479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 </a:t>
            </a:r>
            <a:r>
              <a:rPr lang="en-PH" sz="2500" dirty="0" err="1">
                <a:solidFill>
                  <a:srgbClr val="0070C0"/>
                </a:solidFill>
                <a:latin typeface="Consolas" panose="020B0609020204030204" pitchFamily="49" charset="0"/>
              </a:rPr>
              <a:t>getSurname</a:t>
            </a:r>
            <a:r>
              <a:rPr lang="en-PH" sz="2500" dirty="0">
                <a:latin typeface="Consolas" panose="020B0609020204030204" pitchFamily="49" charset="0"/>
              </a:rPr>
              <a:t>() {</a:t>
            </a:r>
          </a:p>
          <a:p>
            <a:endParaRPr lang="en-PH" sz="2500" dirty="0">
              <a:latin typeface="Consolas" panose="020B0609020204030204" pitchFamily="49" charset="0"/>
            </a:endParaRPr>
          </a:p>
          <a:p>
            <a:r>
              <a:rPr lang="en-PH" sz="2500" dirty="0">
                <a:latin typeface="Consolas" panose="020B0609020204030204" pitchFamily="49" charset="0"/>
              </a:rPr>
              <a:t>	return </a:t>
            </a:r>
            <a:r>
              <a:rPr lang="en-PH" sz="2500" dirty="0" err="1">
                <a:latin typeface="Consolas" panose="020B0609020204030204" pitchFamily="49" charset="0"/>
              </a:rPr>
              <a:t>this.surname</a:t>
            </a:r>
            <a:r>
              <a:rPr lang="en-PH" sz="2500" dirty="0">
                <a:latin typeface="Consolas" panose="020B0609020204030204" pitchFamily="49" charset="0"/>
              </a:rPr>
              <a:t>;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}</a:t>
            </a:r>
          </a:p>
          <a:p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253345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Child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539FE-74F9-CD0E-C270-B52FE5934003}"/>
              </a:ext>
            </a:extLst>
          </p:cNvPr>
          <p:cNvSpPr txBox="1"/>
          <p:nvPr/>
        </p:nvSpPr>
        <p:spPr>
          <a:xfrm>
            <a:off x="1524001" y="1647024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C7C6A-5089-A1C3-1B17-E7CB1143B753}"/>
              </a:ext>
            </a:extLst>
          </p:cNvPr>
          <p:cNvSpPr txBox="1"/>
          <p:nvPr/>
        </p:nvSpPr>
        <p:spPr>
          <a:xfrm>
            <a:off x="2586763" y="1646008"/>
            <a:ext cx="32996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Son 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extends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 Daddy</a:t>
            </a:r>
            <a:endParaRPr lang="en-PH" sz="25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0DF3A-1BC0-9FDF-9C97-E38380563D53}"/>
              </a:ext>
            </a:extLst>
          </p:cNvPr>
          <p:cNvSpPr txBox="1"/>
          <p:nvPr/>
        </p:nvSpPr>
        <p:spPr>
          <a:xfrm>
            <a:off x="5886389" y="1644992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97C0-7502-8505-817E-BC00E34EC180}"/>
              </a:ext>
            </a:extLst>
          </p:cNvPr>
          <p:cNvSpPr txBox="1"/>
          <p:nvPr/>
        </p:nvSpPr>
        <p:spPr>
          <a:xfrm>
            <a:off x="1899781" y="2260003"/>
            <a:ext cx="42880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</a:t>
            </a:r>
            <a:r>
              <a:rPr lang="en-PH" sz="2500" dirty="0">
                <a:latin typeface="Consolas" panose="020B0609020204030204" pitchFamily="49" charset="0"/>
              </a:rPr>
              <a:t> name;</a:t>
            </a:r>
          </a:p>
          <a:p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30E93-D717-22BA-6562-7878FACB006E}"/>
              </a:ext>
            </a:extLst>
          </p:cNvPr>
          <p:cNvSpPr txBox="1"/>
          <p:nvPr/>
        </p:nvSpPr>
        <p:spPr>
          <a:xfrm>
            <a:off x="1524000" y="2809120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60C12-E3DC-BC51-C875-92DA2F894A7A}"/>
              </a:ext>
            </a:extLst>
          </p:cNvPr>
          <p:cNvSpPr txBox="1"/>
          <p:nvPr/>
        </p:nvSpPr>
        <p:spPr>
          <a:xfrm>
            <a:off x="1524001" y="3597780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348D5-11EA-B893-6506-CF59C1DE7343}"/>
              </a:ext>
            </a:extLst>
          </p:cNvPr>
          <p:cNvSpPr txBox="1"/>
          <p:nvPr/>
        </p:nvSpPr>
        <p:spPr>
          <a:xfrm>
            <a:off x="2586763" y="3597780"/>
            <a:ext cx="40660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 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extends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 Daddy</a:t>
            </a:r>
            <a:endParaRPr lang="en-PH" sz="2500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342CF-CA85-9F65-E4FC-1912B798FF5A}"/>
              </a:ext>
            </a:extLst>
          </p:cNvPr>
          <p:cNvSpPr txBox="1"/>
          <p:nvPr/>
        </p:nvSpPr>
        <p:spPr>
          <a:xfrm>
            <a:off x="6652819" y="3597780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770C0-3B4C-AB3B-A154-F8C30FBFE016}"/>
              </a:ext>
            </a:extLst>
          </p:cNvPr>
          <p:cNvSpPr txBox="1"/>
          <p:nvPr/>
        </p:nvSpPr>
        <p:spPr>
          <a:xfrm>
            <a:off x="1899781" y="4210759"/>
            <a:ext cx="42880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</a:t>
            </a:r>
            <a:r>
              <a:rPr lang="en-PH" sz="2500" dirty="0">
                <a:latin typeface="Consolas" panose="020B0609020204030204" pitchFamily="49" charset="0"/>
              </a:rPr>
              <a:t> name;</a:t>
            </a:r>
          </a:p>
          <a:p>
            <a:endParaRPr lang="en-PH" sz="2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91A50-C9EF-0DB5-4A73-4DB05FF83E5A}"/>
              </a:ext>
            </a:extLst>
          </p:cNvPr>
          <p:cNvSpPr txBox="1"/>
          <p:nvPr/>
        </p:nvSpPr>
        <p:spPr>
          <a:xfrm>
            <a:off x="1524000" y="4759876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295780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  <p:bldP spid="10" grpId="0"/>
      <p:bldP spid="5" grpId="0"/>
      <p:bldP spid="12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Protected variables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500" dirty="0">
                <a:solidFill>
                  <a:srgbClr val="000000"/>
                </a:solidFill>
                <a:latin typeface="Calibri (Body)"/>
              </a:rPr>
              <a:t>Variables with a “protected” access modifier </a:t>
            </a:r>
            <a:r>
              <a:rPr lang="en-US" sz="2500" b="1" dirty="0">
                <a:solidFill>
                  <a:srgbClr val="000000"/>
                </a:solidFill>
                <a:latin typeface="Calibri (Body)"/>
              </a:rPr>
              <a:t>can only be accessed by the parent class and its child classes/sub classes</a:t>
            </a:r>
            <a:r>
              <a:rPr lang="en-US" sz="2500" dirty="0">
                <a:solidFill>
                  <a:srgbClr val="000000"/>
                </a:solidFill>
                <a:latin typeface="Calibri (Body)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algn="l"/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latin typeface="Calibri (Body)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4114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The final Non-access modifier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539FE-74F9-CD0E-C270-B52FE5934003}"/>
              </a:ext>
            </a:extLst>
          </p:cNvPr>
          <p:cNvSpPr txBox="1"/>
          <p:nvPr/>
        </p:nvSpPr>
        <p:spPr>
          <a:xfrm>
            <a:off x="1524000" y="1647024"/>
            <a:ext cx="21335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7030A0"/>
                </a:solidFill>
                <a:latin typeface="Consolas" panose="020B0609020204030204" pitchFamily="49" charset="0"/>
              </a:rPr>
              <a:t>final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C7C6A-5089-A1C3-1B17-E7CB1143B753}"/>
              </a:ext>
            </a:extLst>
          </p:cNvPr>
          <p:cNvSpPr txBox="1"/>
          <p:nvPr/>
        </p:nvSpPr>
        <p:spPr>
          <a:xfrm>
            <a:off x="3657599" y="1646875"/>
            <a:ext cx="12524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Daddy</a:t>
            </a:r>
            <a:endParaRPr lang="en-PH" sz="25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0DF3A-1BC0-9FDF-9C97-E38380563D53}"/>
              </a:ext>
            </a:extLst>
          </p:cNvPr>
          <p:cNvSpPr txBox="1"/>
          <p:nvPr/>
        </p:nvSpPr>
        <p:spPr>
          <a:xfrm>
            <a:off x="4721846" y="1646875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97C0-7502-8505-817E-BC00E34EC180}"/>
              </a:ext>
            </a:extLst>
          </p:cNvPr>
          <p:cNvSpPr txBox="1"/>
          <p:nvPr/>
        </p:nvSpPr>
        <p:spPr>
          <a:xfrm>
            <a:off x="1899781" y="2260003"/>
            <a:ext cx="47139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protected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</a:t>
            </a:r>
            <a:r>
              <a:rPr lang="en-PH" sz="2500" dirty="0">
                <a:latin typeface="Consolas" panose="020B0609020204030204" pitchFamily="49" charset="0"/>
              </a:rPr>
              <a:t> surname;</a:t>
            </a:r>
          </a:p>
          <a:p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30E93-D717-22BA-6562-7878FACB006E}"/>
              </a:ext>
            </a:extLst>
          </p:cNvPr>
          <p:cNvSpPr txBox="1"/>
          <p:nvPr/>
        </p:nvSpPr>
        <p:spPr>
          <a:xfrm>
            <a:off x="1524000" y="4664788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7D906-398A-6B34-51E5-036F269F65BB}"/>
              </a:ext>
            </a:extLst>
          </p:cNvPr>
          <p:cNvSpPr txBox="1"/>
          <p:nvPr/>
        </p:nvSpPr>
        <p:spPr>
          <a:xfrm>
            <a:off x="1899781" y="2864912"/>
            <a:ext cx="512732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 </a:t>
            </a:r>
            <a:r>
              <a:rPr lang="en-PH" sz="2500" dirty="0" err="1">
                <a:solidFill>
                  <a:srgbClr val="0070C0"/>
                </a:solidFill>
                <a:latin typeface="Consolas" panose="020B0609020204030204" pitchFamily="49" charset="0"/>
              </a:rPr>
              <a:t>getSurname</a:t>
            </a:r>
            <a:r>
              <a:rPr lang="en-PH" sz="2500" dirty="0">
                <a:latin typeface="Consolas" panose="020B0609020204030204" pitchFamily="49" charset="0"/>
              </a:rPr>
              <a:t>() {</a:t>
            </a:r>
          </a:p>
          <a:p>
            <a:endParaRPr lang="en-PH" sz="2500" dirty="0">
              <a:latin typeface="Consolas" panose="020B0609020204030204" pitchFamily="49" charset="0"/>
            </a:endParaRPr>
          </a:p>
          <a:p>
            <a:r>
              <a:rPr lang="en-PH" sz="2500" dirty="0">
                <a:latin typeface="Consolas" panose="020B0609020204030204" pitchFamily="49" charset="0"/>
              </a:rPr>
              <a:t>	return </a:t>
            </a:r>
            <a:r>
              <a:rPr lang="en-PH" sz="2500" dirty="0" err="1">
                <a:latin typeface="Consolas" panose="020B0609020204030204" pitchFamily="49" charset="0"/>
              </a:rPr>
              <a:t>this.surname</a:t>
            </a:r>
            <a:r>
              <a:rPr lang="en-PH" sz="2500" dirty="0">
                <a:latin typeface="Consolas" panose="020B0609020204030204" pitchFamily="49" charset="0"/>
              </a:rPr>
              <a:t>;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}</a:t>
            </a:r>
          </a:p>
          <a:p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B28C8-00C3-C6C5-1ED8-2D58D4FC2809}"/>
              </a:ext>
            </a:extLst>
          </p:cNvPr>
          <p:cNvSpPr txBox="1"/>
          <p:nvPr/>
        </p:nvSpPr>
        <p:spPr>
          <a:xfrm>
            <a:off x="8273259" y="1660270"/>
            <a:ext cx="285462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This class cannot be inherited by other classes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E69B205B-1F7E-121D-C088-6FFF430E27D7}"/>
              </a:ext>
            </a:extLst>
          </p:cNvPr>
          <p:cNvSpPr/>
          <p:nvPr/>
        </p:nvSpPr>
        <p:spPr>
          <a:xfrm>
            <a:off x="7093723" y="1652840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362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  <p:bldP spid="10" grpId="0"/>
      <p:bldP spid="11" grpId="0"/>
      <p:bldP spid="5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Why use Inheritance?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 </a:t>
            </a:r>
            <a:r>
              <a:rPr lang="en-US" sz="2500" b="1" i="0" dirty="0">
                <a:effectLst/>
                <a:latin typeface="Calibri (Body)"/>
              </a:rPr>
              <a:t>Code reusability</a:t>
            </a:r>
            <a:r>
              <a:rPr lang="en-US" sz="2500" b="0" i="0" dirty="0">
                <a:effectLst/>
                <a:latin typeface="Calibri (Body)"/>
              </a:rPr>
              <a:t>. The code that is present in the parent class can be directly used by the child class. You do not need to rewrite variables and methods.</a:t>
            </a: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9613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Forms of Inheritance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4018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Forms of Inheritance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000000"/>
                </a:solidFill>
                <a:latin typeface="+mn-lt"/>
              </a:rPr>
              <a:t>Single Inheritance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en-PH" sz="2500" b="0" i="0" u="none" strike="noStrike" dirty="0">
                <a:solidFill>
                  <a:srgbClr val="161616"/>
                </a:solidFill>
                <a:effectLst/>
                <a:latin typeface="+mn-lt"/>
              </a:rPr>
              <a:t>a child class is created from a single parent class.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5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000000"/>
                </a:solidFill>
                <a:latin typeface="+mn-lt"/>
              </a:rPr>
              <a:t>Multi-level Inheritance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en-PH" sz="2500" b="0" i="0" u="none" strike="noStrike" dirty="0">
                <a:solidFill>
                  <a:srgbClr val="161616"/>
                </a:solidFill>
                <a:effectLst/>
                <a:latin typeface="+mn-lt"/>
              </a:rPr>
              <a:t>a child class is created from another child class.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5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000000"/>
                </a:solidFill>
                <a:latin typeface="+mn-lt"/>
              </a:rPr>
              <a:t>Hierarchical Inheritance</a:t>
            </a:r>
          </a:p>
          <a:p>
            <a:pPr algn="l">
              <a:lnSpc>
                <a:spcPct val="100000"/>
              </a:lnSpc>
            </a:pPr>
            <a:r>
              <a:rPr lang="en-US" sz="2500" dirty="0">
                <a:latin typeface="+mn-lt"/>
              </a:rPr>
              <a:t>- </a:t>
            </a:r>
            <a:r>
              <a:rPr lang="en-PH" sz="2500" b="0" i="0" u="none" strike="noStrike" dirty="0">
                <a:effectLst/>
                <a:latin typeface="+mn-lt"/>
              </a:rPr>
              <a:t>one class serves as a parent class for more than one child class</a:t>
            </a:r>
            <a:endParaRPr lang="en-US" sz="2500" dirty="0">
              <a:latin typeface="+mn-lt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</a:pPr>
            <a:endParaRPr lang="en-US" sz="25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690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Forms of Inheritance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400" b="1" dirty="0">
                <a:latin typeface="+mn-lt"/>
              </a:rPr>
              <a:t>Multiple Inheritance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en-PH" sz="2400" b="0" i="0" u="none" strike="noStrike" dirty="0">
                <a:effectLst/>
                <a:latin typeface="+mn-lt"/>
              </a:rPr>
              <a:t>one class can have more than one parent class and inherit features from all parent classes. In </a:t>
            </a:r>
            <a:r>
              <a:rPr lang="en-PH" sz="2400" dirty="0">
                <a:latin typeface="+mn-lt"/>
              </a:rPr>
              <a:t>J</a:t>
            </a:r>
            <a:r>
              <a:rPr lang="en-PH" sz="2400" b="0" i="0" u="none" strike="noStrike" dirty="0">
                <a:effectLst/>
                <a:latin typeface="+mn-lt"/>
              </a:rPr>
              <a:t>ava, multiple inheritances can only be implemented. through </a:t>
            </a:r>
            <a:r>
              <a:rPr lang="en-PH" sz="2400" b="1" i="0" u="none" strike="noStrike" dirty="0">
                <a:effectLst/>
                <a:latin typeface="+mn-lt"/>
              </a:rPr>
              <a:t>interfaces.</a:t>
            </a:r>
          </a:p>
          <a:p>
            <a:pPr algn="l">
              <a:lnSpc>
                <a:spcPct val="100000"/>
              </a:lnSpc>
            </a:pPr>
            <a:endParaRPr lang="en-US" sz="2400" b="1" dirty="0">
              <a:latin typeface="+mn-lt"/>
            </a:endParaRPr>
          </a:p>
          <a:p>
            <a:pPr algn="l">
              <a:lnSpc>
                <a:spcPct val="100000"/>
              </a:lnSpc>
            </a:pPr>
            <a:r>
              <a:rPr lang="en-US" sz="2400" b="1" dirty="0">
                <a:latin typeface="+mn-lt"/>
              </a:rPr>
              <a:t>Hybrid Inheritance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en-US" sz="2400" dirty="0">
                <a:latin typeface="+mn-lt"/>
              </a:rPr>
              <a:t>A mix of two or more forms of inheritance.</a:t>
            </a: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400" dirty="0">
              <a:latin typeface="+mn-lt"/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sz="2400" dirty="0">
              <a:latin typeface="+mn-lt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839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92" y="450401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Single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F2374-0FC4-8780-0A6D-560CA5F562A4}"/>
              </a:ext>
            </a:extLst>
          </p:cNvPr>
          <p:cNvSpPr txBox="1"/>
          <p:nvPr/>
        </p:nvSpPr>
        <p:spPr>
          <a:xfrm>
            <a:off x="1122149" y="3099338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C4A6E-3F0E-1938-AE54-2361E044593F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1593079"/>
          <a:ext cx="1653088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DEE2DC-3CC9-BE67-0028-2A692AAC0148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3944186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C55782-31CF-17FB-2438-E8AFCAFB063B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920292" y="2675119"/>
            <a:ext cx="0" cy="12690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60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Single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498EA-E3B2-4C18-BCC7-CD2F91399E9C}"/>
              </a:ext>
            </a:extLst>
          </p:cNvPr>
          <p:cNvSpPr txBox="1"/>
          <p:nvPr/>
        </p:nvSpPr>
        <p:spPr>
          <a:xfrm>
            <a:off x="1524000" y="1278239"/>
            <a:ext cx="42317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D5121-5306-00FD-AA68-B199CE99601B}"/>
              </a:ext>
            </a:extLst>
          </p:cNvPr>
          <p:cNvSpPr txBox="1"/>
          <p:nvPr/>
        </p:nvSpPr>
        <p:spPr>
          <a:xfrm>
            <a:off x="1524000" y="2081703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B1D47-0CAE-CE3B-051F-CDDC66EE41DE}"/>
              </a:ext>
            </a:extLst>
          </p:cNvPr>
          <p:cNvSpPr txBox="1"/>
          <p:nvPr/>
        </p:nvSpPr>
        <p:spPr>
          <a:xfrm>
            <a:off x="1524000" y="3231836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6077F-F407-6254-08B6-AE5B4B4DFA21}"/>
              </a:ext>
            </a:extLst>
          </p:cNvPr>
          <p:cNvSpPr txBox="1"/>
          <p:nvPr/>
        </p:nvSpPr>
        <p:spPr>
          <a:xfrm>
            <a:off x="1524000" y="4110622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155534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92" y="450401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Multi-level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F2374-0FC4-8780-0A6D-560CA5F562A4}"/>
              </a:ext>
            </a:extLst>
          </p:cNvPr>
          <p:cNvSpPr txBox="1"/>
          <p:nvPr/>
        </p:nvSpPr>
        <p:spPr>
          <a:xfrm>
            <a:off x="1122149" y="3099338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C4A6E-3F0E-1938-AE54-2361E044593F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1519666"/>
          <a:ext cx="1653088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Grandmother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DEE2DC-3CC9-BE67-0028-2A692AAC0148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3017155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C55782-31CF-17FB-2438-E8AFCAFB063B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920292" y="2601706"/>
            <a:ext cx="0" cy="4154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FB4726-72CC-D548-1C91-294881B867D3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4660154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6FC7FF-E271-7236-93E8-C683CA12B390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5920292" y="4373515"/>
            <a:ext cx="0" cy="28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66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Multi-level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498EA-E3B2-4C18-BCC7-CD2F91399E9C}"/>
              </a:ext>
            </a:extLst>
          </p:cNvPr>
          <p:cNvSpPr txBox="1"/>
          <p:nvPr/>
        </p:nvSpPr>
        <p:spPr>
          <a:xfrm>
            <a:off x="1524000" y="1278239"/>
            <a:ext cx="42317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Grandmother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D5121-5306-00FD-AA68-B199CE99601B}"/>
              </a:ext>
            </a:extLst>
          </p:cNvPr>
          <p:cNvSpPr txBox="1"/>
          <p:nvPr/>
        </p:nvSpPr>
        <p:spPr>
          <a:xfrm>
            <a:off x="1524000" y="2081703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B1D47-0CAE-CE3B-051F-CDDC66EE41DE}"/>
              </a:ext>
            </a:extLst>
          </p:cNvPr>
          <p:cNvSpPr txBox="1"/>
          <p:nvPr/>
        </p:nvSpPr>
        <p:spPr>
          <a:xfrm>
            <a:off x="1524000" y="3014560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Grandmother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6077F-F407-6254-08B6-AE5B4B4DFA21}"/>
              </a:ext>
            </a:extLst>
          </p:cNvPr>
          <p:cNvSpPr txBox="1"/>
          <p:nvPr/>
        </p:nvSpPr>
        <p:spPr>
          <a:xfrm>
            <a:off x="1524000" y="388392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57E16-899B-7B02-F95B-FFE3A2D4D31B}"/>
              </a:ext>
            </a:extLst>
          </p:cNvPr>
          <p:cNvSpPr txBox="1"/>
          <p:nvPr/>
        </p:nvSpPr>
        <p:spPr>
          <a:xfrm>
            <a:off x="1524000" y="4750881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8D069-A155-8414-0369-86EBC4BB1730}"/>
              </a:ext>
            </a:extLst>
          </p:cNvPr>
          <p:cNvSpPr txBox="1"/>
          <p:nvPr/>
        </p:nvSpPr>
        <p:spPr>
          <a:xfrm>
            <a:off x="1524000" y="544521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133569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92" y="450401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Hierarchical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F2374-0FC4-8780-0A6D-560CA5F562A4}"/>
              </a:ext>
            </a:extLst>
          </p:cNvPr>
          <p:cNvSpPr txBox="1"/>
          <p:nvPr/>
        </p:nvSpPr>
        <p:spPr>
          <a:xfrm>
            <a:off x="1122149" y="3099338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C4A6E-3F0E-1938-AE54-2361E044593F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1519666"/>
          <a:ext cx="1653088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DEE2DC-3CC9-BE67-0028-2A692AAC0148}"/>
              </a:ext>
            </a:extLst>
          </p:cNvPr>
          <p:cNvGraphicFramePr>
            <a:graphicFrameLocks noGrp="1"/>
          </p:cNvGraphicFramePr>
          <p:nvPr/>
        </p:nvGraphicFramePr>
        <p:xfrm>
          <a:off x="2468882" y="3017155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FB4726-72CC-D548-1C91-294881B867D3}"/>
              </a:ext>
            </a:extLst>
          </p:cNvPr>
          <p:cNvGraphicFramePr>
            <a:graphicFrameLocks noGrp="1"/>
          </p:cNvGraphicFramePr>
          <p:nvPr/>
        </p:nvGraphicFramePr>
        <p:xfrm>
          <a:off x="7643310" y="3022169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678909D-3139-F55A-7BB2-C8EE54A8E2FC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rot="16200000" flipV="1">
            <a:off x="7127604" y="1679919"/>
            <a:ext cx="961483" cy="172301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760375B-DD04-BE27-0A98-9F006B7AD68B}"/>
              </a:ext>
            </a:extLst>
          </p:cNvPr>
          <p:cNvCxnSpPr>
            <a:cxnSpLocks/>
            <a:stCxn id="8" idx="0"/>
            <a:endCxn id="6" idx="1"/>
          </p:cNvCxnSpPr>
          <p:nvPr/>
        </p:nvCxnSpPr>
        <p:spPr>
          <a:xfrm rot="5400000" flipH="1" flipV="1">
            <a:off x="3716353" y="1639760"/>
            <a:ext cx="956469" cy="179832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4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Hierarchical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498EA-E3B2-4C18-BCC7-CD2F91399E9C}"/>
              </a:ext>
            </a:extLst>
          </p:cNvPr>
          <p:cNvSpPr txBox="1"/>
          <p:nvPr/>
        </p:nvSpPr>
        <p:spPr>
          <a:xfrm>
            <a:off x="1524000" y="1278239"/>
            <a:ext cx="42317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D5121-5306-00FD-AA68-B199CE99601B}"/>
              </a:ext>
            </a:extLst>
          </p:cNvPr>
          <p:cNvSpPr txBox="1"/>
          <p:nvPr/>
        </p:nvSpPr>
        <p:spPr>
          <a:xfrm>
            <a:off x="1524000" y="2081703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B1D47-0CAE-CE3B-051F-CDDC66EE41DE}"/>
              </a:ext>
            </a:extLst>
          </p:cNvPr>
          <p:cNvSpPr txBox="1"/>
          <p:nvPr/>
        </p:nvSpPr>
        <p:spPr>
          <a:xfrm>
            <a:off x="1524000" y="3014560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Son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6077F-F407-6254-08B6-AE5B4B4DFA21}"/>
              </a:ext>
            </a:extLst>
          </p:cNvPr>
          <p:cNvSpPr txBox="1"/>
          <p:nvPr/>
        </p:nvSpPr>
        <p:spPr>
          <a:xfrm>
            <a:off x="1524000" y="388392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57E16-899B-7B02-F95B-FFE3A2D4D31B}"/>
              </a:ext>
            </a:extLst>
          </p:cNvPr>
          <p:cNvSpPr txBox="1"/>
          <p:nvPr/>
        </p:nvSpPr>
        <p:spPr>
          <a:xfrm>
            <a:off x="1524000" y="4750881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8D069-A155-8414-0369-86EBC4BB1730}"/>
              </a:ext>
            </a:extLst>
          </p:cNvPr>
          <p:cNvSpPr txBox="1"/>
          <p:nvPr/>
        </p:nvSpPr>
        <p:spPr>
          <a:xfrm>
            <a:off x="1524000" y="544521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354462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92" y="450401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Multiple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F2374-0FC4-8780-0A6D-560CA5F562A4}"/>
              </a:ext>
            </a:extLst>
          </p:cNvPr>
          <p:cNvSpPr txBox="1"/>
          <p:nvPr/>
        </p:nvSpPr>
        <p:spPr>
          <a:xfrm>
            <a:off x="1122149" y="3099338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C4A6E-3F0E-1938-AE54-2361E044593F}"/>
              </a:ext>
            </a:extLst>
          </p:cNvPr>
          <p:cNvGraphicFramePr>
            <a:graphicFrameLocks noGrp="1"/>
          </p:cNvGraphicFramePr>
          <p:nvPr/>
        </p:nvGraphicFramePr>
        <p:xfrm>
          <a:off x="5093748" y="3736414"/>
          <a:ext cx="1653088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DEE2DC-3CC9-BE67-0028-2A692AAC0148}"/>
              </a:ext>
            </a:extLst>
          </p:cNvPr>
          <p:cNvGraphicFramePr>
            <a:graphicFrameLocks noGrp="1"/>
          </p:cNvGraphicFramePr>
          <p:nvPr/>
        </p:nvGraphicFramePr>
        <p:xfrm>
          <a:off x="2533427" y="1674607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Father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FB4726-72CC-D548-1C91-294881B867D3}"/>
              </a:ext>
            </a:extLst>
          </p:cNvPr>
          <p:cNvGraphicFramePr>
            <a:graphicFrameLocks noGrp="1"/>
          </p:cNvGraphicFramePr>
          <p:nvPr/>
        </p:nvGraphicFramePr>
        <p:xfrm>
          <a:off x="7804674" y="1674607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678909D-3139-F55A-7BB2-C8EE54A8E2FC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6746836" y="3030967"/>
            <a:ext cx="1884382" cy="12464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760375B-DD04-BE27-0A98-9F006B7AD68B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rot="10800000">
            <a:off x="3359972" y="3030968"/>
            <a:ext cx="1733777" cy="12464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918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Multiple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498EA-E3B2-4C18-BCC7-CD2F91399E9C}"/>
              </a:ext>
            </a:extLst>
          </p:cNvPr>
          <p:cNvSpPr txBox="1"/>
          <p:nvPr/>
        </p:nvSpPr>
        <p:spPr>
          <a:xfrm>
            <a:off x="1524000" y="1278239"/>
            <a:ext cx="42317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Father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D5121-5306-00FD-AA68-B199CE99601B}"/>
              </a:ext>
            </a:extLst>
          </p:cNvPr>
          <p:cNvSpPr txBox="1"/>
          <p:nvPr/>
        </p:nvSpPr>
        <p:spPr>
          <a:xfrm>
            <a:off x="1524000" y="2081703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B1D47-0CAE-CE3B-051F-CDDC66EE41DE}"/>
              </a:ext>
            </a:extLst>
          </p:cNvPr>
          <p:cNvSpPr txBox="1"/>
          <p:nvPr/>
        </p:nvSpPr>
        <p:spPr>
          <a:xfrm>
            <a:off x="1524000" y="3014560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6077F-F407-6254-08B6-AE5B4B4DFA21}"/>
              </a:ext>
            </a:extLst>
          </p:cNvPr>
          <p:cNvSpPr txBox="1"/>
          <p:nvPr/>
        </p:nvSpPr>
        <p:spPr>
          <a:xfrm>
            <a:off x="1524000" y="388392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57E16-899B-7B02-F95B-FFE3A2D4D31B}"/>
              </a:ext>
            </a:extLst>
          </p:cNvPr>
          <p:cNvSpPr txBox="1"/>
          <p:nvPr/>
        </p:nvSpPr>
        <p:spPr>
          <a:xfrm>
            <a:off x="1524000" y="4750881"/>
            <a:ext cx="77888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Father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8D069-A155-8414-0369-86EBC4BB1730}"/>
              </a:ext>
            </a:extLst>
          </p:cNvPr>
          <p:cNvSpPr txBox="1"/>
          <p:nvPr/>
        </p:nvSpPr>
        <p:spPr>
          <a:xfrm>
            <a:off x="1524000" y="544521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3436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8292" y="450401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Hybrid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F2374-0FC4-8780-0A6D-560CA5F562A4}"/>
              </a:ext>
            </a:extLst>
          </p:cNvPr>
          <p:cNvSpPr txBox="1"/>
          <p:nvPr/>
        </p:nvSpPr>
        <p:spPr>
          <a:xfrm>
            <a:off x="1122149" y="3099338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C4A6E-3F0E-1938-AE54-2361E044593F}"/>
              </a:ext>
            </a:extLst>
          </p:cNvPr>
          <p:cNvGraphicFramePr>
            <a:graphicFrameLocks noGrp="1"/>
          </p:cNvGraphicFramePr>
          <p:nvPr/>
        </p:nvGraphicFramePr>
        <p:xfrm>
          <a:off x="5104506" y="4701508"/>
          <a:ext cx="1653088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41967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Daughter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9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34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9849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DEE2DC-3CC9-BE67-0028-2A692AAC0148}"/>
              </a:ext>
            </a:extLst>
          </p:cNvPr>
          <p:cNvGraphicFramePr>
            <a:graphicFrameLocks noGrp="1"/>
          </p:cNvGraphicFramePr>
          <p:nvPr/>
        </p:nvGraphicFramePr>
        <p:xfrm>
          <a:off x="2736093" y="2750820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Father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FB4726-72CC-D548-1C91-294881B867D3}"/>
              </a:ext>
            </a:extLst>
          </p:cNvPr>
          <p:cNvGraphicFramePr>
            <a:graphicFrameLocks noGrp="1"/>
          </p:cNvGraphicFramePr>
          <p:nvPr/>
        </p:nvGraphicFramePr>
        <p:xfrm>
          <a:off x="7589521" y="2750820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390632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Mother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82864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82864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678909D-3139-F55A-7BB2-C8EE54A8E2FC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6757594" y="4107180"/>
            <a:ext cx="1658471" cy="113534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760375B-DD04-BE27-0A98-9F006B7AD68B}"/>
              </a:ext>
            </a:extLst>
          </p:cNvPr>
          <p:cNvCxnSpPr>
            <a:cxnSpLocks/>
            <a:stCxn id="6" idx="1"/>
            <a:endCxn id="8" idx="2"/>
          </p:cNvCxnSpPr>
          <p:nvPr/>
        </p:nvCxnSpPr>
        <p:spPr>
          <a:xfrm rot="10800000">
            <a:off x="3562638" y="4107180"/>
            <a:ext cx="1541869" cy="113534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2F0548-875B-A192-F872-DA3D6178F856}"/>
              </a:ext>
            </a:extLst>
          </p:cNvPr>
          <p:cNvGraphicFramePr>
            <a:graphicFrameLocks noGrp="1"/>
          </p:cNvGraphicFramePr>
          <p:nvPr/>
        </p:nvGraphicFramePr>
        <p:xfrm>
          <a:off x="5104506" y="1312787"/>
          <a:ext cx="1653088" cy="1356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88">
                  <a:extLst>
                    <a:ext uri="{9D8B030D-6E8A-4147-A177-3AD203B41FA5}">
                      <a16:colId xmlns:a16="http://schemas.microsoft.com/office/drawing/2014/main" val="184343508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77302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67848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17754"/>
                  </a:ext>
                </a:extLst>
              </a:tr>
            </a:tbl>
          </a:graphicData>
        </a:graphic>
      </p:graphicFrame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FEE5230-AFF6-897E-124C-1C3C2C34F1FC}"/>
              </a:ext>
            </a:extLst>
          </p:cNvPr>
          <p:cNvCxnSpPr>
            <a:cxnSpLocks/>
            <a:stCxn id="8" idx="0"/>
            <a:endCxn id="11" idx="1"/>
          </p:cNvCxnSpPr>
          <p:nvPr/>
        </p:nvCxnSpPr>
        <p:spPr>
          <a:xfrm rot="5400000" flipH="1" flipV="1">
            <a:off x="3953645" y="1599960"/>
            <a:ext cx="759853" cy="154186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CF52A918-54E3-AC35-7A29-8D729EE2F3D5}"/>
              </a:ext>
            </a:extLst>
          </p:cNvPr>
          <p:cNvCxnSpPr>
            <a:cxnSpLocks/>
            <a:stCxn id="7" idx="0"/>
            <a:endCxn id="11" idx="3"/>
          </p:cNvCxnSpPr>
          <p:nvPr/>
        </p:nvCxnSpPr>
        <p:spPr>
          <a:xfrm rot="16200000" flipV="1">
            <a:off x="7206904" y="1541658"/>
            <a:ext cx="759853" cy="165847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250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Hybrid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CCOBJPGL</a:t>
            </a:r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498EA-E3B2-4C18-BCC7-CD2F91399E9C}"/>
              </a:ext>
            </a:extLst>
          </p:cNvPr>
          <p:cNvSpPr txBox="1"/>
          <p:nvPr/>
        </p:nvSpPr>
        <p:spPr>
          <a:xfrm>
            <a:off x="1524000" y="1278239"/>
            <a:ext cx="42317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Person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D5121-5306-00FD-AA68-B199CE99601B}"/>
              </a:ext>
            </a:extLst>
          </p:cNvPr>
          <p:cNvSpPr txBox="1"/>
          <p:nvPr/>
        </p:nvSpPr>
        <p:spPr>
          <a:xfrm>
            <a:off x="1524000" y="181186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B1D47-0CAE-CE3B-051F-CDDC66EE41DE}"/>
              </a:ext>
            </a:extLst>
          </p:cNvPr>
          <p:cNvSpPr txBox="1"/>
          <p:nvPr/>
        </p:nvSpPr>
        <p:spPr>
          <a:xfrm>
            <a:off x="1524000" y="2444088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Father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Person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6077F-F407-6254-08B6-AE5B4B4DFA21}"/>
              </a:ext>
            </a:extLst>
          </p:cNvPr>
          <p:cNvSpPr txBox="1"/>
          <p:nvPr/>
        </p:nvSpPr>
        <p:spPr>
          <a:xfrm>
            <a:off x="1524000" y="297263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57E16-899B-7B02-F95B-FFE3A2D4D31B}"/>
              </a:ext>
            </a:extLst>
          </p:cNvPr>
          <p:cNvSpPr txBox="1"/>
          <p:nvPr/>
        </p:nvSpPr>
        <p:spPr>
          <a:xfrm>
            <a:off x="1524000" y="4842835"/>
            <a:ext cx="77888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Daughter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Father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8D069-A155-8414-0369-86EBC4BB1730}"/>
              </a:ext>
            </a:extLst>
          </p:cNvPr>
          <p:cNvSpPr txBox="1"/>
          <p:nvPr/>
        </p:nvSpPr>
        <p:spPr>
          <a:xfrm>
            <a:off x="1524000" y="544521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ADE0A-BE0D-D221-A165-3E0B279EE9F4}"/>
              </a:ext>
            </a:extLst>
          </p:cNvPr>
          <p:cNvSpPr txBox="1"/>
          <p:nvPr/>
        </p:nvSpPr>
        <p:spPr>
          <a:xfrm>
            <a:off x="1524000" y="3541068"/>
            <a:ext cx="64989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interface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Mother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extends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Person</a:t>
            </a:r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59A69-8B45-76C1-286D-1552BE8705E1}"/>
              </a:ext>
            </a:extLst>
          </p:cNvPr>
          <p:cNvSpPr txBox="1"/>
          <p:nvPr/>
        </p:nvSpPr>
        <p:spPr>
          <a:xfrm>
            <a:off x="1524000" y="406961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222725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8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66898E-33D9-408C-A5A3-CB661BCB2025}"/>
</file>

<file path=customXml/itemProps2.xml><?xml version="1.0" encoding="utf-8"?>
<ds:datastoreItem xmlns:ds="http://schemas.openxmlformats.org/officeDocument/2006/customXml" ds:itemID="{4FD779F1-8398-4464-9AAB-150378077307}"/>
</file>

<file path=customXml/itemProps3.xml><?xml version="1.0" encoding="utf-8"?>
<ds:datastoreItem xmlns:ds="http://schemas.openxmlformats.org/officeDocument/2006/customXml" ds:itemID="{41649673-1A2A-426E-8B6A-2D7CE3951836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1102</TotalTime>
  <Words>497</Words>
  <Application>Microsoft Office PowerPoint</Application>
  <PresentationFormat>Widescreen</PresentationFormat>
  <Paragraphs>203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(Body)</vt:lpstr>
      <vt:lpstr>Calibri Light</vt:lpstr>
      <vt:lpstr>Consolas</vt:lpstr>
      <vt:lpstr>Wingdings</vt:lpstr>
      <vt:lpstr>Office Theme</vt:lpstr>
      <vt:lpstr>Inheritance</vt:lpstr>
      <vt:lpstr>Meaning of “Inherit”</vt:lpstr>
      <vt:lpstr>What is Inheritance?</vt:lpstr>
      <vt:lpstr>Inheritance</vt:lpstr>
      <vt:lpstr>Parent Class</vt:lpstr>
      <vt:lpstr>Child Class</vt:lpstr>
      <vt:lpstr>Protected variables</vt:lpstr>
      <vt:lpstr>The final Non-access modifier</vt:lpstr>
      <vt:lpstr>Why use Inheritance?</vt:lpstr>
      <vt:lpstr>Forms of Inheritance</vt:lpstr>
      <vt:lpstr>Forms of Inheritance</vt:lpstr>
      <vt:lpstr>Forms of Inheritance</vt:lpstr>
      <vt:lpstr>Single</vt:lpstr>
      <vt:lpstr>Single</vt:lpstr>
      <vt:lpstr>Multi-level</vt:lpstr>
      <vt:lpstr>Multi-level</vt:lpstr>
      <vt:lpstr>Hierarchical</vt:lpstr>
      <vt:lpstr>Hierarchical</vt:lpstr>
      <vt:lpstr>Multiple</vt:lpstr>
      <vt:lpstr>Multiple</vt:lpstr>
      <vt:lpstr>Hybrid</vt:lpstr>
      <vt:lpstr>Hybrid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Cyrus RJ W. Robles</cp:lastModifiedBy>
  <cp:revision>184</cp:revision>
  <dcterms:created xsi:type="dcterms:W3CDTF">2022-05-11T03:47:05Z</dcterms:created>
  <dcterms:modified xsi:type="dcterms:W3CDTF">2024-04-15T13:05:07Z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