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4" autoAdjust="0"/>
    <p:restoredTop sz="75676" autoAdjust="0"/>
  </p:normalViewPr>
  <p:slideViewPr>
    <p:cSldViewPr snapToGrid="0">
      <p:cViewPr varScale="1">
        <p:scale>
          <a:sx n="84" d="100"/>
          <a:sy n="84" d="100"/>
        </p:scale>
        <p:origin x="134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D1EBB-E0C9-4D31-8787-A98D5CFBC31F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79F4-8DD7-4751-A6E4-6B531833C2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64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79F4-8DD7-4751-A6E4-6B531833C2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14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rgbClr val="FF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rgbClr val="354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Desk">
            <a:extLst>
              <a:ext uri="{FF2B5EF4-FFF2-40B4-BE49-F238E27FC236}">
                <a16:creationId xmlns:a16="http://schemas.microsoft.com/office/drawing/2014/main" id="{E27D44A2-A855-473C-B54D-D4A64176E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737" y="4722720"/>
            <a:ext cx="2280699" cy="22806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5D626D-0FAA-4C09-83B9-8A2C5628EA53}"/>
              </a:ext>
            </a:extLst>
          </p:cNvPr>
          <p:cNvSpPr txBox="1"/>
          <p:nvPr userDrawn="1"/>
        </p:nvSpPr>
        <p:spPr>
          <a:xfrm>
            <a:off x="180305" y="2092444"/>
            <a:ext cx="224380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50" b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35408E"/>
                </a:solidFill>
                <a:latin typeface="Eras Bold ITC" panose="020B0907030504020204" pitchFamily="34" charset="0"/>
              </a:defRPr>
            </a:lvl1pPr>
          </a:lstStyle>
          <a:p>
            <a:pPr lvl="0" algn="ctr"/>
            <a:r>
              <a:rPr lang="en-US" dirty="0">
                <a:latin typeface="Eras Demi ITC" panose="020B0805030504020804" pitchFamily="34" charset="0"/>
              </a:rPr>
              <a:t>MODULE  G    ALS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0B18BDC0-7AC5-48B0-926A-E7D1434DA8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774" y="2405337"/>
            <a:ext cx="2105920" cy="2254250"/>
          </a:xfrm>
        </p:spPr>
        <p:txBody>
          <a:bodyPr>
            <a:noAutofit/>
          </a:bodyPr>
          <a:lstStyle>
            <a:lvl1pPr marL="142306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1pPr>
            <a:lvl2pPr marL="426917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2pPr>
            <a:lvl3pPr marL="711528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3pPr>
            <a:lvl4pPr marL="99614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4pPr>
            <a:lvl5pPr marL="128075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>
                <a:solidFill>
                  <a:srgbClr val="35408E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Graphic 12" descr="Target">
            <a:extLst>
              <a:ext uri="{FF2B5EF4-FFF2-40B4-BE49-F238E27FC236}">
                <a16:creationId xmlns:a16="http://schemas.microsoft.com/office/drawing/2014/main" id="{55D6439B-5271-491B-9B76-299133CF2EC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77465" y="2147153"/>
            <a:ext cx="258185" cy="2581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F9EE84-7BE5-4FA0-935F-72C5D3BF4589}"/>
              </a:ext>
            </a:extLst>
          </p:cNvPr>
          <p:cNvSpPr txBox="1"/>
          <p:nvPr userDrawn="1"/>
        </p:nvSpPr>
        <p:spPr>
          <a:xfrm>
            <a:off x="295974" y="202652"/>
            <a:ext cx="218236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35408E"/>
                </a:solidFill>
                <a:latin typeface="Eras Bold ITC" panose="020B0907030504020204" pitchFamily="34" charset="0"/>
              </a:rPr>
              <a:t>MODULE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8727F8C8-33E6-4AD9-ACE6-1F5A95002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0851" y="571501"/>
            <a:ext cx="1738313" cy="1362075"/>
          </a:xfrm>
        </p:spPr>
        <p:txBody>
          <a:bodyPr anchor="ctr">
            <a:noAutofit/>
          </a:bodyPr>
          <a:lstStyle>
            <a:lvl1pPr marL="142306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1pPr>
            <a:lvl2pPr marL="426917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2pPr>
            <a:lvl3pPr marL="1140722" indent="-571500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3pPr>
            <a:lvl4pPr marL="996140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4pPr>
            <a:lvl5pPr marL="1280750" indent="-142306" algn="ctr">
              <a:buFont typeface="Eras Bold ITC" panose="020B0907030504020204" pitchFamily="34" charset="0"/>
              <a:buChar char="#"/>
              <a:defRPr sz="3600" b="1">
                <a:solidFill>
                  <a:srgbClr val="35408E"/>
                </a:solidFill>
                <a:latin typeface="Eras Bold ITC" panose="020B0907030504020204" pitchFamily="34" charset="0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918505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rgbClr val="FFD4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rgbClr val="3540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Desk">
            <a:extLst>
              <a:ext uri="{FF2B5EF4-FFF2-40B4-BE49-F238E27FC236}">
                <a16:creationId xmlns:a16="http://schemas.microsoft.com/office/drawing/2014/main" id="{E27D44A2-A855-473C-B54D-D4A64176E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737" y="4722720"/>
            <a:ext cx="2280699" cy="228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258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 descr="Classroom">
            <a:extLst>
              <a:ext uri="{FF2B5EF4-FFF2-40B4-BE49-F238E27FC236}">
                <a16:creationId xmlns:a16="http://schemas.microsoft.com/office/drawing/2014/main" id="{194FA857-A1EE-466B-BDFF-82DD0329B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564" y="5140939"/>
            <a:ext cx="1717061" cy="17170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FEC02A5-0150-4082-9226-B27D56CD26B1}"/>
              </a:ext>
            </a:extLst>
          </p:cNvPr>
          <p:cNvSpPr txBox="1"/>
          <p:nvPr userDrawn="1"/>
        </p:nvSpPr>
        <p:spPr>
          <a:xfrm>
            <a:off x="-128840" y="1761364"/>
            <a:ext cx="2243809" cy="60016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Demi ITC" panose="020B0805030504020804" pitchFamily="34" charset="0"/>
              </a:rPr>
              <a:t>LEARNING</a:t>
            </a:r>
          </a:p>
          <a:p>
            <a:pPr algn="ctr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Demi ITC" panose="020B0805030504020804" pitchFamily="34" charset="0"/>
              </a:rPr>
              <a:t>            OUTC    MES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C3D1D5D-FAF6-4D14-8D45-90250B0CAC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774" y="2431095"/>
            <a:ext cx="2105920" cy="2254250"/>
          </a:xfrm>
        </p:spPr>
        <p:txBody>
          <a:bodyPr>
            <a:noAutofit/>
          </a:bodyPr>
          <a:lstStyle>
            <a:lvl1pPr marL="142306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1pPr>
            <a:lvl2pPr marL="426917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2pPr>
            <a:lvl3pPr marL="711528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3pPr>
            <a:lvl4pPr marL="99614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4pPr>
            <a:lvl5pPr marL="1280750" indent="-142306">
              <a:buFontTx/>
              <a:buBlip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</a:buBlip>
              <a:defRPr sz="13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 descr="Target">
            <a:extLst>
              <a:ext uri="{FF2B5EF4-FFF2-40B4-BE49-F238E27FC236}">
                <a16:creationId xmlns:a16="http://schemas.microsoft.com/office/drawing/2014/main" id="{C2CA0B7A-830F-4E8C-916E-D11713E87FB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55572" y="2060272"/>
            <a:ext cx="258185" cy="2581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250F91-C30A-4F66-A99E-AEAE02552150}"/>
              </a:ext>
            </a:extLst>
          </p:cNvPr>
          <p:cNvSpPr txBox="1"/>
          <p:nvPr userDrawn="1"/>
        </p:nvSpPr>
        <p:spPr>
          <a:xfrm>
            <a:off x="284890" y="202652"/>
            <a:ext cx="2182369" cy="34624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650" b="0" dirty="0">
                <a:ln>
                  <a:solidFill>
                    <a:schemeClr val="bg1">
                      <a:lumMod val="75000"/>
                    </a:schemeClr>
                  </a:solidFill>
                </a:ln>
                <a:solidFill>
                  <a:srgbClr val="002060"/>
                </a:solidFill>
                <a:latin typeface="Eras Bold ITC" panose="020B0907030504020204" pitchFamily="34" charset="0"/>
              </a:rPr>
              <a:t>LESSON</a:t>
            </a:r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7D8108EE-B9C1-49A9-982F-FD8C20C1CDB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4908" y="595385"/>
            <a:ext cx="1600062" cy="1142578"/>
          </a:xfrm>
        </p:spPr>
        <p:txBody>
          <a:bodyPr anchor="ctr">
            <a:noAutofit/>
          </a:bodyPr>
          <a:lstStyle>
            <a:lvl1pPr marL="142306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1pPr>
            <a:lvl2pPr marL="426917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2pPr>
            <a:lvl3pPr marL="1026422" indent="-457200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3pPr>
            <a:lvl4pPr marL="996140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4pPr>
            <a:lvl5pPr marL="1280750" indent="-142306" algn="ctr">
              <a:buFont typeface="Eras Bold ITC" panose="020B0907030504020204" pitchFamily="34" charset="0"/>
              <a:buChar char="#"/>
              <a:defRPr sz="3201" b="1">
                <a:solidFill>
                  <a:srgbClr val="002060"/>
                </a:solidFill>
                <a:latin typeface="Eras Bold ITC" panose="020B0907030504020204" pitchFamily="34" charset="0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89707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BED7A-0BB8-4EF2-A69A-53E4410A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6762B-557D-4A36-AC06-F6841302CF02}"/>
              </a:ext>
            </a:extLst>
          </p:cNvPr>
          <p:cNvSpPr/>
          <p:nvPr userDrawn="1"/>
        </p:nvSpPr>
        <p:spPr>
          <a:xfrm>
            <a:off x="217344" y="1"/>
            <a:ext cx="233383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367D5-E6E1-468E-B5A4-A52BA6AC80F3}"/>
              </a:ext>
            </a:extLst>
          </p:cNvPr>
          <p:cNvSpPr/>
          <p:nvPr userDrawn="1"/>
        </p:nvSpPr>
        <p:spPr>
          <a:xfrm>
            <a:off x="158058" y="1"/>
            <a:ext cx="222941" cy="685799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48F4E2-4AF6-4635-B0C8-3849A3572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6080" y="1122363"/>
            <a:ext cx="8427720" cy="2387600"/>
          </a:xfrm>
        </p:spPr>
        <p:txBody>
          <a:bodyPr anchor="b"/>
          <a:lstStyle>
            <a:lvl1pPr algn="ctr"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74FE78-DD38-4689-88BA-9C4E7984C4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6078" y="3602038"/>
            <a:ext cx="8427720" cy="1655762"/>
          </a:xfrm>
        </p:spPr>
        <p:txBody>
          <a:bodyPr/>
          <a:lstStyle>
            <a:lvl1pPr marL="0" indent="0" algn="ctr">
              <a:buNone/>
              <a:defRPr sz="2400">
                <a:latin typeface="Clan-Book" panose="0200050305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227-7282-4C00-9B53-86C43038A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1D968-BED2-4B83-B15C-0DDA92123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 descr="Classroom">
            <a:extLst>
              <a:ext uri="{FF2B5EF4-FFF2-40B4-BE49-F238E27FC236}">
                <a16:creationId xmlns:a16="http://schemas.microsoft.com/office/drawing/2014/main" id="{194FA857-A1EE-466B-BDFF-82DD0329B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564" y="5140939"/>
            <a:ext cx="1717061" cy="171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9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D72E1DB-094E-40F5-B6CA-6AC96B50030F}"/>
              </a:ext>
            </a:extLst>
          </p:cNvPr>
          <p:cNvSpPr/>
          <p:nvPr userDrawn="1"/>
        </p:nvSpPr>
        <p:spPr>
          <a:xfrm>
            <a:off x="0" y="-5344"/>
            <a:ext cx="12192000" cy="47049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C8B7D-46CD-43C2-B5C9-9E5F496D69EA}"/>
              </a:ext>
            </a:extLst>
          </p:cNvPr>
          <p:cNvSpPr/>
          <p:nvPr userDrawn="1"/>
        </p:nvSpPr>
        <p:spPr>
          <a:xfrm>
            <a:off x="0" y="5809797"/>
            <a:ext cx="12192000" cy="940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9D9EF8-9DAB-4A0A-A801-F9772A387793}"/>
              </a:ext>
            </a:extLst>
          </p:cNvPr>
          <p:cNvSpPr/>
          <p:nvPr userDrawn="1"/>
        </p:nvSpPr>
        <p:spPr>
          <a:xfrm>
            <a:off x="0" y="6750793"/>
            <a:ext cx="12213594" cy="11570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72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0840"/>
            <a:ext cx="10515600" cy="4061503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321AAE5-7C22-4B44-B831-57FCBC60927F}"/>
              </a:ext>
            </a:extLst>
          </p:cNvPr>
          <p:cNvGrpSpPr/>
          <p:nvPr userDrawn="1"/>
        </p:nvGrpSpPr>
        <p:grpSpPr>
          <a:xfrm flipV="1">
            <a:off x="0" y="0"/>
            <a:ext cx="12213594" cy="1056703"/>
            <a:chOff x="0" y="5809797"/>
            <a:chExt cx="12213594" cy="10567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2C8B7D-46CD-43C2-B5C9-9E5F496D69EA}"/>
                </a:ext>
              </a:extLst>
            </p:cNvPr>
            <p:cNvSpPr/>
            <p:nvPr userDrawn="1"/>
          </p:nvSpPr>
          <p:spPr>
            <a:xfrm>
              <a:off x="0" y="5809797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9D9EF8-9DAB-4A0A-A801-F9772A387793}"/>
                </a:ext>
              </a:extLst>
            </p:cNvPr>
            <p:cNvSpPr/>
            <p:nvPr userDrawn="1"/>
          </p:nvSpPr>
          <p:spPr>
            <a:xfrm>
              <a:off x="0" y="6750793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97" y="230518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14"/>
            <a:ext cx="10515600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93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7287" y="230518"/>
            <a:ext cx="9887309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490" y="1171514"/>
            <a:ext cx="9887309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1D7DAFE-16D9-4055-88FF-76567836F6F0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8465EDF-454F-4668-A063-CEA8D37E0FFA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20E84F-46D2-480E-AB59-BD5178400EFF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</p:spTree>
    <p:extLst>
      <p:ext uri="{BB962C8B-B14F-4D97-AF65-F5344CB8AC3E}">
        <p14:creationId xmlns:p14="http://schemas.microsoft.com/office/powerpoint/2010/main" val="172169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2500" y="0"/>
            <a:ext cx="7429500" cy="6858000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>
            <a:off x="196505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19" y="368605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19" y="3082829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raphic 9" descr="Building Brick Wall">
            <a:extLst>
              <a:ext uri="{FF2B5EF4-FFF2-40B4-BE49-F238E27FC236}">
                <a16:creationId xmlns:a16="http://schemas.microsoft.com/office/drawing/2014/main" id="{01157D1D-AE29-477D-BAB3-EC3B2B8801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82" y="5929073"/>
            <a:ext cx="1001074" cy="100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67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FE84532-7A49-4931-A28E-66E833AB0B42}"/>
              </a:ext>
            </a:extLst>
          </p:cNvPr>
          <p:cNvSpPr/>
          <p:nvPr userDrawn="1"/>
        </p:nvSpPr>
        <p:spPr>
          <a:xfrm>
            <a:off x="196504" y="5904683"/>
            <a:ext cx="11995495" cy="9409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65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2500" y="0"/>
            <a:ext cx="7429500" cy="5904683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>
            <a:off x="196505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19" y="368605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19" y="3082829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26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ADBE89-35FB-4F5E-882E-97FE609DE4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29500" cy="6858000"/>
          </a:xfrm>
        </p:spPr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C1EC23-F519-4090-A4F3-AECDCAED2009}"/>
              </a:ext>
            </a:extLst>
          </p:cNvPr>
          <p:cNvGrpSpPr/>
          <p:nvPr userDrawn="1"/>
        </p:nvGrpSpPr>
        <p:grpSpPr>
          <a:xfrm flipH="1">
            <a:off x="7425439" y="0"/>
            <a:ext cx="4566688" cy="6858000"/>
            <a:chOff x="180741" y="0"/>
            <a:chExt cx="2402348" cy="8624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8C203B-09F6-401D-9972-04717CE5824A}"/>
                </a:ext>
              </a:extLst>
            </p:cNvPr>
            <p:cNvSpPr/>
            <p:nvPr userDrawn="1"/>
          </p:nvSpPr>
          <p:spPr>
            <a:xfrm>
              <a:off x="249259" y="0"/>
              <a:ext cx="2333830" cy="862466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C0E29-1938-4CC0-BA13-8918A8E56D0A}"/>
                </a:ext>
              </a:extLst>
            </p:cNvPr>
            <p:cNvSpPr/>
            <p:nvPr userDrawn="1"/>
          </p:nvSpPr>
          <p:spPr>
            <a:xfrm>
              <a:off x="180741" y="0"/>
              <a:ext cx="91201" cy="8624664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066E79-8F20-4D60-B24D-100A7B6F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0946" y="659357"/>
            <a:ext cx="4113445" cy="2615664"/>
          </a:xfrm>
        </p:spPr>
        <p:txBody>
          <a:bodyPr anchor="b"/>
          <a:lstStyle>
            <a:lvl1pPr>
              <a:defRPr sz="6000"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48C85-5DD0-4244-825E-23D1C4E24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00946" y="3373581"/>
            <a:ext cx="4113445" cy="284624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Clan-Book" panose="0200050305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6E1E5-7AE8-4AC0-8344-518EE219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1E6-4AE9-412C-BFC0-8F78A3D6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E39E8-4B39-444A-BB5E-7A7B5EAD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0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2C9A9BA-B0E6-4614-B392-E5EEC4D63C0C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50628C-FCB5-4822-ABDD-4D949AB0AC27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AC12EFF-EC78-4DFB-9F52-7946F250007B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D6407C6-7F0D-456D-8F80-AAAC51727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246" y="278861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D0FE5-1CE4-4F98-A437-C40E71517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3246" y="173936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92083D-4951-4236-91AD-ED3F895B9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37246" y="1739361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03FE5-4876-44FF-B29F-3C68A95D01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03246" y="6270086"/>
            <a:ext cx="2743200" cy="365125"/>
          </a:xfrm>
        </p:spPr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62184-DC4B-4046-AD8F-1166E247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3646" y="6270086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01EA4-7002-4562-AD86-4B1F98E04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5646" y="6270086"/>
            <a:ext cx="2743200" cy="365125"/>
          </a:xfrm>
        </p:spPr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517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3CDE00C-539C-4D4B-A581-DA6FACC4CF95}"/>
              </a:ext>
            </a:extLst>
          </p:cNvPr>
          <p:cNvGrpSpPr/>
          <p:nvPr userDrawn="1"/>
        </p:nvGrpSpPr>
        <p:grpSpPr>
          <a:xfrm rot="5400000" flipH="1">
            <a:off x="-2743201" y="2900647"/>
            <a:ext cx="6858000" cy="1056703"/>
            <a:chOff x="-416944" y="4961533"/>
            <a:chExt cx="12213594" cy="105670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8132462-F569-4682-80CD-5DBD194747C7}"/>
                </a:ext>
              </a:extLst>
            </p:cNvPr>
            <p:cNvSpPr/>
            <p:nvPr userDrawn="1"/>
          </p:nvSpPr>
          <p:spPr>
            <a:xfrm>
              <a:off x="-416944" y="4961533"/>
              <a:ext cx="12192000" cy="94099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16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526CD24-B052-45F9-8A98-E4A43F3F520F}"/>
                </a:ext>
              </a:extLst>
            </p:cNvPr>
            <p:cNvSpPr/>
            <p:nvPr userDrawn="1"/>
          </p:nvSpPr>
          <p:spPr>
            <a:xfrm>
              <a:off x="-416944" y="5902529"/>
              <a:ext cx="12213594" cy="11570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AF210EF-CFAE-47E8-8AC3-AC41A18E3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0120" y="287488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25EB43-E4B4-478A-B272-2961D5D6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0120" y="1603526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35023A-B876-4C93-9EF2-2E5C72399C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0120" y="2427438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B19069-AA90-4EF0-95CF-B42D2D3DA6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2532" y="1603526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808BFD-0C70-46F9-A6B7-212D8969C6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72532" y="2427438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50F3E-ED90-40CF-B1BF-7315FE17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8532" y="6278713"/>
            <a:ext cx="2743200" cy="365125"/>
          </a:xfrm>
        </p:spPr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9C4036-5B8E-4C70-8EAB-BB4BA5EE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38932" y="6278713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F20EF3-8C2B-4872-AFF8-2DF4D6D8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0932" y="6278713"/>
            <a:ext cx="2743200" cy="365125"/>
          </a:xfrm>
        </p:spPr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01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A04E1-917E-6B28-611C-A4C4EAB93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58048-2155-685D-D7DB-28D3FD91C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96BAA2-864A-F4C7-35F1-E26BFAD76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193C68-1F91-8802-1F80-D01327E5D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333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0B7B-98C8-4CA2-9841-1861223C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997" y="230518"/>
            <a:ext cx="10515600" cy="711373"/>
          </a:xfrm>
        </p:spPr>
        <p:txBody>
          <a:bodyPr/>
          <a:lstStyle>
            <a:lvl1pPr>
              <a:defRPr>
                <a:latin typeface="Clan-Medium" panose="0200050304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B1BB-5563-4C0E-AD84-05E18FF7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514"/>
            <a:ext cx="10515600" cy="5070024"/>
          </a:xfrm>
        </p:spPr>
        <p:txBody>
          <a:bodyPr/>
          <a:lstStyle>
            <a:lvl1pPr>
              <a:defRPr>
                <a:latin typeface="Clan-Book" panose="02000503050000020004" pitchFamily="2" charset="0"/>
              </a:defRPr>
            </a:lvl1pPr>
            <a:lvl2pPr>
              <a:defRPr>
                <a:latin typeface="Clan-Book" panose="02000503050000020004" pitchFamily="2" charset="0"/>
              </a:defRPr>
            </a:lvl2pPr>
            <a:lvl3pPr>
              <a:defRPr>
                <a:latin typeface="Clan-Book" panose="02000503050000020004" pitchFamily="2" charset="0"/>
              </a:defRPr>
            </a:lvl3pPr>
            <a:lvl4pPr>
              <a:defRPr>
                <a:latin typeface="Clan-Book" panose="02000503050000020004" pitchFamily="2" charset="0"/>
              </a:defRPr>
            </a:lvl4pPr>
            <a:lvl5pPr>
              <a:defRPr>
                <a:latin typeface="Clan-Book" panose="02000503050000020004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86031-9FCB-455D-9BF6-88027E42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982F7-F996-4538-B6EC-541CD793A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EC184-3959-4507-8F3E-613037D1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0C836A-601C-4673-97BA-270F598A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BD68BB-20A8-4BD8-AE3E-157D76055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6A811-963A-4BEC-BA10-1E75132FDE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B23EF2-2872-4378-9FDE-AFEA983DA76B}" type="datetimeFigureOut">
              <a:rPr lang="en-US" smtClean="0"/>
              <a:t>5/10/2024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B18F-1ADE-42D1-AD17-50885BFA8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85544-9957-4D60-8C9C-51F8E9927E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EAF4A-F4FA-443C-A561-206E6DC988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69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1" r:id="rId3"/>
    <p:sldLayoutId id="2147483666" r:id="rId4"/>
    <p:sldLayoutId id="2147483650" r:id="rId5"/>
    <p:sldLayoutId id="2147483660" r:id="rId6"/>
    <p:sldLayoutId id="2147483663" r:id="rId7"/>
    <p:sldLayoutId id="2147483651" r:id="rId8"/>
    <p:sldLayoutId id="2147483664" r:id="rId9"/>
    <p:sldLayoutId id="2147483662" r:id="rId10"/>
    <p:sldLayoutId id="2147483652" r:id="rId11"/>
    <p:sldLayoutId id="2147483653" r:id="rId12"/>
    <p:sldLayoutId id="2147483667" r:id="rId13"/>
    <p:sldLayoutId id="2147483668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209A9-25F3-283D-525F-B3AF14BE8F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b="1" dirty="0"/>
              <a:t>Unified Modeling Language</a:t>
            </a:r>
            <a:endParaRPr lang="en-P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46E4D-C5F3-11CD-CF1B-C3D67D3AEE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Presented by:</a:t>
            </a:r>
          </a:p>
          <a:p>
            <a:r>
              <a:rPr lang="en-US" dirty="0"/>
              <a:t>Cyrus </a:t>
            </a:r>
            <a:r>
              <a:rPr lang="en-US" dirty="0" err="1"/>
              <a:t>Rj</a:t>
            </a:r>
            <a:r>
              <a:rPr lang="en-US" dirty="0"/>
              <a:t> W. Robles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10527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A94F-3829-74BD-322B-C7CCF2F64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670" y="768033"/>
            <a:ext cx="8427720" cy="2387600"/>
          </a:xfrm>
        </p:spPr>
        <p:txBody>
          <a:bodyPr anchor="ctr"/>
          <a:lstStyle/>
          <a:p>
            <a:r>
              <a:rPr lang="en-PH" dirty="0"/>
              <a:t>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3B120-11C5-C19F-D06F-224F8B58F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4668" y="3247708"/>
            <a:ext cx="8427720" cy="247872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Unified Modeling Language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UML Class Diagram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Formal Specification Languages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291046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C72-7561-42EA-9520-9772E84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Unified Modeling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1BB2-9D01-0CCA-0559-24A56992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Unified Modeling Language (UML) </a:t>
            </a:r>
            <a:r>
              <a:rPr lang="en-US" dirty="0"/>
              <a:t>is a general-purpose modelling language that is used to visualize the way a system has been designed.</a:t>
            </a:r>
          </a:p>
          <a:p>
            <a:endParaRPr lang="en-US" dirty="0"/>
          </a:p>
          <a:p>
            <a:r>
              <a:rPr lang="en-US" dirty="0"/>
              <a:t> It is like blueprints used in other fields of engineering.</a:t>
            </a:r>
          </a:p>
          <a:p>
            <a:endParaRPr lang="en-US" dirty="0"/>
          </a:p>
          <a:p>
            <a:r>
              <a:rPr lang="en-US" dirty="0"/>
              <a:t>UML is </a:t>
            </a:r>
            <a:r>
              <a:rPr lang="en-US" b="1" dirty="0"/>
              <a:t>not a programming language;</a:t>
            </a:r>
            <a:r>
              <a:rPr lang="en-US" dirty="0"/>
              <a:t> it is a </a:t>
            </a:r>
            <a:r>
              <a:rPr lang="en-US" b="1" u="sng" dirty="0"/>
              <a:t>visual language</a:t>
            </a:r>
            <a:r>
              <a:rPr lang="en-US" dirty="0"/>
              <a:t>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292789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C72-7561-42EA-9520-9772E84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Unified Modeling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1BB2-9D01-0CCA-0559-24A56992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Do we really need UML?</a:t>
            </a:r>
            <a:endParaRPr lang="en-US" dirty="0"/>
          </a:p>
          <a:p>
            <a:r>
              <a:rPr lang="en-US" dirty="0"/>
              <a:t>Complex applications need collaboration and planning from multiple teams and hence require a clear and concise way to communicate amongst them.</a:t>
            </a:r>
          </a:p>
          <a:p>
            <a:r>
              <a:rPr lang="en-US" dirty="0"/>
              <a:t>Businessmen do not understand code. UML becomes essential to communicate with non-programmers the essential requirements, functionalities and processes of the system.</a:t>
            </a:r>
          </a:p>
          <a:p>
            <a:r>
              <a:rPr lang="en-US" dirty="0"/>
              <a:t>A lot of time is saved down the line when teams can visualize processes, user interactions and static structure of the system.</a:t>
            </a:r>
          </a:p>
          <a:p>
            <a:r>
              <a:rPr lang="en-US" dirty="0"/>
              <a:t>UML is linked with object-oriented design and analysis. UML makes the use of elements and forms associations between them to form diagrams.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1547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C72-7561-42EA-9520-9772E84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Unified Modeling Language</a:t>
            </a:r>
          </a:p>
        </p:txBody>
      </p:sp>
      <p:pic>
        <p:nvPicPr>
          <p:cNvPr id="4" name="Content Placeholder 3" descr="A picture containing text, diagram, plan, technical drawing">
            <a:extLst>
              <a:ext uri="{FF2B5EF4-FFF2-40B4-BE49-F238E27FC236}">
                <a16:creationId xmlns:a16="http://schemas.microsoft.com/office/drawing/2014/main" id="{EC62E77C-CBA8-7DE4-3727-C0623298B4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97" y="1651210"/>
            <a:ext cx="10817031" cy="404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305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A94F-3829-74BD-322B-C7CCF2F64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670" y="768033"/>
            <a:ext cx="8427720" cy="2387600"/>
          </a:xfrm>
        </p:spPr>
        <p:txBody>
          <a:bodyPr anchor="ctr"/>
          <a:lstStyle/>
          <a:p>
            <a:r>
              <a:rPr lang="en-PH" dirty="0"/>
              <a:t>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3B120-11C5-C19F-D06F-224F8B58F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4668" y="3247708"/>
            <a:ext cx="8427720" cy="247872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Unified Modeling Language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UML Class Diagram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Formal Specification Languages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8718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C72-7561-42EA-9520-9772E84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Class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1BB2-9D01-0CCA-0559-24A56992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diagrams are one of the most useful types of diagrams in UML as they clearly map out the structure of a particular system by modeling its classes, attributes, operations, and relationships between objects.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Popular among software engineers to document software architecture, class diagrams are a type of structure diagram because they describe what must be present in the system being modeled</a:t>
            </a:r>
          </a:p>
          <a:p>
            <a:pPr marL="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36702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C72-7561-42EA-9520-9772E84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Class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1F6CBB-F5F4-E1A3-7F13-F96FF41C4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6" name="Picture 5" descr="A picture containing text, diagram, font, plan&#10;&#10;Description automatically generated">
            <a:extLst>
              <a:ext uri="{FF2B5EF4-FFF2-40B4-BE49-F238E27FC236}">
                <a16:creationId xmlns:a16="http://schemas.microsoft.com/office/drawing/2014/main" id="{3B4722B8-4A28-9729-9574-71B95D9B4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091" y="1171514"/>
            <a:ext cx="740341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26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C72-7561-42EA-9520-9772E84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Class Diagram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1F6CBB-F5F4-E1A3-7F13-F96FF41C4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  <p:pic>
        <p:nvPicPr>
          <p:cNvPr id="3" name="Picture 2" descr="A screenshot of a computer code">
            <a:extLst>
              <a:ext uri="{FF2B5EF4-FFF2-40B4-BE49-F238E27FC236}">
                <a16:creationId xmlns:a16="http://schemas.microsoft.com/office/drawing/2014/main" id="{9606603B-8099-A9B5-E872-722E27CC6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4" y="2254128"/>
            <a:ext cx="11007652" cy="290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53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A94F-3829-74BD-322B-C7CCF2F64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4670" y="768033"/>
            <a:ext cx="8427720" cy="2387600"/>
          </a:xfrm>
        </p:spPr>
        <p:txBody>
          <a:bodyPr anchor="ctr"/>
          <a:lstStyle/>
          <a:p>
            <a:r>
              <a:rPr lang="en-PH" dirty="0"/>
              <a:t>Outline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3B120-11C5-C19F-D06F-224F8B58F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4668" y="3247708"/>
            <a:ext cx="8427720" cy="247872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Unified Modeling Language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UML Class Diagram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Formal Specification Languages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248458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C72-7561-42EA-9520-9772E84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Formal Specification Languages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31BB2-9D01-0CCA-0559-24A569924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 </a:t>
            </a:r>
            <a:r>
              <a:rPr lang="en-US" b="1" dirty="0"/>
              <a:t>formal specification language </a:t>
            </a:r>
            <a:r>
              <a:rPr lang="en-US" dirty="0"/>
              <a:t>is a notation that is used to describe the design of a system without having to implement it. </a:t>
            </a:r>
          </a:p>
          <a:p>
            <a:endParaRPr lang="en-US" dirty="0"/>
          </a:p>
          <a:p>
            <a:r>
              <a:rPr lang="en-US" dirty="0"/>
              <a:t>It involves </a:t>
            </a:r>
            <a:r>
              <a:rPr lang="en-US" b="1" dirty="0"/>
              <a:t>formal verification </a:t>
            </a:r>
            <a:r>
              <a:rPr lang="en-US" dirty="0"/>
              <a:t>where a piece of code is mathematically proven that it does what we expected to in all circumstances.</a:t>
            </a:r>
          </a:p>
          <a:p>
            <a:endParaRPr lang="en-US" dirty="0"/>
          </a:p>
          <a:p>
            <a:r>
              <a:rPr lang="en-US" dirty="0"/>
              <a:t>An important use of specification languages is enabling the creation of proofs of program correctness. </a:t>
            </a:r>
          </a:p>
          <a:p>
            <a:endParaRPr lang="en-US" dirty="0"/>
          </a:p>
          <a:p>
            <a:r>
              <a:rPr lang="en-US" dirty="0"/>
              <a:t>Examples of formal specification languages are Z notation and CASL.</a:t>
            </a:r>
          </a:p>
        </p:txBody>
      </p:sp>
    </p:spTree>
    <p:extLst>
      <p:ext uri="{BB962C8B-B14F-4D97-AF65-F5344CB8AC3E}">
        <p14:creationId xmlns:p14="http://schemas.microsoft.com/office/powerpoint/2010/main" val="2991083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DEC72-7561-42EA-9520-9772E846A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b="1" dirty="0"/>
              <a:t>Z notation example</a:t>
            </a:r>
          </a:p>
        </p:txBody>
      </p:sp>
      <p:pic>
        <p:nvPicPr>
          <p:cNvPr id="4" name="Content Placeholder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867EF8EA-3556-570E-2C13-B12CEFFCC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708" y="1331595"/>
            <a:ext cx="9014177" cy="507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87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FB51357-BACE-4295-8ADF-CCEBEEB99016}"/>
</file>

<file path=customXml/itemProps2.xml><?xml version="1.0" encoding="utf-8"?>
<ds:datastoreItem xmlns:ds="http://schemas.openxmlformats.org/officeDocument/2006/customXml" ds:itemID="{B4F17401-7E23-45DF-9A08-E386BC811F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39F0FF-A358-4D9F-8976-BEE96A36A48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4da98b77-e5c5-4b36-b9de-c114a2c2c848"/>
    <ds:schemaRef ds:uri="e7da3552-a5ce-4fbc-b6a0-d009838d08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3247</TotalTime>
  <Words>352</Words>
  <Application>Microsoft Office PowerPoint</Application>
  <PresentationFormat>Widescreen</PresentationFormat>
  <Paragraphs>69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Clan-Book</vt:lpstr>
      <vt:lpstr>Clan-Medium</vt:lpstr>
      <vt:lpstr>Eras Bold ITC</vt:lpstr>
      <vt:lpstr>Eras Demi ITC</vt:lpstr>
      <vt:lpstr>Office Theme</vt:lpstr>
      <vt:lpstr>Unified Modeling Language</vt:lpstr>
      <vt:lpstr>Outline</vt:lpstr>
      <vt:lpstr>Unified Modeling Language</vt:lpstr>
      <vt:lpstr>Unified Modeling Language</vt:lpstr>
      <vt:lpstr>Unified Modeling Language</vt:lpstr>
      <vt:lpstr>Outline</vt:lpstr>
      <vt:lpstr>Class Diagram</vt:lpstr>
      <vt:lpstr>Class Diagram</vt:lpstr>
      <vt:lpstr>Class Diagram</vt:lpstr>
      <vt:lpstr>Outline</vt:lpstr>
      <vt:lpstr>Formal Specification Languages</vt:lpstr>
      <vt:lpstr>Z notation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Richard H. Guadana</dc:creator>
  <cp:lastModifiedBy>Cyrus RJ W. Robles</cp:lastModifiedBy>
  <cp:revision>60</cp:revision>
  <dcterms:created xsi:type="dcterms:W3CDTF">2020-08-03T03:06:31Z</dcterms:created>
  <dcterms:modified xsi:type="dcterms:W3CDTF">2024-05-09T21:37:13Z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