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314" r:id="rId3"/>
    <p:sldId id="315" r:id="rId4"/>
    <p:sldId id="317" r:id="rId5"/>
    <p:sldId id="318" r:id="rId6"/>
    <p:sldId id="319" r:id="rId7"/>
    <p:sldId id="321" r:id="rId8"/>
    <p:sldId id="320" r:id="rId9"/>
    <p:sldId id="316" r:id="rId10"/>
    <p:sldId id="322" r:id="rId11"/>
    <p:sldId id="336" r:id="rId12"/>
    <p:sldId id="335" r:id="rId13"/>
    <p:sldId id="337" r:id="rId14"/>
    <p:sldId id="338" r:id="rId15"/>
    <p:sldId id="339" r:id="rId16"/>
    <p:sldId id="340" r:id="rId17"/>
    <p:sldId id="34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3" autoAdjust="0"/>
    <p:restoredTop sz="94137" autoAdjust="0"/>
  </p:normalViewPr>
  <p:slideViewPr>
    <p:cSldViewPr snapToGrid="0">
      <p:cViewPr varScale="1">
        <p:scale>
          <a:sx n="77" d="100"/>
          <a:sy n="77" d="100"/>
        </p:scale>
        <p:origin x="8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18/04/2024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8840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35251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2179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62944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12266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48155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27524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25885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1778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8840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0722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3941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02638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0801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9184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987193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110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18/04/2024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18/04/2024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18/04/2024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18/04/2024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7.jpg"/><Relationship Id="rId4" Type="http://schemas.openxmlformats.org/officeDocument/2006/relationships/image" Target="../media/image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7.jp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H" b="1" dirty="0"/>
              <a:t>Polymorphism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32827-4F60-4C85-BA9F-CAC18540AC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PH" sz="2000" dirty="0"/>
          </a:p>
          <a:p>
            <a:pPr algn="l"/>
            <a:r>
              <a:rPr lang="en-PH" sz="2000" dirty="0"/>
              <a:t>Presented by:</a:t>
            </a:r>
          </a:p>
          <a:p>
            <a:pPr algn="l"/>
            <a:r>
              <a:rPr lang="en-PH" sz="2000" dirty="0"/>
              <a:t>Cyrus </a:t>
            </a:r>
            <a:r>
              <a:rPr lang="en-PH" sz="2000" dirty="0" err="1"/>
              <a:t>Rj</a:t>
            </a:r>
            <a:r>
              <a:rPr lang="en-PH" sz="2000" dirty="0"/>
              <a:t> W. Robles</a:t>
            </a:r>
            <a:endParaRPr lang="en-P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0501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What is Polymorphism?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500" b="0" i="0" dirty="0">
                <a:solidFill>
                  <a:srgbClr val="000000"/>
                </a:solidFill>
                <a:effectLst/>
                <a:latin typeface="Calibri (Body)"/>
              </a:rPr>
              <a:t>Polymorphism means "</a:t>
            </a:r>
            <a:r>
              <a:rPr lang="en-US" sz="2500" b="1" i="0" dirty="0">
                <a:solidFill>
                  <a:srgbClr val="000000"/>
                </a:solidFill>
                <a:effectLst/>
                <a:latin typeface="Calibri (Body)"/>
              </a:rPr>
              <a:t>many forms</a:t>
            </a:r>
            <a:r>
              <a:rPr lang="en-US" sz="2500" b="0" i="0" dirty="0">
                <a:solidFill>
                  <a:srgbClr val="000000"/>
                </a:solidFill>
                <a:effectLst/>
                <a:latin typeface="Calibri (Body)"/>
              </a:rPr>
              <a:t>“.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000000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500" b="0" i="0" dirty="0">
                <a:solidFill>
                  <a:srgbClr val="273239"/>
                </a:solidFill>
                <a:effectLst/>
                <a:latin typeface="Calibri (Body)"/>
              </a:rPr>
              <a:t> The word “</a:t>
            </a:r>
            <a:r>
              <a:rPr lang="en-US" sz="2500" b="1" i="0" dirty="0">
                <a:solidFill>
                  <a:srgbClr val="273239"/>
                </a:solidFill>
                <a:effectLst/>
                <a:latin typeface="Calibri (Body)"/>
              </a:rPr>
              <a:t>poly</a:t>
            </a:r>
            <a:r>
              <a:rPr lang="en-US" sz="2500" b="0" i="0" dirty="0">
                <a:solidFill>
                  <a:srgbClr val="273239"/>
                </a:solidFill>
                <a:effectLst/>
                <a:latin typeface="Calibri (Body)"/>
              </a:rPr>
              <a:t>” means many. 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273239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500" b="0" i="0" dirty="0">
                <a:solidFill>
                  <a:srgbClr val="273239"/>
                </a:solidFill>
                <a:effectLst/>
                <a:latin typeface="Calibri (Body)"/>
              </a:rPr>
              <a:t> The word “</a:t>
            </a:r>
            <a:r>
              <a:rPr lang="en-US" sz="2500" b="1" i="0" dirty="0">
                <a:solidFill>
                  <a:srgbClr val="273239"/>
                </a:solidFill>
                <a:effectLst/>
                <a:latin typeface="Calibri (Body)"/>
              </a:rPr>
              <a:t>morphs</a:t>
            </a:r>
            <a:r>
              <a:rPr lang="en-US" sz="2500" b="0" i="0" dirty="0">
                <a:solidFill>
                  <a:srgbClr val="273239"/>
                </a:solidFill>
                <a:effectLst/>
                <a:latin typeface="Calibri (Body)"/>
              </a:rPr>
              <a:t>” means forms.</a:t>
            </a:r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500" b="0" i="0" dirty="0">
                <a:solidFill>
                  <a:srgbClr val="273239"/>
                </a:solidFill>
                <a:effectLst/>
                <a:latin typeface="Calibri (Body)"/>
              </a:rPr>
              <a:t>Polymorphism allows </a:t>
            </a:r>
            <a:r>
              <a:rPr lang="en-US" sz="2500" dirty="0">
                <a:solidFill>
                  <a:srgbClr val="273239"/>
                </a:solidFill>
                <a:latin typeface="Calibri (Body)"/>
              </a:rPr>
              <a:t>an entity (method, operator, object)</a:t>
            </a:r>
            <a:r>
              <a:rPr lang="en-US" sz="2500" b="0" i="0" dirty="0">
                <a:solidFill>
                  <a:srgbClr val="273239"/>
                </a:solidFill>
                <a:effectLst/>
                <a:latin typeface="Calibri (Body)"/>
              </a:rPr>
              <a:t> to perform a single action in different ways.</a:t>
            </a:r>
            <a:endParaRPr lang="en-US" sz="2500" dirty="0">
              <a:solidFill>
                <a:srgbClr val="000000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000000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000000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620987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pic>
        <p:nvPicPr>
          <p:cNvPr id="20" name="Picture 19" descr="A person writing on a blackboard&#10;&#10;Description automatically generated with medium confidence">
            <a:extLst>
              <a:ext uri="{FF2B5EF4-FFF2-40B4-BE49-F238E27FC236}">
                <a16:creationId xmlns:a16="http://schemas.microsoft.com/office/drawing/2014/main" id="{6FA18AF8-D0F5-6EE8-27D1-6667F3F60F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14" y="1414609"/>
            <a:ext cx="2837803" cy="15962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78C4680-7500-37A3-1C78-EAD81B9726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458" y="3533668"/>
            <a:ext cx="1242748" cy="2049183"/>
          </a:xfrm>
          <a:prstGeom prst="rect">
            <a:avLst/>
          </a:prstGeom>
        </p:spPr>
      </p:pic>
      <p:pic>
        <p:nvPicPr>
          <p:cNvPr id="26" name="Picture 25" descr="A doll in a garden&#10;&#10;Description automatically generated with low confidence">
            <a:extLst>
              <a:ext uri="{FF2B5EF4-FFF2-40B4-BE49-F238E27FC236}">
                <a16:creationId xmlns:a16="http://schemas.microsoft.com/office/drawing/2014/main" id="{0F9CAC8A-3C00-FAB4-0312-EF74E67F50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592" y="3753880"/>
            <a:ext cx="2649514" cy="18679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30272C0-7E4E-1C08-5A52-FE44CA0080A3}"/>
              </a:ext>
            </a:extLst>
          </p:cNvPr>
          <p:cNvSpPr txBox="1"/>
          <p:nvPr/>
        </p:nvSpPr>
        <p:spPr>
          <a:xfrm>
            <a:off x="1547295" y="3037818"/>
            <a:ext cx="95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Teacher</a:t>
            </a:r>
            <a:endParaRPr lang="en-PH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CC6007-B368-1A08-8986-FD69E4DE4A21}"/>
              </a:ext>
            </a:extLst>
          </p:cNvPr>
          <p:cNvSpPr txBox="1"/>
          <p:nvPr/>
        </p:nvSpPr>
        <p:spPr>
          <a:xfrm>
            <a:off x="3875125" y="5624640"/>
            <a:ext cx="95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Student</a:t>
            </a:r>
            <a:endParaRPr lang="en-PH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7AA5DE-2574-D64C-9F72-E65413EAED88}"/>
              </a:ext>
            </a:extLst>
          </p:cNvPr>
          <p:cNvSpPr txBox="1"/>
          <p:nvPr/>
        </p:nvSpPr>
        <p:spPr>
          <a:xfrm>
            <a:off x="7951827" y="5676530"/>
            <a:ext cx="1145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Gardener</a:t>
            </a:r>
            <a:endParaRPr lang="en-PH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E042D6-02F3-3914-3A94-B53C7BBD97FF}"/>
              </a:ext>
            </a:extLst>
          </p:cNvPr>
          <p:cNvSpPr txBox="1"/>
          <p:nvPr/>
        </p:nvSpPr>
        <p:spPr>
          <a:xfrm>
            <a:off x="10110623" y="3037818"/>
            <a:ext cx="742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Diver</a:t>
            </a:r>
            <a:endParaRPr lang="en-PH" b="1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66E84E4-88EE-8784-1426-FCCCCE611B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438" y="1236213"/>
            <a:ext cx="2578566" cy="1774660"/>
          </a:xfrm>
          <a:prstGeom prst="rect">
            <a:avLst/>
          </a:prstGeom>
        </p:spPr>
      </p:pic>
      <p:sp>
        <p:nvSpPr>
          <p:cNvPr id="37" name="Arrow: Right 36">
            <a:extLst>
              <a:ext uri="{FF2B5EF4-FFF2-40B4-BE49-F238E27FC236}">
                <a16:creationId xmlns:a16="http://schemas.microsoft.com/office/drawing/2014/main" id="{0AB506BF-3913-EE46-CEEA-B0E27788B688}"/>
              </a:ext>
            </a:extLst>
          </p:cNvPr>
          <p:cNvSpPr/>
          <p:nvPr/>
        </p:nvSpPr>
        <p:spPr>
          <a:xfrm rot="10800000">
            <a:off x="4075075" y="1976939"/>
            <a:ext cx="630883" cy="4716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D08322B2-DDB7-05E6-56FC-0FA517EF056E}"/>
              </a:ext>
            </a:extLst>
          </p:cNvPr>
          <p:cNvSpPr/>
          <p:nvPr/>
        </p:nvSpPr>
        <p:spPr>
          <a:xfrm rot="8346583">
            <a:off x="4775365" y="3137356"/>
            <a:ext cx="630883" cy="4716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2D84384-1683-A66E-8E6C-E39A4B098B1F}"/>
              </a:ext>
            </a:extLst>
          </p:cNvPr>
          <p:cNvSpPr/>
          <p:nvPr/>
        </p:nvSpPr>
        <p:spPr>
          <a:xfrm rot="2709872">
            <a:off x="6810478" y="3161978"/>
            <a:ext cx="630883" cy="4716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EB281E43-241D-C0C7-6BE7-BE17C2A77843}"/>
              </a:ext>
            </a:extLst>
          </p:cNvPr>
          <p:cNvSpPr/>
          <p:nvPr/>
        </p:nvSpPr>
        <p:spPr>
          <a:xfrm>
            <a:off x="7760006" y="1927882"/>
            <a:ext cx="630883" cy="4716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AA3580B-2851-5C8D-6065-A3CE12C38767}"/>
              </a:ext>
            </a:extLst>
          </p:cNvPr>
          <p:cNvGrpSpPr/>
          <p:nvPr/>
        </p:nvGrpSpPr>
        <p:grpSpPr>
          <a:xfrm>
            <a:off x="5233543" y="0"/>
            <a:ext cx="1724914" cy="3481229"/>
            <a:chOff x="5233543" y="0"/>
            <a:chExt cx="1724914" cy="3481229"/>
          </a:xfrm>
        </p:grpSpPr>
        <p:pic>
          <p:nvPicPr>
            <p:cNvPr id="34" name="Picture 33" descr="A picture containing clothing&#10;&#10;Description automatically generated">
              <a:extLst>
                <a:ext uri="{FF2B5EF4-FFF2-40B4-BE49-F238E27FC236}">
                  <a16:creationId xmlns:a16="http://schemas.microsoft.com/office/drawing/2014/main" id="{C7887F39-432C-03A8-C177-AEE2C4D6F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3543" y="0"/>
              <a:ext cx="1724914" cy="3150994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4A13BC2-B623-8AEB-1B00-2CBBE1E9E4C8}"/>
                </a:ext>
              </a:extLst>
            </p:cNvPr>
            <p:cNvSpPr txBox="1"/>
            <p:nvPr/>
          </p:nvSpPr>
          <p:spPr>
            <a:xfrm>
              <a:off x="5938809" y="3111897"/>
              <a:ext cx="497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</a:t>
              </a:r>
              <a:endParaRPr lang="en-PH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32156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7" grpId="0" animBg="1"/>
      <p:bldP spid="38" grpId="0" animBg="1"/>
      <p:bldP spid="39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Forms of Polymorphism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21560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000" b="1" i="0" dirty="0">
                <a:effectLst/>
                <a:latin typeface="Calibri (Body)"/>
              </a:rPr>
              <a:t>Method Overriding. </a:t>
            </a:r>
          </a:p>
          <a:p>
            <a:pPr algn="l"/>
            <a:r>
              <a:rPr lang="en-US" sz="2000" dirty="0">
                <a:latin typeface="Calibri (Body)"/>
              </a:rPr>
              <a:t>Occurs when </a:t>
            </a:r>
            <a:r>
              <a:rPr lang="en-US" sz="2000" b="0" i="0" dirty="0">
                <a:effectLst/>
                <a:latin typeface="Calibri (Body)"/>
              </a:rPr>
              <a:t>a subclass or a child class has the same method as declared in the parent class.</a:t>
            </a:r>
          </a:p>
          <a:p>
            <a:pPr algn="l"/>
            <a:endParaRPr lang="en-US" sz="2000" b="1" dirty="0"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000" b="1" dirty="0">
                <a:latin typeface="Calibri (Body)"/>
              </a:rPr>
              <a:t>Method Overloading.</a:t>
            </a:r>
          </a:p>
          <a:p>
            <a:pPr algn="l"/>
            <a:r>
              <a:rPr lang="en-US" sz="2000" dirty="0">
                <a:latin typeface="Calibri (Body)"/>
              </a:rPr>
              <a:t>O</a:t>
            </a:r>
            <a:r>
              <a:rPr lang="en-US" sz="2000" b="0" i="0" dirty="0">
                <a:effectLst/>
                <a:latin typeface="Calibri (Body)"/>
              </a:rPr>
              <a:t>ccurs when 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Calibri (Body)"/>
              </a:rPr>
              <a:t>where two or more methods have the same name but have different parameters.</a:t>
            </a:r>
            <a:endParaRPr lang="en-US" sz="2000" dirty="0">
              <a:latin typeface="Calibri (Body)"/>
            </a:endParaRPr>
          </a:p>
          <a:p>
            <a:pPr algn="l"/>
            <a:endParaRPr lang="en-US" sz="2000" dirty="0"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b="1" dirty="0">
                <a:latin typeface="Calibri (Body)"/>
              </a:rPr>
              <a:t>Operator Overloading</a:t>
            </a:r>
          </a:p>
          <a:p>
            <a:pPr algn="l"/>
            <a:r>
              <a:rPr lang="en-US" sz="2000" b="0" i="0" dirty="0">
                <a:solidFill>
                  <a:srgbClr val="444444"/>
                </a:solidFill>
                <a:effectLst/>
                <a:latin typeface="Calibri (Body)"/>
              </a:rPr>
              <a:t>Occurs when a</a:t>
            </a:r>
            <a:r>
              <a:rPr lang="en-US" sz="2000" dirty="0">
                <a:solidFill>
                  <a:srgbClr val="444444"/>
                </a:solidFill>
                <a:latin typeface="Calibri (Body)"/>
              </a:rPr>
              <a:t>n operator perform different tasks. (e.g. the “+” operator)</a:t>
            </a:r>
          </a:p>
          <a:p>
            <a:pPr algn="l"/>
            <a:endParaRPr lang="en-US" sz="2000" b="0" i="0" dirty="0">
              <a:solidFill>
                <a:srgbClr val="444444"/>
              </a:solidFill>
              <a:effectLst/>
              <a:latin typeface="Calibri (Body)"/>
            </a:endParaRPr>
          </a:p>
          <a:p>
            <a:pPr algn="l"/>
            <a:endParaRPr lang="en-US" sz="2000" dirty="0">
              <a:solidFill>
                <a:srgbClr val="444444"/>
              </a:solidFill>
              <a:latin typeface="Calibri (Body)"/>
            </a:endParaRPr>
          </a:p>
          <a:p>
            <a:pPr algn="l"/>
            <a:endParaRPr lang="en-US" sz="2000" b="0" i="0" dirty="0">
              <a:solidFill>
                <a:srgbClr val="444444"/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873712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Forms of Polymorphism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21560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b="1" dirty="0">
                <a:latin typeface="Calibri (Body)"/>
              </a:rPr>
              <a:t>Polymorphic Variables </a:t>
            </a:r>
          </a:p>
          <a:p>
            <a:pPr algn="l"/>
            <a:r>
              <a:rPr lang="en-US" sz="2000" b="0" i="0" dirty="0">
                <a:solidFill>
                  <a:srgbClr val="444444"/>
                </a:solidFill>
                <a:effectLst/>
                <a:latin typeface="Calibri (Body)"/>
              </a:rPr>
              <a:t>The Polymorphic Variable is a variable that can hold values of different types during the time of execution.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000" b="1" dirty="0"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000" b="1" dirty="0"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b="1" dirty="0">
                <a:latin typeface="Calibri (Body)"/>
              </a:rPr>
              <a:t>Polymorphic Parameters</a:t>
            </a:r>
          </a:p>
          <a:p>
            <a:pPr algn="l" fontAlgn="base"/>
            <a:r>
              <a:rPr lang="en-US" sz="2000" b="0" i="0" dirty="0">
                <a:solidFill>
                  <a:srgbClr val="444444"/>
                </a:solidFill>
                <a:effectLst/>
                <a:latin typeface="Calibri (Body)"/>
              </a:rPr>
              <a:t>Occurs when a method parameter can associate with different types, and a method name can associate with different parameters and return types.</a:t>
            </a:r>
          </a:p>
          <a:p>
            <a:pPr algn="l" fontAlgn="base"/>
            <a:endParaRPr lang="en-US" sz="2000" b="0" i="0" dirty="0">
              <a:solidFill>
                <a:srgbClr val="444444"/>
              </a:solidFill>
              <a:effectLst/>
              <a:latin typeface="Calibri (Body)"/>
            </a:endParaRPr>
          </a:p>
          <a:p>
            <a:pPr algn="l" fontAlgn="base"/>
            <a:endParaRPr lang="en-US" sz="2000" b="0" i="0" dirty="0">
              <a:solidFill>
                <a:srgbClr val="444444"/>
              </a:solidFill>
              <a:effectLst/>
              <a:latin typeface="Calibri (Body)"/>
            </a:endParaRPr>
          </a:p>
          <a:p>
            <a:pPr algn="l" fontAlgn="base"/>
            <a:endParaRPr lang="en-US" sz="2000" dirty="0">
              <a:solidFill>
                <a:srgbClr val="444444"/>
              </a:solidFill>
              <a:latin typeface="Calibri (Body)"/>
            </a:endParaRPr>
          </a:p>
          <a:p>
            <a:pPr algn="l" fontAlgn="base"/>
            <a:endParaRPr lang="en-US" sz="2000" b="0" i="0" dirty="0">
              <a:solidFill>
                <a:srgbClr val="444444"/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438130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Method Overriding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EAE198-2C40-F4EB-E5E5-BEF682E7344E}"/>
              </a:ext>
            </a:extLst>
          </p:cNvPr>
          <p:cNvSpPr txBox="1"/>
          <p:nvPr/>
        </p:nvSpPr>
        <p:spPr>
          <a:xfrm>
            <a:off x="1412310" y="1572260"/>
            <a:ext cx="13883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dirty="0">
                <a:solidFill>
                  <a:srgbClr val="7030A0"/>
                </a:solidFill>
                <a:latin typeface="Consolas" panose="020B0609020204030204" pitchFamily="49" charset="0"/>
              </a:rPr>
              <a:t>class </a:t>
            </a:r>
            <a:r>
              <a:rPr lang="en-PH" sz="1500" dirty="0">
                <a:solidFill>
                  <a:srgbClr val="00B0F0"/>
                </a:solidFill>
                <a:latin typeface="Consolas" panose="020B0609020204030204" pitchFamily="49" charset="0"/>
              </a:rPr>
              <a:t>Mommy</a:t>
            </a:r>
            <a:endParaRPr lang="en-PH" sz="15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1A3627-91D7-5E2C-DF35-5C6DE6B5194D}"/>
              </a:ext>
            </a:extLst>
          </p:cNvPr>
          <p:cNvSpPr txBox="1"/>
          <p:nvPr/>
        </p:nvSpPr>
        <p:spPr>
          <a:xfrm>
            <a:off x="2800611" y="1572260"/>
            <a:ext cx="3764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dirty="0">
                <a:latin typeface="Consolas" panose="020B0609020204030204" pitchFamily="49" charset="0"/>
              </a:rPr>
              <a:t>{</a:t>
            </a:r>
            <a:endParaRPr lang="en-PH" sz="1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FD2795-6077-49C2-F560-DD966EAEA432}"/>
              </a:ext>
            </a:extLst>
          </p:cNvPr>
          <p:cNvSpPr txBox="1"/>
          <p:nvPr/>
        </p:nvSpPr>
        <p:spPr>
          <a:xfrm>
            <a:off x="1412310" y="3031071"/>
            <a:ext cx="3757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dirty="0">
                <a:latin typeface="Consolas" panose="020B0609020204030204" pitchFamily="49" charset="0"/>
              </a:rPr>
              <a:t>}</a:t>
            </a:r>
            <a:endParaRPr lang="en-PH" sz="1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1F6877-C7A4-AC6D-2A5A-AC30ABA08B20}"/>
              </a:ext>
            </a:extLst>
          </p:cNvPr>
          <p:cNvSpPr txBox="1"/>
          <p:nvPr/>
        </p:nvSpPr>
        <p:spPr>
          <a:xfrm>
            <a:off x="1600200" y="1996229"/>
            <a:ext cx="54991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dirty="0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en-PH" sz="1500" dirty="0">
                <a:latin typeface="Consolas" panose="020B0609020204030204" pitchFamily="49" charset="0"/>
              </a:rPr>
              <a:t> </a:t>
            </a:r>
            <a:r>
              <a:rPr lang="en-PH" sz="1500" dirty="0">
                <a:solidFill>
                  <a:srgbClr val="00B0F0"/>
                </a:solidFill>
                <a:latin typeface="Consolas" panose="020B0609020204030204" pitchFamily="49" charset="0"/>
              </a:rPr>
              <a:t>void </a:t>
            </a:r>
            <a:r>
              <a:rPr lang="en-PH" sz="1500" dirty="0" err="1">
                <a:solidFill>
                  <a:srgbClr val="0070C0"/>
                </a:solidFill>
                <a:latin typeface="Consolas" panose="020B0609020204030204" pitchFamily="49" charset="0"/>
              </a:rPr>
              <a:t>getSurname</a:t>
            </a:r>
            <a:r>
              <a:rPr lang="en-PH" sz="1500" dirty="0">
                <a:latin typeface="Consolas" panose="020B0609020204030204" pitchFamily="49" charset="0"/>
              </a:rPr>
              <a:t>() {</a:t>
            </a:r>
          </a:p>
          <a:p>
            <a:endParaRPr lang="en-PH" sz="1500" dirty="0">
              <a:latin typeface="Consolas" panose="020B0609020204030204" pitchFamily="49" charset="0"/>
            </a:endParaRPr>
          </a:p>
          <a:p>
            <a:r>
              <a:rPr lang="en-PH" sz="1500" dirty="0">
                <a:latin typeface="Consolas" panose="020B0609020204030204" pitchFamily="49" charset="0"/>
              </a:rPr>
              <a:t>	</a:t>
            </a:r>
            <a:r>
              <a:rPr lang="en-PH" sz="1500" dirty="0" err="1">
                <a:latin typeface="Consolas" panose="020B0609020204030204" pitchFamily="49" charset="0"/>
              </a:rPr>
              <a:t>System.out.print</a:t>
            </a:r>
            <a:r>
              <a:rPr lang="en-PH" sz="1500" dirty="0">
                <a:latin typeface="Consolas" panose="020B0609020204030204" pitchFamily="49" charset="0"/>
              </a:rPr>
              <a:t>(“my surname is Robles”); </a:t>
            </a:r>
          </a:p>
          <a:p>
            <a:r>
              <a:rPr lang="en-PH" sz="1500" dirty="0">
                <a:latin typeface="Consolas" panose="020B0609020204030204" pitchFamily="49" charset="0"/>
              </a:rPr>
              <a:t>}</a:t>
            </a:r>
          </a:p>
          <a:p>
            <a:endParaRPr lang="en-PH" sz="1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51B015-5E2B-C089-B179-1451FE183538}"/>
              </a:ext>
            </a:extLst>
          </p:cNvPr>
          <p:cNvSpPr txBox="1"/>
          <p:nvPr/>
        </p:nvSpPr>
        <p:spPr>
          <a:xfrm>
            <a:off x="1412310" y="3677747"/>
            <a:ext cx="31283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dirty="0">
                <a:solidFill>
                  <a:srgbClr val="7030A0"/>
                </a:solidFill>
                <a:latin typeface="Consolas" panose="020B0609020204030204" pitchFamily="49" charset="0"/>
              </a:rPr>
              <a:t>class </a:t>
            </a:r>
            <a:r>
              <a:rPr lang="en-PH" sz="1500" dirty="0">
                <a:solidFill>
                  <a:srgbClr val="00B0F0"/>
                </a:solidFill>
                <a:latin typeface="Consolas" panose="020B0609020204030204" pitchFamily="49" charset="0"/>
              </a:rPr>
              <a:t>Daughter</a:t>
            </a:r>
            <a:r>
              <a:rPr lang="en-PH" sz="1500" dirty="0">
                <a:solidFill>
                  <a:srgbClr val="7030A0"/>
                </a:solidFill>
                <a:latin typeface="Consolas" panose="020B0609020204030204" pitchFamily="49" charset="0"/>
              </a:rPr>
              <a:t> extends </a:t>
            </a:r>
            <a:r>
              <a:rPr lang="en-PH" sz="1500" dirty="0">
                <a:solidFill>
                  <a:srgbClr val="00B0F0"/>
                </a:solidFill>
                <a:latin typeface="Consolas" panose="020B0609020204030204" pitchFamily="49" charset="0"/>
              </a:rPr>
              <a:t>Mommy</a:t>
            </a:r>
            <a:endParaRPr lang="en-PH" sz="1500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A23BC3-22FB-1B3B-3108-2964F9135338}"/>
              </a:ext>
            </a:extLst>
          </p:cNvPr>
          <p:cNvSpPr txBox="1"/>
          <p:nvPr/>
        </p:nvSpPr>
        <p:spPr>
          <a:xfrm>
            <a:off x="4540686" y="3685921"/>
            <a:ext cx="3764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dirty="0">
                <a:latin typeface="Consolas" panose="020B0609020204030204" pitchFamily="49" charset="0"/>
              </a:rPr>
              <a:t>{</a:t>
            </a:r>
            <a:endParaRPr lang="en-PH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6CE88C-87FE-F3EF-AE50-06E80CEA3D44}"/>
              </a:ext>
            </a:extLst>
          </p:cNvPr>
          <p:cNvSpPr txBox="1"/>
          <p:nvPr/>
        </p:nvSpPr>
        <p:spPr>
          <a:xfrm>
            <a:off x="1412310" y="5136558"/>
            <a:ext cx="3757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dirty="0">
                <a:latin typeface="Consolas" panose="020B0609020204030204" pitchFamily="49" charset="0"/>
              </a:rPr>
              <a:t>}</a:t>
            </a:r>
            <a:endParaRPr lang="en-PH" sz="1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44F828-ECDF-0894-6414-96D55881FE5E}"/>
              </a:ext>
            </a:extLst>
          </p:cNvPr>
          <p:cNvSpPr txBox="1"/>
          <p:nvPr/>
        </p:nvSpPr>
        <p:spPr>
          <a:xfrm>
            <a:off x="1600200" y="4101716"/>
            <a:ext cx="64135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500" dirty="0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en-PH" sz="1500" dirty="0">
                <a:latin typeface="Consolas" panose="020B0609020204030204" pitchFamily="49" charset="0"/>
              </a:rPr>
              <a:t> </a:t>
            </a:r>
            <a:r>
              <a:rPr lang="en-PH" sz="1500" dirty="0">
                <a:solidFill>
                  <a:srgbClr val="00B0F0"/>
                </a:solidFill>
                <a:latin typeface="Consolas" panose="020B0609020204030204" pitchFamily="49" charset="0"/>
              </a:rPr>
              <a:t>void </a:t>
            </a:r>
            <a:r>
              <a:rPr lang="en-PH" sz="1500" dirty="0" err="1">
                <a:solidFill>
                  <a:srgbClr val="0070C0"/>
                </a:solidFill>
                <a:latin typeface="Consolas" panose="020B0609020204030204" pitchFamily="49" charset="0"/>
              </a:rPr>
              <a:t>getSurname</a:t>
            </a:r>
            <a:r>
              <a:rPr lang="en-PH" sz="1500" dirty="0">
                <a:latin typeface="Consolas" panose="020B0609020204030204" pitchFamily="49" charset="0"/>
              </a:rPr>
              <a:t>() {</a:t>
            </a:r>
          </a:p>
          <a:p>
            <a:endParaRPr lang="en-PH" sz="1500" dirty="0">
              <a:latin typeface="Consolas" panose="020B0609020204030204" pitchFamily="49" charset="0"/>
            </a:endParaRPr>
          </a:p>
          <a:p>
            <a:r>
              <a:rPr lang="en-PH" sz="1500" dirty="0">
                <a:latin typeface="Consolas" panose="020B0609020204030204" pitchFamily="49" charset="0"/>
              </a:rPr>
              <a:t>	 </a:t>
            </a:r>
            <a:r>
              <a:rPr lang="en-PH" sz="1500" dirty="0" err="1">
                <a:latin typeface="Consolas" panose="020B0609020204030204" pitchFamily="49" charset="0"/>
              </a:rPr>
              <a:t>System.out.print</a:t>
            </a:r>
            <a:r>
              <a:rPr lang="en-PH" sz="1500" dirty="0">
                <a:latin typeface="Consolas" panose="020B0609020204030204" pitchFamily="49" charset="0"/>
              </a:rPr>
              <a:t>(“my family name </a:t>
            </a:r>
            <a:r>
              <a:rPr lang="en-PH" sz="1500">
                <a:latin typeface="Consolas" panose="020B0609020204030204" pitchFamily="49" charset="0"/>
              </a:rPr>
              <a:t>is Robles”); </a:t>
            </a:r>
            <a:endParaRPr lang="en-PH" sz="1500" dirty="0">
              <a:latin typeface="Consolas" panose="020B0609020204030204" pitchFamily="49" charset="0"/>
            </a:endParaRPr>
          </a:p>
          <a:p>
            <a:r>
              <a:rPr lang="en-PH" sz="1500" dirty="0">
                <a:latin typeface="Consolas" panose="020B0609020204030204" pitchFamily="49" charset="0"/>
              </a:rPr>
              <a:t>}</a:t>
            </a:r>
          </a:p>
          <a:p>
            <a:endParaRPr lang="en-PH" sz="1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697105-D7BC-9ECD-E05B-B9C8E48C5D47}"/>
              </a:ext>
            </a:extLst>
          </p:cNvPr>
          <p:cNvSpPr txBox="1"/>
          <p:nvPr/>
        </p:nvSpPr>
        <p:spPr>
          <a:xfrm>
            <a:off x="9425837" y="4080345"/>
            <a:ext cx="285462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rgbClr val="FF0000"/>
                </a:solidFill>
              </a:rPr>
              <a:t>Method override</a:t>
            </a:r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740B85B4-5695-081F-7B80-34BBD6729DE7}"/>
              </a:ext>
            </a:extLst>
          </p:cNvPr>
          <p:cNvSpPr/>
          <p:nvPr/>
        </p:nvSpPr>
        <p:spPr>
          <a:xfrm>
            <a:off x="8100251" y="4072767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5995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/>
      <p:bldP spid="13" grpId="0"/>
      <p:bldP spid="14" grpId="0"/>
      <p:bldP spid="15" grpId="0"/>
      <p:bldP spid="16" grpId="0"/>
      <p:bldP spid="17" grpId="0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Method Overloading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EAE198-2C40-F4EB-E5E5-BEF682E7344E}"/>
              </a:ext>
            </a:extLst>
          </p:cNvPr>
          <p:cNvSpPr txBox="1"/>
          <p:nvPr/>
        </p:nvSpPr>
        <p:spPr>
          <a:xfrm>
            <a:off x="1164660" y="1889689"/>
            <a:ext cx="167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rgbClr val="7030A0"/>
                </a:solidFill>
                <a:latin typeface="Consolas" panose="020B0609020204030204" pitchFamily="49" charset="0"/>
              </a:rPr>
              <a:t>class </a:t>
            </a:r>
            <a:r>
              <a:rPr lang="en-PH" dirty="0">
                <a:solidFill>
                  <a:srgbClr val="00B0F0"/>
                </a:solidFill>
                <a:latin typeface="Consolas" panose="020B0609020204030204" pitchFamily="49" charset="0"/>
              </a:rPr>
              <a:t>Math</a:t>
            </a:r>
            <a:endParaRPr lang="en-PH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1A3627-91D7-5E2C-DF35-5C6DE6B5194D}"/>
              </a:ext>
            </a:extLst>
          </p:cNvPr>
          <p:cNvSpPr txBox="1"/>
          <p:nvPr/>
        </p:nvSpPr>
        <p:spPr>
          <a:xfrm>
            <a:off x="2650233" y="1882118"/>
            <a:ext cx="376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latin typeface="Consolas" panose="020B0609020204030204" pitchFamily="49" charset="0"/>
              </a:rPr>
              <a:t>{</a:t>
            </a:r>
            <a:endParaRPr lang="en-P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FD2795-6077-49C2-F560-DD966EAEA432}"/>
              </a:ext>
            </a:extLst>
          </p:cNvPr>
          <p:cNvSpPr txBox="1"/>
          <p:nvPr/>
        </p:nvSpPr>
        <p:spPr>
          <a:xfrm>
            <a:off x="1164659" y="4819130"/>
            <a:ext cx="375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latin typeface="Consolas" panose="020B0609020204030204" pitchFamily="49" charset="0"/>
              </a:rPr>
              <a:t>}</a:t>
            </a:r>
            <a:endParaRPr lang="en-P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1F6877-C7A4-AC6D-2A5A-AC30ABA08B20}"/>
              </a:ext>
            </a:extLst>
          </p:cNvPr>
          <p:cNvSpPr txBox="1"/>
          <p:nvPr/>
        </p:nvSpPr>
        <p:spPr>
          <a:xfrm>
            <a:off x="1352550" y="2313658"/>
            <a:ext cx="6159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en-PH" dirty="0">
                <a:latin typeface="Consolas" panose="020B0609020204030204" pitchFamily="49" charset="0"/>
              </a:rPr>
              <a:t> </a:t>
            </a:r>
            <a:r>
              <a:rPr lang="en-PH" dirty="0">
                <a:solidFill>
                  <a:srgbClr val="00B0F0"/>
                </a:solidFill>
                <a:latin typeface="Consolas" panose="020B0609020204030204" pitchFamily="49" charset="0"/>
              </a:rPr>
              <a:t>void </a:t>
            </a:r>
            <a:r>
              <a:rPr lang="en-PH" dirty="0">
                <a:solidFill>
                  <a:srgbClr val="0070C0"/>
                </a:solidFill>
                <a:latin typeface="Consolas" panose="020B0609020204030204" pitchFamily="49" charset="0"/>
              </a:rPr>
              <a:t>add</a:t>
            </a:r>
            <a:r>
              <a:rPr lang="en-PH" dirty="0">
                <a:latin typeface="Consolas" panose="020B0609020204030204" pitchFamily="49" charset="0"/>
              </a:rPr>
              <a:t>(int a, int b) {</a:t>
            </a:r>
          </a:p>
          <a:p>
            <a:endParaRPr lang="en-PH" dirty="0">
              <a:latin typeface="Consolas" panose="020B0609020204030204" pitchFamily="49" charset="0"/>
            </a:endParaRPr>
          </a:p>
          <a:p>
            <a:r>
              <a:rPr lang="en-PH" dirty="0">
                <a:latin typeface="Consolas" panose="020B0609020204030204" pitchFamily="49" charset="0"/>
              </a:rPr>
              <a:t>	</a:t>
            </a:r>
            <a:r>
              <a:rPr lang="en-PH" dirty="0" err="1">
                <a:latin typeface="Consolas" panose="020B0609020204030204" pitchFamily="49" charset="0"/>
              </a:rPr>
              <a:t>System.out.print</a:t>
            </a:r>
            <a:r>
              <a:rPr lang="en-PH" dirty="0">
                <a:latin typeface="Consolas" panose="020B0609020204030204" pitchFamily="49" charset="0"/>
              </a:rPr>
              <a:t>(a + b); </a:t>
            </a:r>
          </a:p>
          <a:p>
            <a:r>
              <a:rPr lang="en-PH" dirty="0">
                <a:latin typeface="Consolas" panose="020B0609020204030204" pitchFamily="49" charset="0"/>
              </a:rPr>
              <a:t>}</a:t>
            </a:r>
          </a:p>
          <a:p>
            <a:endParaRPr lang="en-PH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697105-D7BC-9ECD-E05B-B9C8E48C5D47}"/>
              </a:ext>
            </a:extLst>
          </p:cNvPr>
          <p:cNvSpPr txBox="1"/>
          <p:nvPr/>
        </p:nvSpPr>
        <p:spPr>
          <a:xfrm>
            <a:off x="9425837" y="4080345"/>
            <a:ext cx="285462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rgbClr val="FF0000"/>
                </a:solidFill>
              </a:rPr>
              <a:t>Method overload</a:t>
            </a:r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740B85B4-5695-081F-7B80-34BBD6729DE7}"/>
              </a:ext>
            </a:extLst>
          </p:cNvPr>
          <p:cNvSpPr/>
          <p:nvPr/>
        </p:nvSpPr>
        <p:spPr>
          <a:xfrm>
            <a:off x="8100251" y="4072767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32CEF-07C1-C053-EEE0-26F859F76CA3}"/>
              </a:ext>
            </a:extLst>
          </p:cNvPr>
          <p:cNvSpPr txBox="1"/>
          <p:nvPr/>
        </p:nvSpPr>
        <p:spPr>
          <a:xfrm>
            <a:off x="1352550" y="3711664"/>
            <a:ext cx="6616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en-PH" dirty="0">
                <a:latin typeface="Consolas" panose="020B0609020204030204" pitchFamily="49" charset="0"/>
              </a:rPr>
              <a:t> </a:t>
            </a:r>
            <a:r>
              <a:rPr lang="en-PH" dirty="0">
                <a:solidFill>
                  <a:srgbClr val="00B0F0"/>
                </a:solidFill>
                <a:latin typeface="Consolas" panose="020B0609020204030204" pitchFamily="49" charset="0"/>
              </a:rPr>
              <a:t>void </a:t>
            </a:r>
            <a:r>
              <a:rPr lang="en-PH" dirty="0">
                <a:solidFill>
                  <a:srgbClr val="0070C0"/>
                </a:solidFill>
                <a:latin typeface="Consolas" panose="020B0609020204030204" pitchFamily="49" charset="0"/>
              </a:rPr>
              <a:t>add</a:t>
            </a:r>
            <a:r>
              <a:rPr lang="en-PH" dirty="0">
                <a:latin typeface="Consolas" panose="020B0609020204030204" pitchFamily="49" charset="0"/>
              </a:rPr>
              <a:t>(double a, double b) {</a:t>
            </a:r>
          </a:p>
          <a:p>
            <a:endParaRPr lang="en-PH" dirty="0">
              <a:latin typeface="Consolas" panose="020B0609020204030204" pitchFamily="49" charset="0"/>
            </a:endParaRPr>
          </a:p>
          <a:p>
            <a:r>
              <a:rPr lang="en-PH" dirty="0">
                <a:latin typeface="Consolas" panose="020B0609020204030204" pitchFamily="49" charset="0"/>
              </a:rPr>
              <a:t>	</a:t>
            </a:r>
            <a:r>
              <a:rPr lang="en-PH" dirty="0" err="1">
                <a:latin typeface="Consolas" panose="020B0609020204030204" pitchFamily="49" charset="0"/>
              </a:rPr>
              <a:t>System.out.print</a:t>
            </a:r>
            <a:r>
              <a:rPr lang="en-PH" dirty="0">
                <a:latin typeface="Consolas" panose="020B0609020204030204" pitchFamily="49" charset="0"/>
              </a:rPr>
              <a:t>(a + b);</a:t>
            </a:r>
          </a:p>
          <a:p>
            <a:r>
              <a:rPr lang="en-PH" dirty="0">
                <a:latin typeface="Consolas" panose="020B0609020204030204" pitchFamily="49" charset="0"/>
              </a:rPr>
              <a:t>}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9662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/>
      <p:bldP spid="17" grpId="0"/>
      <p:bldP spid="18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Operator Overloading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EAE198-2C40-F4EB-E5E5-BEF682E7344E}"/>
              </a:ext>
            </a:extLst>
          </p:cNvPr>
          <p:cNvSpPr txBox="1"/>
          <p:nvPr/>
        </p:nvSpPr>
        <p:spPr>
          <a:xfrm>
            <a:off x="1405683" y="1622716"/>
            <a:ext cx="167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rgbClr val="7030A0"/>
                </a:solidFill>
                <a:latin typeface="Consolas" panose="020B0609020204030204" pitchFamily="49" charset="0"/>
              </a:rPr>
              <a:t>class </a:t>
            </a:r>
            <a:r>
              <a:rPr lang="en-PH" dirty="0">
                <a:solidFill>
                  <a:srgbClr val="00B0F0"/>
                </a:solidFill>
                <a:latin typeface="Consolas" panose="020B0609020204030204" pitchFamily="49" charset="0"/>
              </a:rPr>
              <a:t>App</a:t>
            </a:r>
            <a:endParaRPr lang="en-PH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1A3627-91D7-5E2C-DF35-5C6DE6B5194D}"/>
              </a:ext>
            </a:extLst>
          </p:cNvPr>
          <p:cNvSpPr txBox="1"/>
          <p:nvPr/>
        </p:nvSpPr>
        <p:spPr>
          <a:xfrm>
            <a:off x="2891256" y="1615145"/>
            <a:ext cx="376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latin typeface="Consolas" panose="020B0609020204030204" pitchFamily="49" charset="0"/>
              </a:rPr>
              <a:t>{</a:t>
            </a:r>
            <a:endParaRPr lang="en-P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FD2795-6077-49C2-F560-DD966EAEA432}"/>
              </a:ext>
            </a:extLst>
          </p:cNvPr>
          <p:cNvSpPr txBox="1"/>
          <p:nvPr/>
        </p:nvSpPr>
        <p:spPr>
          <a:xfrm>
            <a:off x="1405683" y="5555338"/>
            <a:ext cx="375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latin typeface="Consolas" panose="020B0609020204030204" pitchFamily="49" charset="0"/>
              </a:rPr>
              <a:t>}</a:t>
            </a:r>
            <a:endParaRPr lang="en-P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1F6877-C7A4-AC6D-2A5A-AC30ABA08B20}"/>
              </a:ext>
            </a:extLst>
          </p:cNvPr>
          <p:cNvSpPr txBox="1"/>
          <p:nvPr/>
        </p:nvSpPr>
        <p:spPr>
          <a:xfrm>
            <a:off x="1593573" y="2046685"/>
            <a:ext cx="61595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en-PH" dirty="0">
                <a:latin typeface="Consolas" panose="020B0609020204030204" pitchFamily="49" charset="0"/>
              </a:rPr>
              <a:t> static </a:t>
            </a:r>
            <a:r>
              <a:rPr lang="en-PH" dirty="0">
                <a:solidFill>
                  <a:srgbClr val="00B0F0"/>
                </a:solidFill>
                <a:latin typeface="Consolas" panose="020B0609020204030204" pitchFamily="49" charset="0"/>
              </a:rPr>
              <a:t>void </a:t>
            </a:r>
            <a:r>
              <a:rPr lang="en-PH" dirty="0">
                <a:solidFill>
                  <a:srgbClr val="0070C0"/>
                </a:solidFill>
                <a:latin typeface="Consolas" panose="020B0609020204030204" pitchFamily="49" charset="0"/>
              </a:rPr>
              <a:t>main</a:t>
            </a:r>
            <a:r>
              <a:rPr lang="en-PH" dirty="0">
                <a:latin typeface="Consolas" panose="020B0609020204030204" pitchFamily="49" charset="0"/>
              </a:rPr>
              <a:t>(String[] </a:t>
            </a:r>
            <a:r>
              <a:rPr lang="en-PH" dirty="0" err="1">
                <a:latin typeface="Consolas" panose="020B0609020204030204" pitchFamily="49" charset="0"/>
              </a:rPr>
              <a:t>args</a:t>
            </a:r>
            <a:r>
              <a:rPr lang="en-PH" dirty="0">
                <a:latin typeface="Consolas" panose="020B0609020204030204" pitchFamily="49" charset="0"/>
              </a:rPr>
              <a:t>) {</a:t>
            </a:r>
          </a:p>
          <a:p>
            <a:r>
              <a:rPr lang="en-PH" dirty="0">
                <a:latin typeface="Consolas" panose="020B0609020204030204" pitchFamily="49" charset="0"/>
              </a:rPr>
              <a:t>	</a:t>
            </a:r>
          </a:p>
          <a:p>
            <a:r>
              <a:rPr lang="en-PH" dirty="0">
                <a:latin typeface="Consolas" panose="020B0609020204030204" pitchFamily="49" charset="0"/>
              </a:rPr>
              <a:t>	int x = 1;</a:t>
            </a:r>
          </a:p>
          <a:p>
            <a:r>
              <a:rPr lang="en-PH" dirty="0">
                <a:latin typeface="Consolas" panose="020B0609020204030204" pitchFamily="49" charset="0"/>
              </a:rPr>
              <a:t>	int y = 1;</a:t>
            </a:r>
          </a:p>
          <a:p>
            <a:endParaRPr lang="en-PH" dirty="0">
              <a:latin typeface="Consolas" panose="020B0609020204030204" pitchFamily="49" charset="0"/>
            </a:endParaRPr>
          </a:p>
          <a:p>
            <a:r>
              <a:rPr lang="en-PH" dirty="0">
                <a:latin typeface="Consolas" panose="020B0609020204030204" pitchFamily="49" charset="0"/>
              </a:rPr>
              <a:t>	</a:t>
            </a:r>
            <a:r>
              <a:rPr lang="en-PH" dirty="0" err="1">
                <a:latin typeface="Consolas" panose="020B0609020204030204" pitchFamily="49" charset="0"/>
              </a:rPr>
              <a:t>System.out.print</a:t>
            </a:r>
            <a:r>
              <a:rPr lang="en-PH" dirty="0">
                <a:latin typeface="Consolas" panose="020B0609020204030204" pitchFamily="49" charset="0"/>
              </a:rPr>
              <a:t>(x + y); </a:t>
            </a:r>
          </a:p>
          <a:p>
            <a:endParaRPr lang="en-PH" dirty="0">
              <a:latin typeface="Consolas" panose="020B0609020204030204" pitchFamily="49" charset="0"/>
            </a:endParaRPr>
          </a:p>
          <a:p>
            <a:r>
              <a:rPr lang="en-PH" dirty="0">
                <a:latin typeface="Consolas" panose="020B0609020204030204" pitchFamily="49" charset="0"/>
              </a:rPr>
              <a:t>	String name;</a:t>
            </a:r>
          </a:p>
          <a:p>
            <a:r>
              <a:rPr lang="en-PH" dirty="0">
                <a:latin typeface="Consolas" panose="020B0609020204030204" pitchFamily="49" charset="0"/>
              </a:rPr>
              <a:t>	String surname;</a:t>
            </a:r>
          </a:p>
          <a:p>
            <a:r>
              <a:rPr lang="en-PH" dirty="0">
                <a:latin typeface="Consolas" panose="020B0609020204030204" pitchFamily="49" charset="0"/>
              </a:rPr>
              <a:t>	</a:t>
            </a:r>
          </a:p>
          <a:p>
            <a:r>
              <a:rPr lang="en-PH" dirty="0">
                <a:latin typeface="Consolas" panose="020B0609020204030204" pitchFamily="49" charset="0"/>
              </a:rPr>
              <a:t>	</a:t>
            </a:r>
            <a:r>
              <a:rPr lang="en-PH" dirty="0" err="1">
                <a:latin typeface="Consolas" panose="020B0609020204030204" pitchFamily="49" charset="0"/>
              </a:rPr>
              <a:t>System.out.print</a:t>
            </a:r>
            <a:r>
              <a:rPr lang="en-PH" dirty="0">
                <a:latin typeface="Consolas" panose="020B0609020204030204" pitchFamily="49" charset="0"/>
              </a:rPr>
              <a:t>(name + surname); </a:t>
            </a:r>
          </a:p>
          <a:p>
            <a:r>
              <a:rPr lang="en-PH" dirty="0">
                <a:latin typeface="Consolas" panose="020B0609020204030204" pitchFamily="49" charset="0"/>
              </a:rPr>
              <a:t>}</a:t>
            </a:r>
          </a:p>
          <a:p>
            <a:endParaRPr lang="en-PH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697105-D7BC-9ECD-E05B-B9C8E48C5D47}"/>
              </a:ext>
            </a:extLst>
          </p:cNvPr>
          <p:cNvSpPr txBox="1"/>
          <p:nvPr/>
        </p:nvSpPr>
        <p:spPr>
          <a:xfrm>
            <a:off x="9078659" y="4766145"/>
            <a:ext cx="285462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rgbClr val="FF0000"/>
                </a:solidFill>
              </a:rPr>
              <a:t>Operator overload</a:t>
            </a:r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740B85B4-5695-081F-7B80-34BBD6729DE7}"/>
              </a:ext>
            </a:extLst>
          </p:cNvPr>
          <p:cNvSpPr/>
          <p:nvPr/>
        </p:nvSpPr>
        <p:spPr>
          <a:xfrm>
            <a:off x="7753073" y="4758567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592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/>
      <p:bldP spid="17" grpId="0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Why use Polymorphism?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0A508C3-44ED-A04D-060B-21D4AA270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15240"/>
              </p:ext>
            </p:extLst>
          </p:nvPr>
        </p:nvGraphicFramePr>
        <p:xfrm>
          <a:off x="2032000" y="1968861"/>
          <a:ext cx="8128000" cy="165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5402248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41923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263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/>
                        <a:t>Code consistency.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tends to reduce the readability of the code.</a:t>
                      </a:r>
                    </a:p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868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/>
                        <a:t>Code reusability.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Challenging to implement.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806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228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H" b="1" dirty="0"/>
              <a:t>Subtyping vs Subclassing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878332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5400" b="1" dirty="0"/>
              <a:t>Subtyping vs Subclassing</a:t>
            </a:r>
            <a:endParaRPr lang="en-PH" sz="50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500" dirty="0">
                <a:latin typeface="Calibri (Body)"/>
              </a:rPr>
              <a:t>Subclass = Subtype??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500" dirty="0">
                <a:latin typeface="Calibri (Body)"/>
              </a:rPr>
              <a:t>Subtyping is about interface inheritance </a:t>
            </a:r>
            <a:r>
              <a:rPr lang="en-US" sz="2500" b="1" dirty="0">
                <a:latin typeface="Calibri (Body)"/>
              </a:rPr>
              <a:t>(reuse of meaning)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b="1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500" dirty="0">
                <a:latin typeface="Calibri (Body)"/>
              </a:rPr>
              <a:t>Subclassing is about implementation of inheritance </a:t>
            </a:r>
            <a:r>
              <a:rPr lang="en-US" sz="2500" b="1" dirty="0">
                <a:latin typeface="Calibri (Body)"/>
              </a:rPr>
              <a:t>(reuse of code)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649071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5400" b="1" dirty="0"/>
              <a:t>Subclassing</a:t>
            </a:r>
            <a:endParaRPr lang="en-PH" sz="50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500" dirty="0">
                <a:latin typeface="Calibri (Body)"/>
              </a:rPr>
              <a:t>Subclassing allows to inherit code from a superclass and lets us extend it with arbitrary code.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500" dirty="0">
                <a:latin typeface="Calibri (Body)"/>
              </a:rPr>
              <a:t>Subclasses may behave very differently compared to their super class.</a:t>
            </a:r>
          </a:p>
          <a:p>
            <a:pPr algn="l">
              <a:lnSpc>
                <a:spcPct val="100000"/>
              </a:lnSpc>
            </a:pPr>
            <a:endParaRPr lang="en-US" sz="2500" dirty="0">
              <a:latin typeface="Calibri (Body)"/>
            </a:endParaRPr>
          </a:p>
          <a:p>
            <a:pPr algn="l">
              <a:lnSpc>
                <a:spcPct val="100000"/>
              </a:lnSpc>
            </a:pPr>
            <a:endParaRPr lang="en-US" sz="2500" dirty="0">
              <a:latin typeface="Calibri (Body)"/>
            </a:endParaRPr>
          </a:p>
          <a:p>
            <a:pPr algn="l">
              <a:lnSpc>
                <a:spcPct val="100000"/>
              </a:lnSpc>
            </a:pPr>
            <a:endParaRPr lang="en-US" sz="2500" dirty="0">
              <a:latin typeface="Calibri (Body)"/>
            </a:endParaRPr>
          </a:p>
          <a:p>
            <a:pPr algn="l">
              <a:lnSpc>
                <a:spcPct val="100000"/>
              </a:lnSpc>
            </a:pPr>
            <a:endParaRPr lang="en-US" sz="2500" dirty="0">
              <a:latin typeface="Calibri (Body)"/>
            </a:endParaRPr>
          </a:p>
          <a:p>
            <a:pPr algn="l">
              <a:lnSpc>
                <a:spcPct val="100000"/>
              </a:lnSpc>
            </a:pPr>
            <a:endParaRPr lang="en-US" sz="2500" dirty="0">
              <a:latin typeface="Calibri (Body)"/>
            </a:endParaRPr>
          </a:p>
          <a:p>
            <a:pPr algn="l">
              <a:lnSpc>
                <a:spcPct val="100000"/>
              </a:lnSpc>
            </a:pPr>
            <a:endParaRPr lang="en-US" sz="2500" dirty="0">
              <a:latin typeface="Calibri (Body)"/>
            </a:endParaRPr>
          </a:p>
          <a:p>
            <a:pPr algn="l">
              <a:lnSpc>
                <a:spcPct val="100000"/>
              </a:lnSpc>
            </a:pPr>
            <a:endParaRPr lang="en-US" sz="25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676576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5400" b="1" dirty="0"/>
              <a:t>Subtyping</a:t>
            </a:r>
            <a:endParaRPr lang="en-PH" sz="50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500" dirty="0">
                <a:latin typeface="Calibri (Body)"/>
              </a:rPr>
              <a:t>Subtyping is about inheriting functionality (preserving the purpose/meaning of the superclass) independent from the specific implementation.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500" dirty="0">
                <a:latin typeface="Calibri (Body)"/>
              </a:rPr>
              <a:t>A super type should be substitutable from any sub type.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5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314622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5400" b="1" dirty="0" err="1"/>
              <a:t>Liskov</a:t>
            </a:r>
            <a:r>
              <a:rPr lang="en-PH" sz="5400" b="1" dirty="0"/>
              <a:t> Substitution Principle</a:t>
            </a:r>
            <a:endParaRPr lang="en-PH" sz="50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52075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br>
              <a:rPr lang="en-US" sz="2400" dirty="0">
                <a:latin typeface="Calibri (Body)"/>
              </a:rPr>
            </a:br>
            <a:br>
              <a:rPr lang="en-US" sz="2400" dirty="0">
                <a:latin typeface="Calibri (Body)"/>
              </a:rPr>
            </a:br>
            <a:br>
              <a:rPr lang="en-US" sz="2400" dirty="0">
                <a:latin typeface="Calibri (Body)"/>
              </a:rPr>
            </a:br>
            <a:endParaRPr lang="en-US" sz="2400" dirty="0">
              <a:latin typeface="Calibri (Body)"/>
            </a:endParaRPr>
          </a:p>
          <a:p>
            <a:pPr algn="l">
              <a:lnSpc>
                <a:spcPct val="100000"/>
              </a:lnSpc>
            </a:pPr>
            <a:endParaRPr lang="en-US" sz="2400" dirty="0">
              <a:latin typeface="Calibri (Body)"/>
            </a:endParaRPr>
          </a:p>
          <a:p>
            <a:pPr algn="l">
              <a:lnSpc>
                <a:spcPct val="100000"/>
              </a:lnSpc>
            </a:pPr>
            <a:endParaRPr lang="en-US" sz="2400" dirty="0">
              <a:latin typeface="Calibri (Body)"/>
            </a:endParaRPr>
          </a:p>
          <a:p>
            <a:pPr algn="l">
              <a:lnSpc>
                <a:spcPct val="100000"/>
              </a:lnSpc>
            </a:pPr>
            <a:endParaRPr lang="en-US" sz="2400" dirty="0">
              <a:latin typeface="Calibri (Body)"/>
            </a:endParaRPr>
          </a:p>
          <a:p>
            <a:pPr algn="l">
              <a:lnSpc>
                <a:spcPct val="100000"/>
              </a:lnSpc>
            </a:pPr>
            <a:endParaRPr lang="en-US" sz="24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alibri (Body)"/>
              </a:rPr>
              <a:t>All properties that hold for instances of a supertype should also hold for instances of a subtype.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alibri (Body)"/>
              </a:rPr>
              <a:t>Preconditions cannot be strengthened in a subtype.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Calibri (Body)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alibri (Body)"/>
              </a:rPr>
              <a:t>Postconditions cannot be weakened in a subtype</a:t>
            </a:r>
          </a:p>
          <a:p>
            <a:pPr algn="l">
              <a:lnSpc>
                <a:spcPct val="100000"/>
              </a:lnSpc>
            </a:pPr>
            <a:endParaRPr lang="en-US" sz="2400" dirty="0">
              <a:latin typeface="Calibri (Body)"/>
            </a:endParaRPr>
          </a:p>
          <a:p>
            <a:pPr algn="l">
              <a:lnSpc>
                <a:spcPct val="100000"/>
              </a:lnSpc>
            </a:pPr>
            <a:endParaRPr lang="en-US" sz="2400" dirty="0">
              <a:latin typeface="Calibri (Body)"/>
            </a:endParaRPr>
          </a:p>
          <a:p>
            <a:pPr algn="l">
              <a:lnSpc>
                <a:spcPct val="100000"/>
              </a:lnSpc>
            </a:pPr>
            <a:endParaRPr lang="en-US" sz="2400" dirty="0">
              <a:latin typeface="Calibri (Body)"/>
            </a:endParaRPr>
          </a:p>
          <a:p>
            <a:pPr algn="l">
              <a:lnSpc>
                <a:spcPct val="100000"/>
              </a:lnSpc>
            </a:pPr>
            <a:endParaRPr lang="en-US" sz="2400" dirty="0">
              <a:latin typeface="Calibri (Body)"/>
            </a:endParaRPr>
          </a:p>
          <a:p>
            <a:pPr algn="l">
              <a:lnSpc>
                <a:spcPct val="100000"/>
              </a:lnSpc>
            </a:pPr>
            <a:endParaRPr lang="en-US" sz="24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909756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C4206-C5DD-E817-08B8-2B29C76BAAE3}"/>
              </a:ext>
            </a:extLst>
          </p:cNvPr>
          <p:cNvSpPr txBox="1"/>
          <p:nvPr/>
        </p:nvSpPr>
        <p:spPr>
          <a:xfrm>
            <a:off x="1658095" y="2123871"/>
            <a:ext cx="78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A3CA19-9791-4B7A-CCC5-553E854D7B83}"/>
              </a:ext>
            </a:extLst>
          </p:cNvPr>
          <p:cNvGraphicFramePr>
            <a:graphicFrameLocks noGrp="1"/>
          </p:cNvGraphicFramePr>
          <p:nvPr/>
        </p:nvGraphicFramePr>
        <p:xfrm>
          <a:off x="4784943" y="268712"/>
          <a:ext cx="2812094" cy="2148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2094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iPad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sz="1600" i="1" dirty="0"/>
                        <a:t>double</a:t>
                      </a:r>
                      <a:r>
                        <a:rPr lang="en-PH" sz="1700" i="1" dirty="0"/>
                        <a:t> </a:t>
                      </a:r>
                      <a:r>
                        <a:rPr lang="en-PH" sz="1700" i="1" dirty="0" err="1"/>
                        <a:t>screenSize</a:t>
                      </a:r>
                      <a:endParaRPr lang="en-PH" sz="1700" i="1" dirty="0"/>
                    </a:p>
                    <a:p>
                      <a:r>
                        <a:rPr lang="en-PH" sz="1700" i="1" dirty="0"/>
                        <a:t>String processor</a:t>
                      </a:r>
                    </a:p>
                    <a:p>
                      <a:r>
                        <a:rPr lang="en-PH" sz="1700" i="1" dirty="0"/>
                        <a:t>String camera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i="1" dirty="0" err="1"/>
                        <a:t>playGame</a:t>
                      </a:r>
                      <a:r>
                        <a:rPr lang="en-PH" i="1" dirty="0"/>
                        <a:t>()</a:t>
                      </a:r>
                    </a:p>
                    <a:p>
                      <a:r>
                        <a:rPr lang="en-PH" i="1" dirty="0" err="1"/>
                        <a:t>takePhoto</a:t>
                      </a:r>
                      <a:r>
                        <a:rPr lang="en-PH" i="1" dirty="0"/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i="1" dirty="0" err="1"/>
                        <a:t>surfWeb</a:t>
                      </a:r>
                      <a:r>
                        <a:rPr lang="en-PH" i="1" dirty="0"/>
                        <a:t>(</a:t>
                      </a:r>
                      <a:r>
                        <a:rPr lang="en-PH" i="1" dirty="0" err="1"/>
                        <a:t>cellularData</a:t>
                      </a:r>
                      <a:r>
                        <a:rPr lang="en-PH" i="1" dirty="0"/>
                        <a:t>, </a:t>
                      </a:r>
                      <a:r>
                        <a:rPr lang="en-PH" i="1" dirty="0" err="1"/>
                        <a:t>wifi</a:t>
                      </a:r>
                      <a:r>
                        <a:rPr lang="en-PH" i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487B49D2-F76F-28AE-4E94-C5DD3C4A7EB1}"/>
              </a:ext>
            </a:extLst>
          </p:cNvPr>
          <p:cNvGraphicFramePr>
            <a:graphicFrameLocks noGrp="1"/>
          </p:cNvGraphicFramePr>
          <p:nvPr/>
        </p:nvGraphicFramePr>
        <p:xfrm>
          <a:off x="430129" y="2798963"/>
          <a:ext cx="3535902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35902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316792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iPad Pro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i="1" dirty="0" err="1"/>
                        <a:t>surfWeb</a:t>
                      </a:r>
                      <a:r>
                        <a:rPr lang="en-PH" i="1" dirty="0"/>
                        <a:t>(</a:t>
                      </a:r>
                      <a:r>
                        <a:rPr lang="en-PH" i="1" dirty="0" err="1"/>
                        <a:t>wifi</a:t>
                      </a:r>
                      <a:r>
                        <a:rPr lang="en-PH" i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A3B68FF-79AB-C781-2053-CEEB10E91448}"/>
              </a:ext>
            </a:extLst>
          </p:cNvPr>
          <p:cNvCxnSpPr>
            <a:cxnSpLocks/>
            <a:stCxn id="9" idx="0"/>
            <a:endCxn id="8" idx="1"/>
          </p:cNvCxnSpPr>
          <p:nvPr/>
        </p:nvCxnSpPr>
        <p:spPr>
          <a:xfrm rot="5400000" flipH="1" flipV="1">
            <a:off x="2763596" y="777617"/>
            <a:ext cx="1455831" cy="258686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408D04D0-724F-E5BF-9D9B-FA0D7A0EBD7E}"/>
              </a:ext>
            </a:extLst>
          </p:cNvPr>
          <p:cNvCxnSpPr>
            <a:cxnSpLocks/>
            <a:stCxn id="53" idx="0"/>
            <a:endCxn id="8" idx="3"/>
          </p:cNvCxnSpPr>
          <p:nvPr/>
        </p:nvCxnSpPr>
        <p:spPr>
          <a:xfrm rot="16200000" flipV="1">
            <a:off x="8209284" y="730886"/>
            <a:ext cx="1455831" cy="268032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53" name="Table 5">
            <a:extLst>
              <a:ext uri="{FF2B5EF4-FFF2-40B4-BE49-F238E27FC236}">
                <a16:creationId xmlns:a16="http://schemas.microsoft.com/office/drawing/2014/main" id="{8DEC8B01-8301-E308-2C38-E3CB4D7C13C6}"/>
              </a:ext>
            </a:extLst>
          </p:cNvPr>
          <p:cNvGraphicFramePr>
            <a:graphicFrameLocks noGrp="1"/>
          </p:cNvGraphicFramePr>
          <p:nvPr/>
        </p:nvGraphicFramePr>
        <p:xfrm>
          <a:off x="8674335" y="2798963"/>
          <a:ext cx="3206052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6052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316792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iPad Pro (Cellular)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i="1" dirty="0" err="1"/>
                        <a:t>surfWeb</a:t>
                      </a:r>
                      <a:r>
                        <a:rPr lang="en-PH" i="1" dirty="0"/>
                        <a:t>(</a:t>
                      </a:r>
                      <a:r>
                        <a:rPr lang="en-PH" b="0" i="1" dirty="0" err="1">
                          <a:solidFill>
                            <a:schemeClr val="tx1"/>
                          </a:solidFill>
                        </a:rPr>
                        <a:t>cellularData</a:t>
                      </a:r>
                      <a:r>
                        <a:rPr lang="en-PH" i="1" dirty="0"/>
                        <a:t>, </a:t>
                      </a:r>
                      <a:r>
                        <a:rPr lang="en-PH" i="1" dirty="0" err="1"/>
                        <a:t>wifi</a:t>
                      </a:r>
                      <a:r>
                        <a:rPr lang="en-PH" i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8B482CCA-3A83-47CD-D910-6BB457793E48}"/>
              </a:ext>
            </a:extLst>
          </p:cNvPr>
          <p:cNvSpPr txBox="1"/>
          <p:nvPr/>
        </p:nvSpPr>
        <p:spPr>
          <a:xfrm>
            <a:off x="2344199" y="4337684"/>
            <a:ext cx="7693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All subtypes can do it and have either less requirements </a:t>
            </a:r>
            <a:r>
              <a:rPr lang="en-PH" b="1" dirty="0"/>
              <a:t>(weaker preconditions) </a:t>
            </a:r>
          </a:p>
          <a:p>
            <a:r>
              <a:rPr lang="en-PH" dirty="0"/>
              <a:t>or can do it better in some way </a:t>
            </a:r>
            <a:r>
              <a:rPr lang="en-PH" b="1" dirty="0"/>
              <a:t>(stronger postconditions).</a:t>
            </a:r>
          </a:p>
        </p:txBody>
      </p:sp>
      <p:pic>
        <p:nvPicPr>
          <p:cNvPr id="15" name="Picture 14" descr="A close-up of a cell phone&#10;&#10;Description automatically generated with low confidence">
            <a:extLst>
              <a:ext uri="{FF2B5EF4-FFF2-40B4-BE49-F238E27FC236}">
                <a16:creationId xmlns:a16="http://schemas.microsoft.com/office/drawing/2014/main" id="{76CEE079-6CCC-65B6-04EF-4225D16D5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789" y="1652945"/>
            <a:ext cx="946096" cy="112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89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C4206-C5DD-E817-08B8-2B29C76BAAE3}"/>
              </a:ext>
            </a:extLst>
          </p:cNvPr>
          <p:cNvSpPr txBox="1"/>
          <p:nvPr/>
        </p:nvSpPr>
        <p:spPr>
          <a:xfrm>
            <a:off x="1658095" y="2123871"/>
            <a:ext cx="78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A3CA19-9791-4B7A-CCC5-553E854D7B83}"/>
              </a:ext>
            </a:extLst>
          </p:cNvPr>
          <p:cNvGraphicFramePr>
            <a:graphicFrameLocks noGrp="1"/>
          </p:cNvGraphicFramePr>
          <p:nvPr/>
        </p:nvGraphicFramePr>
        <p:xfrm>
          <a:off x="4258849" y="212345"/>
          <a:ext cx="359497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4970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iPad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sz="1800" i="1" dirty="0"/>
                        <a:t>double </a:t>
                      </a:r>
                      <a:r>
                        <a:rPr lang="en-PH" sz="1800" i="1" dirty="0" err="1"/>
                        <a:t>screenSize</a:t>
                      </a:r>
                      <a:endParaRPr lang="en-PH" sz="1800" i="1" dirty="0"/>
                    </a:p>
                    <a:p>
                      <a:r>
                        <a:rPr lang="en-PH" sz="1800" i="1" dirty="0"/>
                        <a:t>String processor</a:t>
                      </a:r>
                    </a:p>
                    <a:p>
                      <a:r>
                        <a:rPr lang="en-PH" sz="1800" i="1" dirty="0"/>
                        <a:t>String camera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sz="1800" i="1" dirty="0" err="1"/>
                        <a:t>playGame</a:t>
                      </a:r>
                      <a:r>
                        <a:rPr lang="en-PH" sz="1800" i="1" dirty="0"/>
                        <a:t>()</a:t>
                      </a:r>
                    </a:p>
                    <a:p>
                      <a:r>
                        <a:rPr lang="en-PH" sz="1800" i="1" dirty="0" err="1"/>
                        <a:t>takePhoto</a:t>
                      </a:r>
                      <a:r>
                        <a:rPr lang="en-PH" sz="1800" i="1" dirty="0"/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800" i="1" dirty="0" err="1"/>
                        <a:t>surfWeb</a:t>
                      </a:r>
                      <a:r>
                        <a:rPr lang="en-PH" sz="1800" i="1" dirty="0"/>
                        <a:t>(</a:t>
                      </a:r>
                      <a:r>
                        <a:rPr lang="en-PH" sz="1800" i="1" dirty="0" err="1"/>
                        <a:t>cellularData</a:t>
                      </a:r>
                      <a:r>
                        <a:rPr lang="en-PH" sz="1800" i="1" dirty="0"/>
                        <a:t>, </a:t>
                      </a:r>
                      <a:r>
                        <a:rPr lang="en-PH" sz="1800" i="1" dirty="0" err="1"/>
                        <a:t>wifi</a:t>
                      </a:r>
                      <a:r>
                        <a:rPr lang="en-PH" sz="1800" i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50DE3BA1-3BC7-9916-6547-3E7755E21564}"/>
              </a:ext>
            </a:extLst>
          </p:cNvPr>
          <p:cNvGraphicFramePr>
            <a:graphicFrameLocks noGrp="1"/>
          </p:cNvGraphicFramePr>
          <p:nvPr/>
        </p:nvGraphicFramePr>
        <p:xfrm>
          <a:off x="5039655" y="3353816"/>
          <a:ext cx="203335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3358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316792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iPad Air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800B96A3-93A2-57AD-E8AC-11A86CFF9E35}"/>
              </a:ext>
            </a:extLst>
          </p:cNvPr>
          <p:cNvGraphicFramePr>
            <a:graphicFrameLocks noGrp="1"/>
          </p:cNvGraphicFramePr>
          <p:nvPr/>
        </p:nvGraphicFramePr>
        <p:xfrm>
          <a:off x="8550891" y="3353816"/>
          <a:ext cx="2037499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499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316792">
                <a:tc>
                  <a:txBody>
                    <a:bodyPr/>
                    <a:lstStyle/>
                    <a:p>
                      <a:pPr algn="ctr"/>
                      <a:r>
                        <a:rPr lang="en-PH" b="1"/>
                        <a:t>iPad Pro</a:t>
                      </a:r>
                      <a:endParaRPr lang="en-PH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BAC11CD-979B-97D7-457C-2A9C31DD3C0A}"/>
              </a:ext>
            </a:extLst>
          </p:cNvPr>
          <p:cNvGraphicFramePr>
            <a:graphicFrameLocks noGrp="1"/>
          </p:cNvGraphicFramePr>
          <p:nvPr/>
        </p:nvGraphicFramePr>
        <p:xfrm>
          <a:off x="924671" y="3353816"/>
          <a:ext cx="2037499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499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316792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iPad Mini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DE966DA-A1F4-6271-B8DD-36FA45FD1723}"/>
              </a:ext>
            </a:extLst>
          </p:cNvPr>
          <p:cNvCxnSpPr>
            <a:cxnSpLocks/>
            <a:stCxn id="5" idx="0"/>
            <a:endCxn id="8" idx="1"/>
          </p:cNvCxnSpPr>
          <p:nvPr/>
        </p:nvCxnSpPr>
        <p:spPr>
          <a:xfrm rot="5400000" flipH="1" flipV="1">
            <a:off x="2079039" y="1174007"/>
            <a:ext cx="2044191" cy="231542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A36CB41-D254-B62C-96F7-28B4D88FB75E}"/>
              </a:ext>
            </a:extLst>
          </p:cNvPr>
          <p:cNvCxnSpPr>
            <a:cxnSpLocks/>
            <a:stCxn id="3" idx="0"/>
            <a:endCxn id="8" idx="3"/>
          </p:cNvCxnSpPr>
          <p:nvPr/>
        </p:nvCxnSpPr>
        <p:spPr>
          <a:xfrm rot="16200000" flipV="1">
            <a:off x="7689635" y="1473810"/>
            <a:ext cx="2044191" cy="171582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8B7E524-E513-22BC-75DE-47A58CE0392C}"/>
              </a:ext>
            </a:extLst>
          </p:cNvPr>
          <p:cNvCxnSpPr>
            <a:cxnSpLocks/>
            <a:stCxn id="2" idx="0"/>
            <a:endCxn id="8" idx="2"/>
          </p:cNvCxnSpPr>
          <p:nvPr/>
        </p:nvCxnSpPr>
        <p:spPr>
          <a:xfrm flipV="1">
            <a:off x="6056334" y="2406905"/>
            <a:ext cx="0" cy="9469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Table 5">
            <a:extLst>
              <a:ext uri="{FF2B5EF4-FFF2-40B4-BE49-F238E27FC236}">
                <a16:creationId xmlns:a16="http://schemas.microsoft.com/office/drawing/2014/main" id="{3FAF1824-3FDE-C1F7-1469-1A90598E4D26}"/>
              </a:ext>
            </a:extLst>
          </p:cNvPr>
          <p:cNvGraphicFramePr>
            <a:graphicFrameLocks noGrp="1"/>
          </p:cNvGraphicFramePr>
          <p:nvPr/>
        </p:nvGraphicFramePr>
        <p:xfrm>
          <a:off x="5077250" y="4960578"/>
          <a:ext cx="2037499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499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316792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iPad Classic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E8997738-81D3-84BC-5082-BFF5BEDFB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337" y="2444875"/>
            <a:ext cx="821548" cy="821548"/>
          </a:xfrm>
          <a:prstGeom prst="rect">
            <a:avLst/>
          </a:prstGeom>
        </p:spPr>
      </p:pic>
      <p:pic>
        <p:nvPicPr>
          <p:cNvPr id="10" name="Picture 9" descr="A close-up of a cell phone&#10;&#10;Description automatically generated with low confidence">
            <a:extLst>
              <a:ext uri="{FF2B5EF4-FFF2-40B4-BE49-F238E27FC236}">
                <a16:creationId xmlns:a16="http://schemas.microsoft.com/office/drawing/2014/main" id="{A1310A8A-4BDD-3BF1-0D32-852E6EF2C8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837" y="2543739"/>
            <a:ext cx="614093" cy="727372"/>
          </a:xfrm>
          <a:prstGeom prst="rect">
            <a:avLst/>
          </a:prstGeom>
        </p:spPr>
      </p:pic>
      <p:pic>
        <p:nvPicPr>
          <p:cNvPr id="14" name="Picture 13" descr="A close-up of a cell phone&#10;&#10;Description automatically generated with low confidence">
            <a:extLst>
              <a:ext uri="{FF2B5EF4-FFF2-40B4-BE49-F238E27FC236}">
                <a16:creationId xmlns:a16="http://schemas.microsoft.com/office/drawing/2014/main" id="{A877AD13-1F86-0ED9-7F9D-0945523C23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891" y="2506537"/>
            <a:ext cx="645501" cy="764574"/>
          </a:xfrm>
          <a:prstGeom prst="rect">
            <a:avLst/>
          </a:prstGeom>
        </p:spPr>
      </p:pic>
      <p:pic>
        <p:nvPicPr>
          <p:cNvPr id="15" name="Picture 1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99E2710-428C-E6F5-1333-E91DB38DF1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58" y="5398007"/>
            <a:ext cx="681882" cy="54604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CE561E8-0FED-31B0-C3EC-17EE4517997B}"/>
              </a:ext>
            </a:extLst>
          </p:cNvPr>
          <p:cNvSpPr txBox="1"/>
          <p:nvPr/>
        </p:nvSpPr>
        <p:spPr>
          <a:xfrm>
            <a:off x="2340184" y="5086709"/>
            <a:ext cx="2505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rgbClr val="FF0000"/>
                </a:solidFill>
              </a:rPr>
              <a:t>What if Apple introduced a new iPad without a camera?</a:t>
            </a:r>
          </a:p>
        </p:txBody>
      </p:sp>
    </p:spTree>
    <p:extLst>
      <p:ext uri="{BB962C8B-B14F-4D97-AF65-F5344CB8AC3E}">
        <p14:creationId xmlns:p14="http://schemas.microsoft.com/office/powerpoint/2010/main" val="205680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C4206-C5DD-E817-08B8-2B29C76BAAE3}"/>
              </a:ext>
            </a:extLst>
          </p:cNvPr>
          <p:cNvSpPr txBox="1"/>
          <p:nvPr/>
        </p:nvSpPr>
        <p:spPr>
          <a:xfrm>
            <a:off x="1658095" y="2123871"/>
            <a:ext cx="78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A3CA19-9791-4B7A-CCC5-553E854D7B83}"/>
              </a:ext>
            </a:extLst>
          </p:cNvPr>
          <p:cNvGraphicFramePr>
            <a:graphicFrameLocks noGrp="1"/>
          </p:cNvGraphicFramePr>
          <p:nvPr/>
        </p:nvGraphicFramePr>
        <p:xfrm>
          <a:off x="4623404" y="212345"/>
          <a:ext cx="2729374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9374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iPad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sz="1800" i="1" dirty="0"/>
                        <a:t>double </a:t>
                      </a:r>
                      <a:r>
                        <a:rPr lang="en-PH" sz="1800" i="1" dirty="0" err="1"/>
                        <a:t>screenSize</a:t>
                      </a:r>
                      <a:endParaRPr lang="en-PH" sz="1800" i="1" dirty="0"/>
                    </a:p>
                    <a:p>
                      <a:r>
                        <a:rPr lang="en-PH" sz="1800" i="1" dirty="0"/>
                        <a:t>String processor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sz="1800" i="1" dirty="0" err="1"/>
                        <a:t>playGame</a:t>
                      </a:r>
                      <a:r>
                        <a:rPr lang="en-PH" sz="1800" i="1" dirty="0"/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800" i="1" dirty="0" err="1"/>
                        <a:t>surfWeb</a:t>
                      </a:r>
                      <a:r>
                        <a:rPr lang="en-PH" sz="1800" i="1" dirty="0"/>
                        <a:t>(</a:t>
                      </a:r>
                      <a:r>
                        <a:rPr lang="en-PH" sz="1800" i="1" dirty="0" err="1"/>
                        <a:t>cellularData</a:t>
                      </a:r>
                      <a:r>
                        <a:rPr lang="en-PH" sz="1800" i="1" dirty="0"/>
                        <a:t>, </a:t>
                      </a:r>
                      <a:r>
                        <a:rPr lang="en-PH" sz="1800" i="1" dirty="0" err="1"/>
                        <a:t>wifi</a:t>
                      </a:r>
                      <a:r>
                        <a:rPr lang="en-PH" sz="1800" i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487B49D2-F76F-28AE-4E94-C5DD3C4A7EB1}"/>
              </a:ext>
            </a:extLst>
          </p:cNvPr>
          <p:cNvGraphicFramePr>
            <a:graphicFrameLocks noGrp="1"/>
          </p:cNvGraphicFramePr>
          <p:nvPr/>
        </p:nvGraphicFramePr>
        <p:xfrm>
          <a:off x="732934" y="2704787"/>
          <a:ext cx="3535902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35902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316792">
                <a:tc>
                  <a:txBody>
                    <a:bodyPr/>
                    <a:lstStyle/>
                    <a:p>
                      <a:pPr algn="ctr"/>
                      <a:r>
                        <a:rPr lang="en-PH" b="1" dirty="0" err="1"/>
                        <a:t>iPadWithNoCamera</a:t>
                      </a:r>
                      <a:endParaRPr lang="en-PH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A3B68FF-79AB-C781-2053-CEEB10E91448}"/>
              </a:ext>
            </a:extLst>
          </p:cNvPr>
          <p:cNvCxnSpPr>
            <a:cxnSpLocks/>
            <a:stCxn id="9" idx="0"/>
            <a:endCxn id="8" idx="1"/>
          </p:cNvCxnSpPr>
          <p:nvPr/>
        </p:nvCxnSpPr>
        <p:spPr>
          <a:xfrm rot="5400000" flipH="1" flipV="1">
            <a:off x="2727403" y="808787"/>
            <a:ext cx="1669482" cy="212251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408D04D0-724F-E5BF-9D9B-FA0D7A0EBD7E}"/>
              </a:ext>
            </a:extLst>
          </p:cNvPr>
          <p:cNvCxnSpPr>
            <a:cxnSpLocks/>
            <a:stCxn id="53" idx="0"/>
            <a:endCxn id="8" idx="3"/>
          </p:cNvCxnSpPr>
          <p:nvPr/>
        </p:nvCxnSpPr>
        <p:spPr>
          <a:xfrm rot="16200000" flipV="1">
            <a:off x="7207596" y="1180488"/>
            <a:ext cx="1664087" cy="137372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53" name="Table 5">
            <a:extLst>
              <a:ext uri="{FF2B5EF4-FFF2-40B4-BE49-F238E27FC236}">
                <a16:creationId xmlns:a16="http://schemas.microsoft.com/office/drawing/2014/main" id="{8DEC8B01-8301-E308-2C38-E3CB4D7C13C6}"/>
              </a:ext>
            </a:extLst>
          </p:cNvPr>
          <p:cNvGraphicFramePr>
            <a:graphicFrameLocks noGrp="1"/>
          </p:cNvGraphicFramePr>
          <p:nvPr/>
        </p:nvGraphicFramePr>
        <p:xfrm>
          <a:off x="7123474" y="2699392"/>
          <a:ext cx="3206052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6052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316792">
                <a:tc>
                  <a:txBody>
                    <a:bodyPr/>
                    <a:lstStyle/>
                    <a:p>
                      <a:pPr algn="ctr"/>
                      <a:r>
                        <a:rPr lang="en-PH" b="1" dirty="0" err="1"/>
                        <a:t>iPadWithCamera</a:t>
                      </a:r>
                      <a:endParaRPr lang="en-PH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800" i="1" dirty="0"/>
                        <a:t>String camera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i="1" dirty="0" err="1"/>
                        <a:t>takePhoto</a:t>
                      </a:r>
                      <a:r>
                        <a:rPr lang="en-PH" i="1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50DE3BA1-3BC7-9916-6547-3E7755E21564}"/>
              </a:ext>
            </a:extLst>
          </p:cNvPr>
          <p:cNvGraphicFramePr>
            <a:graphicFrameLocks noGrp="1"/>
          </p:cNvGraphicFramePr>
          <p:nvPr/>
        </p:nvGraphicFramePr>
        <p:xfrm>
          <a:off x="7707751" y="4660849"/>
          <a:ext cx="2037499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499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316792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iPad Air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800B96A3-93A2-57AD-E8AC-11A86CFF9E35}"/>
              </a:ext>
            </a:extLst>
          </p:cNvPr>
          <p:cNvGraphicFramePr>
            <a:graphicFrameLocks noGrp="1"/>
          </p:cNvGraphicFramePr>
          <p:nvPr/>
        </p:nvGraphicFramePr>
        <p:xfrm>
          <a:off x="10035225" y="4660849"/>
          <a:ext cx="2037499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499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316792">
                <a:tc>
                  <a:txBody>
                    <a:bodyPr/>
                    <a:lstStyle/>
                    <a:p>
                      <a:pPr algn="ctr"/>
                      <a:r>
                        <a:rPr lang="en-PH" b="1"/>
                        <a:t>iPad Pro</a:t>
                      </a:r>
                      <a:endParaRPr lang="en-PH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BAC11CD-979B-97D7-457C-2A9C31DD3C0A}"/>
              </a:ext>
            </a:extLst>
          </p:cNvPr>
          <p:cNvGraphicFramePr>
            <a:graphicFrameLocks noGrp="1"/>
          </p:cNvGraphicFramePr>
          <p:nvPr/>
        </p:nvGraphicFramePr>
        <p:xfrm>
          <a:off x="5380267" y="4668279"/>
          <a:ext cx="2037499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499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316792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iPad Mini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DE966DA-A1F4-6271-B8DD-36FA45FD1723}"/>
              </a:ext>
            </a:extLst>
          </p:cNvPr>
          <p:cNvCxnSpPr>
            <a:cxnSpLocks/>
            <a:stCxn id="5" idx="0"/>
            <a:endCxn id="53" idx="1"/>
          </p:cNvCxnSpPr>
          <p:nvPr/>
        </p:nvCxnSpPr>
        <p:spPr>
          <a:xfrm rot="5400000" flipH="1" flipV="1">
            <a:off x="6051122" y="3595927"/>
            <a:ext cx="1420247" cy="72445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A36CB41-D254-B62C-96F7-28B4D88FB75E}"/>
              </a:ext>
            </a:extLst>
          </p:cNvPr>
          <p:cNvCxnSpPr>
            <a:cxnSpLocks/>
            <a:stCxn id="3" idx="0"/>
            <a:endCxn id="53" idx="3"/>
          </p:cNvCxnSpPr>
          <p:nvPr/>
        </p:nvCxnSpPr>
        <p:spPr>
          <a:xfrm rot="16200000" flipV="1">
            <a:off x="9985342" y="3592217"/>
            <a:ext cx="1412817" cy="72444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8B7E524-E513-22BC-75DE-47A58CE0392C}"/>
              </a:ext>
            </a:extLst>
          </p:cNvPr>
          <p:cNvCxnSpPr>
            <a:cxnSpLocks/>
            <a:stCxn id="2" idx="0"/>
            <a:endCxn id="53" idx="2"/>
          </p:cNvCxnSpPr>
          <p:nvPr/>
        </p:nvCxnSpPr>
        <p:spPr>
          <a:xfrm flipV="1">
            <a:off x="8726500" y="3796672"/>
            <a:ext cx="0" cy="8641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Table 5">
            <a:extLst>
              <a:ext uri="{FF2B5EF4-FFF2-40B4-BE49-F238E27FC236}">
                <a16:creationId xmlns:a16="http://schemas.microsoft.com/office/drawing/2014/main" id="{3FAF1824-3FDE-C1F7-1469-1A90598E4D26}"/>
              </a:ext>
            </a:extLst>
          </p:cNvPr>
          <p:cNvGraphicFramePr>
            <a:graphicFrameLocks noGrp="1"/>
          </p:cNvGraphicFramePr>
          <p:nvPr/>
        </p:nvGraphicFramePr>
        <p:xfrm>
          <a:off x="1482135" y="4645750"/>
          <a:ext cx="2037499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499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316792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iPad Classic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D80E8FA-6060-7A12-F3FE-33DC8A1F6DF0}"/>
              </a:ext>
            </a:extLst>
          </p:cNvPr>
          <p:cNvCxnSpPr>
            <a:cxnSpLocks/>
            <a:stCxn id="30" idx="0"/>
            <a:endCxn id="9" idx="2"/>
          </p:cNvCxnSpPr>
          <p:nvPr/>
        </p:nvCxnSpPr>
        <p:spPr>
          <a:xfrm flipV="1">
            <a:off x="2500884" y="3802067"/>
            <a:ext cx="1" cy="8436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E8997738-81D3-84BC-5082-BFF5BEDFB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132" y="3802067"/>
            <a:ext cx="821548" cy="821548"/>
          </a:xfrm>
          <a:prstGeom prst="rect">
            <a:avLst/>
          </a:prstGeom>
        </p:spPr>
      </p:pic>
      <p:pic>
        <p:nvPicPr>
          <p:cNvPr id="10" name="Picture 9" descr="A close-up of a cell phone&#10;&#10;Description automatically generated with low confidence">
            <a:extLst>
              <a:ext uri="{FF2B5EF4-FFF2-40B4-BE49-F238E27FC236}">
                <a16:creationId xmlns:a16="http://schemas.microsoft.com/office/drawing/2014/main" id="{A1310A8A-4BDD-3BF1-0D32-852E6EF2C8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705" y="3896243"/>
            <a:ext cx="614093" cy="727372"/>
          </a:xfrm>
          <a:prstGeom prst="rect">
            <a:avLst/>
          </a:prstGeom>
        </p:spPr>
      </p:pic>
      <p:pic>
        <p:nvPicPr>
          <p:cNvPr id="14" name="Picture 13" descr="A close-up of a cell phone&#10;&#10;Description automatically generated with low confidence">
            <a:extLst>
              <a:ext uri="{FF2B5EF4-FFF2-40B4-BE49-F238E27FC236}">
                <a16:creationId xmlns:a16="http://schemas.microsoft.com/office/drawing/2014/main" id="{A877AD13-1F86-0ED9-7F9D-0945523C23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3874877"/>
            <a:ext cx="645501" cy="764574"/>
          </a:xfrm>
          <a:prstGeom prst="rect">
            <a:avLst/>
          </a:prstGeom>
        </p:spPr>
      </p:pic>
      <p:pic>
        <p:nvPicPr>
          <p:cNvPr id="15" name="Picture 1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99E2710-428C-E6F5-1333-E91DB38DF1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854" y="3984139"/>
            <a:ext cx="681882" cy="54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17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E22A5FA3A2044CB9CD88DCBEA97603" ma:contentTypeVersion="14" ma:contentTypeDescription="Create a new document." ma:contentTypeScope="" ma:versionID="add9614137543b78dcbd012fba14612c">
  <xsd:schema xmlns:xsd="http://www.w3.org/2001/XMLSchema" xmlns:xs="http://www.w3.org/2001/XMLSchema" xmlns:p="http://schemas.microsoft.com/office/2006/metadata/properties" xmlns:ns2="9a780629-4d19-4bb9-9056-9a589cd4d271" xmlns:ns3="6de439ce-b7a3-4fe1-9235-7bacf5677901" targetNamespace="http://schemas.microsoft.com/office/2006/metadata/properties" ma:root="true" ma:fieldsID="ff15d42874a67466ae73f4094a57046d" ns2:_="" ns3:_="">
    <xsd:import namespace="9a780629-4d19-4bb9-9056-9a589cd4d271"/>
    <xsd:import namespace="6de439ce-b7a3-4fe1-9235-7bacf5677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80629-4d19-4bb9-9056-9a589cd4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439ce-b7a3-4fe1-9235-7bacf56779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220bbd5-5dd0-4cc5-8ff1-a93b22e2889e}" ma:internalName="TaxCatchAll" ma:showField="CatchAllData" ma:web="6de439ce-b7a3-4fe1-9235-7bacf56779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439ce-b7a3-4fe1-9235-7bacf5677901" xsi:nil="true"/>
    <lcf76f155ced4ddcb4097134ff3c332f xmlns="9a780629-4d19-4bb9-9056-9a589cd4d2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ABC6CD3-08BE-4571-9A3B-692F3365F013}"/>
</file>

<file path=customXml/itemProps2.xml><?xml version="1.0" encoding="utf-8"?>
<ds:datastoreItem xmlns:ds="http://schemas.openxmlformats.org/officeDocument/2006/customXml" ds:itemID="{B45EC8CC-59ED-4B1D-A0CB-8F584616E282}"/>
</file>

<file path=customXml/itemProps3.xml><?xml version="1.0" encoding="utf-8"?>
<ds:datastoreItem xmlns:ds="http://schemas.openxmlformats.org/officeDocument/2006/customXml" ds:itemID="{EC402B8F-ED00-4086-A4F3-C390F271CBE0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1199</TotalTime>
  <Words>657</Words>
  <Application>Microsoft Office PowerPoint</Application>
  <PresentationFormat>Widescreen</PresentationFormat>
  <Paragraphs>204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(Body)</vt:lpstr>
      <vt:lpstr>Calibri Light</vt:lpstr>
      <vt:lpstr>Consolas</vt:lpstr>
      <vt:lpstr>Wingdings</vt:lpstr>
      <vt:lpstr>Office Theme</vt:lpstr>
      <vt:lpstr>Polymorphism</vt:lpstr>
      <vt:lpstr>What is Polymorphism?</vt:lpstr>
      <vt:lpstr>PowerPoint Presentation</vt:lpstr>
      <vt:lpstr>Forms of Polymorphism</vt:lpstr>
      <vt:lpstr>Forms of Polymorphism</vt:lpstr>
      <vt:lpstr>Method Overriding</vt:lpstr>
      <vt:lpstr>Method Overloading</vt:lpstr>
      <vt:lpstr>Operator Overloading</vt:lpstr>
      <vt:lpstr>Why use Polymorphism?</vt:lpstr>
      <vt:lpstr>Subtyping vs Subclassing</vt:lpstr>
      <vt:lpstr>Subtyping vs Subclassing</vt:lpstr>
      <vt:lpstr>Subclassing</vt:lpstr>
      <vt:lpstr>Subtyping</vt:lpstr>
      <vt:lpstr>Liskov Substitution Principle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Cyrus RJ W. Robles</cp:lastModifiedBy>
  <cp:revision>188</cp:revision>
  <dcterms:created xsi:type="dcterms:W3CDTF">2022-05-11T03:47:05Z</dcterms:created>
  <dcterms:modified xsi:type="dcterms:W3CDTF">2024-04-18T06:05:42Z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0x0101000BE22A5FA3A2044CB9CD88DCBEA97603</vt:lpwstr>
  </property>
</Properties>
</file>